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8" r:id="rId4"/>
  </p:sldMasterIdLst>
  <p:notesMasterIdLst>
    <p:notesMasterId r:id="rId63"/>
  </p:notesMasterIdLst>
  <p:sldIdLst>
    <p:sldId id="272" r:id="rId5"/>
    <p:sldId id="402" r:id="rId6"/>
    <p:sldId id="428" r:id="rId7"/>
    <p:sldId id="324" r:id="rId8"/>
    <p:sldId id="405" r:id="rId9"/>
    <p:sldId id="427" r:id="rId10"/>
    <p:sldId id="406" r:id="rId11"/>
    <p:sldId id="360" r:id="rId12"/>
    <p:sldId id="308" r:id="rId13"/>
    <p:sldId id="403" r:id="rId14"/>
    <p:sldId id="310" r:id="rId15"/>
    <p:sldId id="358" r:id="rId16"/>
    <p:sldId id="423" r:id="rId17"/>
    <p:sldId id="352" r:id="rId18"/>
    <p:sldId id="448" r:id="rId19"/>
    <p:sldId id="407" r:id="rId20"/>
    <p:sldId id="409" r:id="rId21"/>
    <p:sldId id="368" r:id="rId22"/>
    <p:sldId id="410" r:id="rId23"/>
    <p:sldId id="362" r:id="rId24"/>
    <p:sldId id="451" r:id="rId25"/>
    <p:sldId id="411" r:id="rId26"/>
    <p:sldId id="363" r:id="rId27"/>
    <p:sldId id="441" r:id="rId28"/>
    <p:sldId id="442" r:id="rId29"/>
    <p:sldId id="345" r:id="rId30"/>
    <p:sldId id="449" r:id="rId31"/>
    <p:sldId id="413" r:id="rId32"/>
    <p:sldId id="347" r:id="rId33"/>
    <p:sldId id="439" r:id="rId34"/>
    <p:sldId id="348" r:id="rId35"/>
    <p:sldId id="366" r:id="rId36"/>
    <p:sldId id="370" r:id="rId37"/>
    <p:sldId id="372" r:id="rId38"/>
    <p:sldId id="373" r:id="rId39"/>
    <p:sldId id="374" r:id="rId40"/>
    <p:sldId id="418" r:id="rId41"/>
    <p:sldId id="404" r:id="rId42"/>
    <p:sldId id="443" r:id="rId43"/>
    <p:sldId id="381" r:id="rId44"/>
    <p:sldId id="419" r:id="rId45"/>
    <p:sldId id="420" r:id="rId46"/>
    <p:sldId id="426" r:id="rId47"/>
    <p:sldId id="414" r:id="rId48"/>
    <p:sldId id="446" r:id="rId49"/>
    <p:sldId id="417" r:id="rId50"/>
    <p:sldId id="429" r:id="rId51"/>
    <p:sldId id="430" r:id="rId52"/>
    <p:sldId id="431" r:id="rId53"/>
    <p:sldId id="447" r:id="rId54"/>
    <p:sldId id="432" r:id="rId55"/>
    <p:sldId id="434" r:id="rId56"/>
    <p:sldId id="425" r:id="rId57"/>
    <p:sldId id="444" r:id="rId58"/>
    <p:sldId id="445" r:id="rId59"/>
    <p:sldId id="436" r:id="rId60"/>
    <p:sldId id="437" r:id="rId61"/>
    <p:sldId id="415" r:id="rId6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2ED7A1"/>
    <a:srgbClr val="8CA1D8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5EDCFA-ACD5-4E25-BAE5-76C77D88AE17}" v="25" dt="2026-07-10T22:07:05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59" autoAdjust="0"/>
    <p:restoredTop sz="94913" autoAdjust="0"/>
  </p:normalViewPr>
  <p:slideViewPr>
    <p:cSldViewPr>
      <p:cViewPr varScale="1">
        <p:scale>
          <a:sx n="107" d="100"/>
          <a:sy n="107" d="100"/>
        </p:scale>
        <p:origin x="138" y="18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05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Harkovsky" userId="f2c5d9e3-e1cd-491b-8eea-425a4d9cf1c2" providerId="ADAL" clId="{6FCA90FA-C0C9-43CA-8AC4-3C56194C4C83}"/>
    <pc:docChg chg="undo custSel addSld delSld modSld">
      <pc:chgData name="Roberto Harkovsky" userId="f2c5d9e3-e1cd-491b-8eea-425a4d9cf1c2" providerId="ADAL" clId="{6FCA90FA-C0C9-43CA-8AC4-3C56194C4C83}" dt="2026-07-10T22:07:24.526" v="258" actId="1076"/>
      <pc:docMkLst>
        <pc:docMk/>
      </pc:docMkLst>
      <pc:sldChg chg="addSp modSp mod">
        <pc:chgData name="Roberto Harkovsky" userId="f2c5d9e3-e1cd-491b-8eea-425a4d9cf1c2" providerId="ADAL" clId="{6FCA90FA-C0C9-43CA-8AC4-3C56194C4C83}" dt="2026-07-10T22:03:40.776" v="190" actId="1076"/>
        <pc:sldMkLst>
          <pc:docMk/>
          <pc:sldMk cId="189385832" sldId="345"/>
        </pc:sldMkLst>
        <pc:spChg chg="add mod">
          <ac:chgData name="Roberto Harkovsky" userId="f2c5d9e3-e1cd-491b-8eea-425a4d9cf1c2" providerId="ADAL" clId="{6FCA90FA-C0C9-43CA-8AC4-3C56194C4C83}" dt="2026-07-10T22:03:40.776" v="190" actId="1076"/>
          <ac:spMkLst>
            <pc:docMk/>
            <pc:sldMk cId="189385832" sldId="345"/>
            <ac:spMk id="6" creationId="{8585219F-71C6-0833-0C8A-AF89770950B1}"/>
          </ac:spMkLst>
        </pc:spChg>
      </pc:sldChg>
      <pc:sldChg chg="addSp modSp mod">
        <pc:chgData name="Roberto Harkovsky" userId="f2c5d9e3-e1cd-491b-8eea-425a4d9cf1c2" providerId="ADAL" clId="{6FCA90FA-C0C9-43CA-8AC4-3C56194C4C83}" dt="2026-07-10T22:00:49.356" v="107" actId="1076"/>
        <pc:sldMkLst>
          <pc:docMk/>
          <pc:sldMk cId="1811926542" sldId="363"/>
        </pc:sldMkLst>
        <pc:spChg chg="mod">
          <ac:chgData name="Roberto Harkovsky" userId="f2c5d9e3-e1cd-491b-8eea-425a4d9cf1c2" providerId="ADAL" clId="{6FCA90FA-C0C9-43CA-8AC4-3C56194C4C83}" dt="2026-07-10T22:00:13.231" v="70" actId="1076"/>
          <ac:spMkLst>
            <pc:docMk/>
            <pc:sldMk cId="1811926542" sldId="363"/>
            <ac:spMk id="6" creationId="{00000000-0000-0000-0000-000000000000}"/>
          </ac:spMkLst>
        </pc:spChg>
        <pc:spChg chg="mod">
          <ac:chgData name="Roberto Harkovsky" userId="f2c5d9e3-e1cd-491b-8eea-425a4d9cf1c2" providerId="ADAL" clId="{6FCA90FA-C0C9-43CA-8AC4-3C56194C4C83}" dt="2026-07-10T22:00:13.231" v="70" actId="1076"/>
          <ac:spMkLst>
            <pc:docMk/>
            <pc:sldMk cId="1811926542" sldId="363"/>
            <ac:spMk id="7" creationId="{C2D341E2-FCD4-403A-8520-4FB840A90B73}"/>
          </ac:spMkLst>
        </pc:spChg>
        <pc:spChg chg="add mod">
          <ac:chgData name="Roberto Harkovsky" userId="f2c5d9e3-e1cd-491b-8eea-425a4d9cf1c2" providerId="ADAL" clId="{6FCA90FA-C0C9-43CA-8AC4-3C56194C4C83}" dt="2026-07-10T22:00:36.486" v="103" actId="20577"/>
          <ac:spMkLst>
            <pc:docMk/>
            <pc:sldMk cId="1811926542" sldId="363"/>
            <ac:spMk id="8" creationId="{C3B6035D-C658-3D3B-793A-F4ADA6E1FA62}"/>
          </ac:spMkLst>
        </pc:spChg>
        <pc:spChg chg="add mod">
          <ac:chgData name="Roberto Harkovsky" userId="f2c5d9e3-e1cd-491b-8eea-425a4d9cf1c2" providerId="ADAL" clId="{6FCA90FA-C0C9-43CA-8AC4-3C56194C4C83}" dt="2026-07-10T22:00:49.356" v="107" actId="1076"/>
          <ac:spMkLst>
            <pc:docMk/>
            <pc:sldMk cId="1811926542" sldId="363"/>
            <ac:spMk id="9" creationId="{F9A125EE-9AC9-0AB1-DB89-D56B2795829B}"/>
          </ac:spMkLst>
        </pc:spChg>
        <pc:spChg chg="mod">
          <ac:chgData name="Roberto Harkovsky" userId="f2c5d9e3-e1cd-491b-8eea-425a4d9cf1c2" providerId="ADAL" clId="{6FCA90FA-C0C9-43CA-8AC4-3C56194C4C83}" dt="2026-07-10T22:00:41.039" v="104" actId="1076"/>
          <ac:spMkLst>
            <pc:docMk/>
            <pc:sldMk cId="1811926542" sldId="363"/>
            <ac:spMk id="11" creationId="{00000000-0000-0000-0000-000000000000}"/>
          </ac:spMkLst>
        </pc:spChg>
        <pc:spChg chg="mod">
          <ac:chgData name="Roberto Harkovsky" userId="f2c5d9e3-e1cd-491b-8eea-425a4d9cf1c2" providerId="ADAL" clId="{6FCA90FA-C0C9-43CA-8AC4-3C56194C4C83}" dt="2026-07-10T21:56:59.778" v="51" actId="20577"/>
          <ac:spMkLst>
            <pc:docMk/>
            <pc:sldMk cId="1811926542" sldId="363"/>
            <ac:spMk id="12" creationId="{00000000-0000-0000-0000-000000000000}"/>
          </ac:spMkLst>
        </pc:spChg>
        <pc:spChg chg="mod">
          <ac:chgData name="Roberto Harkovsky" userId="f2c5d9e3-e1cd-491b-8eea-425a4d9cf1c2" providerId="ADAL" clId="{6FCA90FA-C0C9-43CA-8AC4-3C56194C4C83}" dt="2026-07-10T22:00:13.231" v="70" actId="1076"/>
          <ac:spMkLst>
            <pc:docMk/>
            <pc:sldMk cId="1811926542" sldId="363"/>
            <ac:spMk id="13" creationId="{00000000-0000-0000-0000-000000000000}"/>
          </ac:spMkLst>
        </pc:spChg>
        <pc:spChg chg="mod">
          <ac:chgData name="Roberto Harkovsky" userId="f2c5d9e3-e1cd-491b-8eea-425a4d9cf1c2" providerId="ADAL" clId="{6FCA90FA-C0C9-43CA-8AC4-3C56194C4C83}" dt="2026-07-10T22:00:13.231" v="70" actId="1076"/>
          <ac:spMkLst>
            <pc:docMk/>
            <pc:sldMk cId="1811926542" sldId="363"/>
            <ac:spMk id="14" creationId="{00000000-0000-0000-0000-000000000000}"/>
          </ac:spMkLst>
        </pc:spChg>
        <pc:spChg chg="mod">
          <ac:chgData name="Roberto Harkovsky" userId="f2c5d9e3-e1cd-491b-8eea-425a4d9cf1c2" providerId="ADAL" clId="{6FCA90FA-C0C9-43CA-8AC4-3C56194C4C83}" dt="2026-07-10T22:00:13.231" v="70" actId="1076"/>
          <ac:spMkLst>
            <pc:docMk/>
            <pc:sldMk cId="1811926542" sldId="363"/>
            <ac:spMk id="15" creationId="{00000000-0000-0000-0000-000000000000}"/>
          </ac:spMkLst>
        </pc:spChg>
        <pc:spChg chg="mod">
          <ac:chgData name="Roberto Harkovsky" userId="f2c5d9e3-e1cd-491b-8eea-425a4d9cf1c2" providerId="ADAL" clId="{6FCA90FA-C0C9-43CA-8AC4-3C56194C4C83}" dt="2026-07-10T22:00:19.451" v="72" actId="14100"/>
          <ac:spMkLst>
            <pc:docMk/>
            <pc:sldMk cId="1811926542" sldId="363"/>
            <ac:spMk id="16" creationId="{00000000-0000-0000-0000-000000000000}"/>
          </ac:spMkLst>
        </pc:spChg>
      </pc:sldChg>
      <pc:sldChg chg="del">
        <pc:chgData name="Roberto Harkovsky" userId="f2c5d9e3-e1cd-491b-8eea-425a4d9cf1c2" providerId="ADAL" clId="{6FCA90FA-C0C9-43CA-8AC4-3C56194C4C83}" dt="2026-07-10T22:03:46.855" v="191" actId="47"/>
        <pc:sldMkLst>
          <pc:docMk/>
          <pc:sldMk cId="839750480" sldId="365"/>
        </pc:sldMkLst>
      </pc:sldChg>
      <pc:sldChg chg="addSp modSp mod">
        <pc:chgData name="Roberto Harkovsky" userId="f2c5d9e3-e1cd-491b-8eea-425a4d9cf1c2" providerId="ADAL" clId="{6FCA90FA-C0C9-43CA-8AC4-3C56194C4C83}" dt="2026-07-10T21:56:24.802" v="46" actId="20577"/>
        <pc:sldMkLst>
          <pc:docMk/>
          <pc:sldMk cId="2677910779" sldId="411"/>
        </pc:sldMkLst>
        <pc:spChg chg="mod">
          <ac:chgData name="Roberto Harkovsky" userId="f2c5d9e3-e1cd-491b-8eea-425a4d9cf1c2" providerId="ADAL" clId="{6FCA90FA-C0C9-43CA-8AC4-3C56194C4C83}" dt="2026-07-10T21:56:07.519" v="42"/>
          <ac:spMkLst>
            <pc:docMk/>
            <pc:sldMk cId="2677910779" sldId="411"/>
            <ac:spMk id="5" creationId="{00000000-0000-0000-0000-000000000000}"/>
          </ac:spMkLst>
        </pc:spChg>
        <pc:spChg chg="mod">
          <ac:chgData name="Roberto Harkovsky" userId="f2c5d9e3-e1cd-491b-8eea-425a4d9cf1c2" providerId="ADAL" clId="{6FCA90FA-C0C9-43CA-8AC4-3C56194C4C83}" dt="2026-07-10T21:56:21.704" v="44"/>
          <ac:spMkLst>
            <pc:docMk/>
            <pc:sldMk cId="2677910779" sldId="411"/>
            <ac:spMk id="10" creationId="{00000000-0000-0000-0000-000000000000}"/>
          </ac:spMkLst>
        </pc:spChg>
        <pc:spChg chg="mod">
          <ac:chgData name="Roberto Harkovsky" userId="f2c5d9e3-e1cd-491b-8eea-425a4d9cf1c2" providerId="ADAL" clId="{6FCA90FA-C0C9-43CA-8AC4-3C56194C4C83}" dt="2026-07-10T21:56:24.802" v="46" actId="20577"/>
          <ac:spMkLst>
            <pc:docMk/>
            <pc:sldMk cId="2677910779" sldId="411"/>
            <ac:spMk id="11" creationId="{00000000-0000-0000-0000-000000000000}"/>
          </ac:spMkLst>
        </pc:spChg>
        <pc:graphicFrameChg chg="add mod">
          <ac:chgData name="Roberto Harkovsky" userId="f2c5d9e3-e1cd-491b-8eea-425a4d9cf1c2" providerId="ADAL" clId="{6FCA90FA-C0C9-43CA-8AC4-3C56194C4C83}" dt="2026-07-10T21:56:01.738" v="40"/>
          <ac:graphicFrameMkLst>
            <pc:docMk/>
            <pc:sldMk cId="2677910779" sldId="411"/>
            <ac:graphicFrameMk id="7" creationId="{1824E11C-E780-8666-8E65-7063A5A20DC7}"/>
          </ac:graphicFrameMkLst>
        </pc:graphicFrameChg>
      </pc:sldChg>
      <pc:sldChg chg="addSp delSp modSp new mod modClrScheme chgLayout">
        <pc:chgData name="Roberto Harkovsky" userId="f2c5d9e3-e1cd-491b-8eea-425a4d9cf1c2" providerId="ADAL" clId="{6FCA90FA-C0C9-43CA-8AC4-3C56194C4C83}" dt="2026-07-10T21:54:17.587" v="39" actId="207"/>
        <pc:sldMkLst>
          <pc:docMk/>
          <pc:sldMk cId="2044094245" sldId="448"/>
        </pc:sldMkLst>
        <pc:spChg chg="del mod ord">
          <ac:chgData name="Roberto Harkovsky" userId="f2c5d9e3-e1cd-491b-8eea-425a4d9cf1c2" providerId="ADAL" clId="{6FCA90FA-C0C9-43CA-8AC4-3C56194C4C83}" dt="2026-07-10T21:52:51.295" v="1" actId="700"/>
          <ac:spMkLst>
            <pc:docMk/>
            <pc:sldMk cId="2044094245" sldId="448"/>
            <ac:spMk id="2" creationId="{43182355-756E-10EF-9105-259E6C4FE9DA}"/>
          </ac:spMkLst>
        </pc:spChg>
        <pc:spChg chg="del mod ord">
          <ac:chgData name="Roberto Harkovsky" userId="f2c5d9e3-e1cd-491b-8eea-425a4d9cf1c2" providerId="ADAL" clId="{6FCA90FA-C0C9-43CA-8AC4-3C56194C4C83}" dt="2026-07-10T21:52:51.295" v="1" actId="700"/>
          <ac:spMkLst>
            <pc:docMk/>
            <pc:sldMk cId="2044094245" sldId="448"/>
            <ac:spMk id="3" creationId="{637C6FE7-ADE5-AB79-E421-57973E94CD9C}"/>
          </ac:spMkLst>
        </pc:spChg>
        <pc:spChg chg="mod ord">
          <ac:chgData name="Roberto Harkovsky" userId="f2c5d9e3-e1cd-491b-8eea-425a4d9cf1c2" providerId="ADAL" clId="{6FCA90FA-C0C9-43CA-8AC4-3C56194C4C83}" dt="2026-07-10T21:52:51.295" v="1" actId="700"/>
          <ac:spMkLst>
            <pc:docMk/>
            <pc:sldMk cId="2044094245" sldId="448"/>
            <ac:spMk id="4" creationId="{0DCDF44E-ECEA-B924-E249-439809DE6781}"/>
          </ac:spMkLst>
        </pc:spChg>
        <pc:spChg chg="mod ord">
          <ac:chgData name="Roberto Harkovsky" userId="f2c5d9e3-e1cd-491b-8eea-425a4d9cf1c2" providerId="ADAL" clId="{6FCA90FA-C0C9-43CA-8AC4-3C56194C4C83}" dt="2026-07-10T21:52:51.295" v="1" actId="700"/>
          <ac:spMkLst>
            <pc:docMk/>
            <pc:sldMk cId="2044094245" sldId="448"/>
            <ac:spMk id="5" creationId="{C9C49F56-E23A-E14E-ADAA-7C97FE6AF7EA}"/>
          </ac:spMkLst>
        </pc:spChg>
        <pc:spChg chg="add mod ord">
          <ac:chgData name="Roberto Harkovsky" userId="f2c5d9e3-e1cd-491b-8eea-425a4d9cf1c2" providerId="ADAL" clId="{6FCA90FA-C0C9-43CA-8AC4-3C56194C4C83}" dt="2026-07-10T21:52:54.909" v="10" actId="20577"/>
          <ac:spMkLst>
            <pc:docMk/>
            <pc:sldMk cId="2044094245" sldId="448"/>
            <ac:spMk id="6" creationId="{9F1B00EA-A392-63CE-2A1C-87014F95E3AB}"/>
          </ac:spMkLst>
        </pc:spChg>
        <pc:spChg chg="add del mod ord">
          <ac:chgData name="Roberto Harkovsky" userId="f2c5d9e3-e1cd-491b-8eea-425a4d9cf1c2" providerId="ADAL" clId="{6FCA90FA-C0C9-43CA-8AC4-3C56194C4C83}" dt="2026-07-10T21:54:17.587" v="39" actId="207"/>
          <ac:spMkLst>
            <pc:docMk/>
            <pc:sldMk cId="2044094245" sldId="448"/>
            <ac:spMk id="7" creationId="{52B25735-E3D9-DB03-2610-1BE3E37281FA}"/>
          </ac:spMkLst>
        </pc:spChg>
        <pc:graphicFrameChg chg="add mod">
          <ac:chgData name="Roberto Harkovsky" userId="f2c5d9e3-e1cd-491b-8eea-425a4d9cf1c2" providerId="ADAL" clId="{6FCA90FA-C0C9-43CA-8AC4-3C56194C4C83}" dt="2026-07-10T21:53:04.612" v="12"/>
          <ac:graphicFrameMkLst>
            <pc:docMk/>
            <pc:sldMk cId="2044094245" sldId="448"/>
            <ac:graphicFrameMk id="8" creationId="{B906B682-D3E5-17B6-14FE-0490E910642E}"/>
          </ac:graphicFrameMkLst>
        </pc:graphicFrameChg>
        <pc:graphicFrameChg chg="add mod">
          <ac:chgData name="Roberto Harkovsky" userId="f2c5d9e3-e1cd-491b-8eea-425a4d9cf1c2" providerId="ADAL" clId="{6FCA90FA-C0C9-43CA-8AC4-3C56194C4C83}" dt="2026-07-10T21:53:27.080" v="28"/>
          <ac:graphicFrameMkLst>
            <pc:docMk/>
            <pc:sldMk cId="2044094245" sldId="448"/>
            <ac:graphicFrameMk id="9" creationId="{D1784CCF-D279-BFE9-FA3C-809B731F6D17}"/>
          </ac:graphicFrameMkLst>
        </pc:graphicFrameChg>
      </pc:sldChg>
      <pc:sldChg chg="new">
        <pc:chgData name="Roberto Harkovsky" userId="f2c5d9e3-e1cd-491b-8eea-425a4d9cf1c2" providerId="ADAL" clId="{6FCA90FA-C0C9-43CA-8AC4-3C56194C4C83}" dt="2026-07-10T22:03:51.646" v="192" actId="680"/>
        <pc:sldMkLst>
          <pc:docMk/>
          <pc:sldMk cId="3174201652" sldId="449"/>
        </pc:sldMkLst>
      </pc:sldChg>
      <pc:sldChg chg="addSp delSp modSp new del mod chgLayout">
        <pc:chgData name="Roberto Harkovsky" userId="f2c5d9e3-e1cd-491b-8eea-425a4d9cf1c2" providerId="ADAL" clId="{6FCA90FA-C0C9-43CA-8AC4-3C56194C4C83}" dt="2026-07-10T22:05:39.937" v="214" actId="47"/>
        <pc:sldMkLst>
          <pc:docMk/>
          <pc:sldMk cId="249657883" sldId="450"/>
        </pc:sldMkLst>
        <pc:spChg chg="add del">
          <ac:chgData name="Roberto Harkovsky" userId="f2c5d9e3-e1cd-491b-8eea-425a4d9cf1c2" providerId="ADAL" clId="{6FCA90FA-C0C9-43CA-8AC4-3C56194C4C83}" dt="2026-07-10T22:05:17.946" v="204" actId="6264"/>
          <ac:spMkLst>
            <pc:docMk/>
            <pc:sldMk cId="249657883" sldId="450"/>
            <ac:spMk id="2" creationId="{7B8371BF-E5C5-C163-B6BC-3BA3C71AA0D1}"/>
          </ac:spMkLst>
        </pc:spChg>
        <pc:spChg chg="add del">
          <ac:chgData name="Roberto Harkovsky" userId="f2c5d9e3-e1cd-491b-8eea-425a4d9cf1c2" providerId="ADAL" clId="{6FCA90FA-C0C9-43CA-8AC4-3C56194C4C83}" dt="2026-07-10T22:05:29.313" v="210"/>
          <ac:spMkLst>
            <pc:docMk/>
            <pc:sldMk cId="249657883" sldId="450"/>
            <ac:spMk id="3" creationId="{9D49F4E5-FA0E-DB8C-889C-DE15C9060319}"/>
          </ac:spMkLst>
        </pc:spChg>
        <pc:spChg chg="mod ord">
          <ac:chgData name="Roberto Harkovsky" userId="f2c5d9e3-e1cd-491b-8eea-425a4d9cf1c2" providerId="ADAL" clId="{6FCA90FA-C0C9-43CA-8AC4-3C56194C4C83}" dt="2026-07-10T22:05:17.946" v="204" actId="6264"/>
          <ac:spMkLst>
            <pc:docMk/>
            <pc:sldMk cId="249657883" sldId="450"/>
            <ac:spMk id="4" creationId="{D31588CC-8D4F-BABE-6B90-42D242065B78}"/>
          </ac:spMkLst>
        </pc:spChg>
        <pc:spChg chg="mod ord">
          <ac:chgData name="Roberto Harkovsky" userId="f2c5d9e3-e1cd-491b-8eea-425a4d9cf1c2" providerId="ADAL" clId="{6FCA90FA-C0C9-43CA-8AC4-3C56194C4C83}" dt="2026-07-10T22:05:17.946" v="204" actId="6264"/>
          <ac:spMkLst>
            <pc:docMk/>
            <pc:sldMk cId="249657883" sldId="450"/>
            <ac:spMk id="5" creationId="{8B7D3B43-564A-35A4-5AD4-6ADA7489C365}"/>
          </ac:spMkLst>
        </pc:spChg>
        <pc:spChg chg="add del mod">
          <ac:chgData name="Roberto Harkovsky" userId="f2c5d9e3-e1cd-491b-8eea-425a4d9cf1c2" providerId="ADAL" clId="{6FCA90FA-C0C9-43CA-8AC4-3C56194C4C83}" dt="2026-07-10T22:05:17.946" v="204" actId="6264"/>
          <ac:spMkLst>
            <pc:docMk/>
            <pc:sldMk cId="249657883" sldId="450"/>
            <ac:spMk id="8" creationId="{EC76F6AF-DBE6-4422-A6E4-AB2C24B6903B}"/>
          </ac:spMkLst>
        </pc:spChg>
        <pc:spChg chg="add del mod">
          <ac:chgData name="Roberto Harkovsky" userId="f2c5d9e3-e1cd-491b-8eea-425a4d9cf1c2" providerId="ADAL" clId="{6FCA90FA-C0C9-43CA-8AC4-3C56194C4C83}" dt="2026-07-10T22:05:17.946" v="204" actId="6264"/>
          <ac:spMkLst>
            <pc:docMk/>
            <pc:sldMk cId="249657883" sldId="450"/>
            <ac:spMk id="9" creationId="{2FB92850-CF50-E25A-EF74-6D532633E7CA}"/>
          </ac:spMkLst>
        </pc:spChg>
        <pc:spChg chg="add del mod">
          <ac:chgData name="Roberto Harkovsky" userId="f2c5d9e3-e1cd-491b-8eea-425a4d9cf1c2" providerId="ADAL" clId="{6FCA90FA-C0C9-43CA-8AC4-3C56194C4C83}" dt="2026-07-10T22:05:17.946" v="204" actId="6264"/>
          <ac:spMkLst>
            <pc:docMk/>
            <pc:sldMk cId="249657883" sldId="450"/>
            <ac:spMk id="10" creationId="{44597693-2993-8F66-D703-27481237AB29}"/>
          </ac:spMkLst>
        </pc:spChg>
        <pc:spChg chg="add del mod ord">
          <ac:chgData name="Roberto Harkovsky" userId="f2c5d9e3-e1cd-491b-8eea-425a4d9cf1c2" providerId="ADAL" clId="{6FCA90FA-C0C9-43CA-8AC4-3C56194C4C83}" dt="2026-07-10T22:05:17.946" v="204" actId="6264"/>
          <ac:spMkLst>
            <pc:docMk/>
            <pc:sldMk cId="249657883" sldId="450"/>
            <ac:spMk id="11" creationId="{C564C896-62E3-9AAE-5972-2F3A0F190983}"/>
          </ac:spMkLst>
        </pc:spChg>
        <pc:spChg chg="add del mod">
          <ac:chgData name="Roberto Harkovsky" userId="f2c5d9e3-e1cd-491b-8eea-425a4d9cf1c2" providerId="ADAL" clId="{6FCA90FA-C0C9-43CA-8AC4-3C56194C4C83}" dt="2026-07-10T22:05:16.896" v="202" actId="6264"/>
          <ac:spMkLst>
            <pc:docMk/>
            <pc:sldMk cId="249657883" sldId="450"/>
            <ac:spMk id="12" creationId="{5A00D0BE-F80D-BAAF-5675-157AB528DD3B}"/>
          </ac:spMkLst>
        </pc:spChg>
        <pc:spChg chg="add del mod">
          <ac:chgData name="Roberto Harkovsky" userId="f2c5d9e3-e1cd-491b-8eea-425a4d9cf1c2" providerId="ADAL" clId="{6FCA90FA-C0C9-43CA-8AC4-3C56194C4C83}" dt="2026-07-10T22:05:16.896" v="202" actId="6264"/>
          <ac:spMkLst>
            <pc:docMk/>
            <pc:sldMk cId="249657883" sldId="450"/>
            <ac:spMk id="13" creationId="{7B905085-BA59-53A4-51B8-26881259479A}"/>
          </ac:spMkLst>
        </pc:spChg>
        <pc:spChg chg="add del mod">
          <ac:chgData name="Roberto Harkovsky" userId="f2c5d9e3-e1cd-491b-8eea-425a4d9cf1c2" providerId="ADAL" clId="{6FCA90FA-C0C9-43CA-8AC4-3C56194C4C83}" dt="2026-07-10T22:05:16.896" v="202" actId="6264"/>
          <ac:spMkLst>
            <pc:docMk/>
            <pc:sldMk cId="249657883" sldId="450"/>
            <ac:spMk id="14" creationId="{46C285E6-4F1C-0470-25CA-BA3F591EB054}"/>
          </ac:spMkLst>
        </pc:spChg>
        <pc:spChg chg="add del mod ord">
          <ac:chgData name="Roberto Harkovsky" userId="f2c5d9e3-e1cd-491b-8eea-425a4d9cf1c2" providerId="ADAL" clId="{6FCA90FA-C0C9-43CA-8AC4-3C56194C4C83}" dt="2026-07-10T22:05:16.896" v="202" actId="6264"/>
          <ac:spMkLst>
            <pc:docMk/>
            <pc:sldMk cId="249657883" sldId="450"/>
            <ac:spMk id="15" creationId="{429A75A8-8BC3-B9E3-5E1F-79B5EDDF44DD}"/>
          </ac:spMkLst>
        </pc:spChg>
        <pc:spChg chg="add del mod">
          <ac:chgData name="Roberto Harkovsky" userId="f2c5d9e3-e1cd-491b-8eea-425a4d9cf1c2" providerId="ADAL" clId="{6FCA90FA-C0C9-43CA-8AC4-3C56194C4C83}" dt="2026-07-10T22:05:16.160" v="201" actId="6264"/>
          <ac:spMkLst>
            <pc:docMk/>
            <pc:sldMk cId="249657883" sldId="450"/>
            <ac:spMk id="16" creationId="{9AEE717F-D0F7-DB60-07F3-A18359328FB4}"/>
          </ac:spMkLst>
        </pc:spChg>
        <pc:spChg chg="add del mod">
          <ac:chgData name="Roberto Harkovsky" userId="f2c5d9e3-e1cd-491b-8eea-425a4d9cf1c2" providerId="ADAL" clId="{6FCA90FA-C0C9-43CA-8AC4-3C56194C4C83}" dt="2026-07-10T22:05:16.160" v="201" actId="6264"/>
          <ac:spMkLst>
            <pc:docMk/>
            <pc:sldMk cId="249657883" sldId="450"/>
            <ac:spMk id="17" creationId="{444D0B40-6CFE-BF7F-4930-6D5FC936FEB3}"/>
          </ac:spMkLst>
        </pc:spChg>
        <pc:spChg chg="add del mod">
          <ac:chgData name="Roberto Harkovsky" userId="f2c5d9e3-e1cd-491b-8eea-425a4d9cf1c2" providerId="ADAL" clId="{6FCA90FA-C0C9-43CA-8AC4-3C56194C4C83}" dt="2026-07-10T22:05:16.160" v="201" actId="6264"/>
          <ac:spMkLst>
            <pc:docMk/>
            <pc:sldMk cId="249657883" sldId="450"/>
            <ac:spMk id="18" creationId="{A07AE803-F4A7-6FB5-02A8-8A65B94A6D4E}"/>
          </ac:spMkLst>
        </pc:spChg>
        <pc:spChg chg="add del mod ord">
          <ac:chgData name="Roberto Harkovsky" userId="f2c5d9e3-e1cd-491b-8eea-425a4d9cf1c2" providerId="ADAL" clId="{6FCA90FA-C0C9-43CA-8AC4-3C56194C4C83}" dt="2026-07-10T22:05:16.160" v="201" actId="6264"/>
          <ac:spMkLst>
            <pc:docMk/>
            <pc:sldMk cId="249657883" sldId="450"/>
            <ac:spMk id="19" creationId="{5973F209-F439-A678-8953-C2A7D3CDE20E}"/>
          </ac:spMkLst>
        </pc:spChg>
        <pc:graphicFrameChg chg="add mod">
          <ac:chgData name="Roberto Harkovsky" userId="f2c5d9e3-e1cd-491b-8eea-425a4d9cf1c2" providerId="ADAL" clId="{6FCA90FA-C0C9-43CA-8AC4-3C56194C4C83}" dt="2026-07-10T22:04:46.013" v="195"/>
          <ac:graphicFrameMkLst>
            <pc:docMk/>
            <pc:sldMk cId="249657883" sldId="450"/>
            <ac:graphicFrameMk id="6" creationId="{985B2486-AA1D-40D3-AA46-F1C63A9C21CA}"/>
          </ac:graphicFrameMkLst>
        </pc:graphicFrameChg>
        <pc:graphicFrameChg chg="add mod ord modGraphic">
          <ac:chgData name="Roberto Harkovsky" userId="f2c5d9e3-e1cd-491b-8eea-425a4d9cf1c2" providerId="ADAL" clId="{6FCA90FA-C0C9-43CA-8AC4-3C56194C4C83}" dt="2026-07-10T22:05:18.585" v="205"/>
          <ac:graphicFrameMkLst>
            <pc:docMk/>
            <pc:sldMk cId="249657883" sldId="450"/>
            <ac:graphicFrameMk id="7" creationId="{54F5442C-D911-A9DA-F8C0-367DA1749FEA}"/>
          </ac:graphicFrameMkLst>
        </pc:graphicFrameChg>
        <pc:graphicFrameChg chg="add mod">
          <ac:chgData name="Roberto Harkovsky" userId="f2c5d9e3-e1cd-491b-8eea-425a4d9cf1c2" providerId="ADAL" clId="{6FCA90FA-C0C9-43CA-8AC4-3C56194C4C83}" dt="2026-07-10T22:05:23.894" v="207"/>
          <ac:graphicFrameMkLst>
            <pc:docMk/>
            <pc:sldMk cId="249657883" sldId="450"/>
            <ac:graphicFrameMk id="20" creationId="{C3E46D55-B41F-E1B4-A3F5-81F66B2C65EA}"/>
          </ac:graphicFrameMkLst>
        </pc:graphicFrameChg>
        <pc:graphicFrameChg chg="add mod">
          <ac:chgData name="Roberto Harkovsky" userId="f2c5d9e3-e1cd-491b-8eea-425a4d9cf1c2" providerId="ADAL" clId="{6FCA90FA-C0C9-43CA-8AC4-3C56194C4C83}" dt="2026-07-10T22:05:27.304" v="209"/>
          <ac:graphicFrameMkLst>
            <pc:docMk/>
            <pc:sldMk cId="249657883" sldId="450"/>
            <ac:graphicFrameMk id="21" creationId="{0CD813FD-5ADA-5309-58AA-0D1E6F178978}"/>
          </ac:graphicFrameMkLst>
        </pc:graphicFrameChg>
        <pc:graphicFrameChg chg="add mod">
          <ac:chgData name="Roberto Harkovsky" userId="f2c5d9e3-e1cd-491b-8eea-425a4d9cf1c2" providerId="ADAL" clId="{6FCA90FA-C0C9-43CA-8AC4-3C56194C4C83}" dt="2026-07-10T22:05:33.816" v="211" actId="21"/>
          <ac:graphicFrameMkLst>
            <pc:docMk/>
            <pc:sldMk cId="249657883" sldId="450"/>
            <ac:graphicFrameMk id="22" creationId="{487D97BF-D097-3F75-A169-396D24F474FF}"/>
          </ac:graphicFrameMkLst>
        </pc:graphicFrameChg>
      </pc:sldChg>
      <pc:sldChg chg="addSp delSp modSp new mod chgLayout">
        <pc:chgData name="Roberto Harkovsky" userId="f2c5d9e3-e1cd-491b-8eea-425a4d9cf1c2" providerId="ADAL" clId="{6FCA90FA-C0C9-43CA-8AC4-3C56194C4C83}" dt="2026-07-10T22:07:24.526" v="258" actId="1076"/>
        <pc:sldMkLst>
          <pc:docMk/>
          <pc:sldMk cId="664472177" sldId="451"/>
        </pc:sldMkLst>
        <pc:spChg chg="del">
          <ac:chgData name="Roberto Harkovsky" userId="f2c5d9e3-e1cd-491b-8eea-425a4d9cf1c2" providerId="ADAL" clId="{6FCA90FA-C0C9-43CA-8AC4-3C56194C4C83}" dt="2026-07-10T22:05:42.890" v="215" actId="6264"/>
          <ac:spMkLst>
            <pc:docMk/>
            <pc:sldMk cId="664472177" sldId="451"/>
            <ac:spMk id="2" creationId="{2024019B-255B-87A0-58DE-D25F086DDCF7}"/>
          </ac:spMkLst>
        </pc:spChg>
        <pc:spChg chg="mod ord">
          <ac:chgData name="Roberto Harkovsky" userId="f2c5d9e3-e1cd-491b-8eea-425a4d9cf1c2" providerId="ADAL" clId="{6FCA90FA-C0C9-43CA-8AC4-3C56194C4C83}" dt="2026-07-10T22:06:37.764" v="231" actId="14100"/>
          <ac:spMkLst>
            <pc:docMk/>
            <pc:sldMk cId="664472177" sldId="451"/>
            <ac:spMk id="3" creationId="{278816FB-FEE4-40C5-7AFA-00AAB754CA2D}"/>
          </ac:spMkLst>
        </pc:spChg>
        <pc:spChg chg="mod ord">
          <ac:chgData name="Roberto Harkovsky" userId="f2c5d9e3-e1cd-491b-8eea-425a4d9cf1c2" providerId="ADAL" clId="{6FCA90FA-C0C9-43CA-8AC4-3C56194C4C83}" dt="2026-07-10T22:05:42.890" v="215" actId="6264"/>
          <ac:spMkLst>
            <pc:docMk/>
            <pc:sldMk cId="664472177" sldId="451"/>
            <ac:spMk id="4" creationId="{1D7A0727-1AC4-9E54-4FC8-3D6857C992D1}"/>
          </ac:spMkLst>
        </pc:spChg>
        <pc:spChg chg="mod ord">
          <ac:chgData name="Roberto Harkovsky" userId="f2c5d9e3-e1cd-491b-8eea-425a4d9cf1c2" providerId="ADAL" clId="{6FCA90FA-C0C9-43CA-8AC4-3C56194C4C83}" dt="2026-07-10T22:05:42.890" v="215" actId="6264"/>
          <ac:spMkLst>
            <pc:docMk/>
            <pc:sldMk cId="664472177" sldId="451"/>
            <ac:spMk id="5" creationId="{3A0CE2BF-4179-54F8-B952-918B1D13AB16}"/>
          </ac:spMkLst>
        </pc:spChg>
        <pc:spChg chg="add del mod">
          <ac:chgData name="Roberto Harkovsky" userId="f2c5d9e3-e1cd-491b-8eea-425a4d9cf1c2" providerId="ADAL" clId="{6FCA90FA-C0C9-43CA-8AC4-3C56194C4C83}" dt="2026-07-10T22:05:42.890" v="215" actId="6264"/>
          <ac:spMkLst>
            <pc:docMk/>
            <pc:sldMk cId="664472177" sldId="451"/>
            <ac:spMk id="6" creationId="{3E17393B-B28B-8035-DC99-17FC510640AC}"/>
          </ac:spMkLst>
        </pc:spChg>
        <pc:spChg chg="add del mod">
          <ac:chgData name="Roberto Harkovsky" userId="f2c5d9e3-e1cd-491b-8eea-425a4d9cf1c2" providerId="ADAL" clId="{6FCA90FA-C0C9-43CA-8AC4-3C56194C4C83}" dt="2026-07-10T22:05:42.890" v="215" actId="6264"/>
          <ac:spMkLst>
            <pc:docMk/>
            <pc:sldMk cId="664472177" sldId="451"/>
            <ac:spMk id="7" creationId="{1CE0C497-71B5-B346-95AD-955D5C908286}"/>
          </ac:spMkLst>
        </pc:spChg>
        <pc:spChg chg="add del mod">
          <ac:chgData name="Roberto Harkovsky" userId="f2c5d9e3-e1cd-491b-8eea-425a4d9cf1c2" providerId="ADAL" clId="{6FCA90FA-C0C9-43CA-8AC4-3C56194C4C83}" dt="2026-07-10T22:05:42.890" v="215" actId="6264"/>
          <ac:spMkLst>
            <pc:docMk/>
            <pc:sldMk cId="664472177" sldId="451"/>
            <ac:spMk id="8" creationId="{88E91DA5-C09B-526C-487F-E49BC81D321E}"/>
          </ac:spMkLst>
        </pc:spChg>
        <pc:spChg chg="add mod ord">
          <ac:chgData name="Roberto Harkovsky" userId="f2c5d9e3-e1cd-491b-8eea-425a4d9cf1c2" providerId="ADAL" clId="{6FCA90FA-C0C9-43CA-8AC4-3C56194C4C83}" dt="2026-07-10T22:06:00.352" v="225" actId="20577"/>
          <ac:spMkLst>
            <pc:docMk/>
            <pc:sldMk cId="664472177" sldId="451"/>
            <ac:spMk id="9" creationId="{0032B87F-7ADC-2236-04A4-0C96756000A8}"/>
          </ac:spMkLst>
        </pc:spChg>
        <pc:spChg chg="add del mod">
          <ac:chgData name="Roberto Harkovsky" userId="f2c5d9e3-e1cd-491b-8eea-425a4d9cf1c2" providerId="ADAL" clId="{6FCA90FA-C0C9-43CA-8AC4-3C56194C4C83}" dt="2026-07-10T22:07:20.852" v="257" actId="478"/>
          <ac:spMkLst>
            <pc:docMk/>
            <pc:sldMk cId="664472177" sldId="451"/>
            <ac:spMk id="10" creationId="{C1E7A668-23BB-5FF1-47F4-EFDBAB5AA254}"/>
          </ac:spMkLst>
        </pc:spChg>
        <pc:spChg chg="add mod">
          <ac:chgData name="Roberto Harkovsky" userId="f2c5d9e3-e1cd-491b-8eea-425a4d9cf1c2" providerId="ADAL" clId="{6FCA90FA-C0C9-43CA-8AC4-3C56194C4C83}" dt="2026-07-10T22:07:24.526" v="258" actId="1076"/>
          <ac:spMkLst>
            <pc:docMk/>
            <pc:sldMk cId="664472177" sldId="451"/>
            <ac:spMk id="11" creationId="{4F4A0900-9803-FB54-F4A9-D4BA88BA743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ACFDCD-68DC-483A-B368-530E27828D98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CD304BB8-FF18-46F5-9A07-C4CBFADEFC86}">
      <dgm:prSet phldrT="[Texto]" custT="1"/>
      <dgm:spPr/>
      <dgm:t>
        <a:bodyPr/>
        <a:lstStyle/>
        <a:p>
          <a:r>
            <a:rPr lang="pt-BR" sz="3600" dirty="0"/>
            <a:t>Modelo Conceitual</a:t>
          </a:r>
        </a:p>
      </dgm:t>
    </dgm:pt>
    <dgm:pt modelId="{BF870009-E012-446E-8386-42EFE3108194}" type="parTrans" cxnId="{05257BF6-0FD0-434D-A60A-6F862CC6D7B2}">
      <dgm:prSet/>
      <dgm:spPr/>
      <dgm:t>
        <a:bodyPr/>
        <a:lstStyle/>
        <a:p>
          <a:endParaRPr lang="pt-BR" sz="1100"/>
        </a:p>
      </dgm:t>
    </dgm:pt>
    <dgm:pt modelId="{069C9706-3B3A-4E8B-8137-2C504A510DEE}" type="sibTrans" cxnId="{05257BF6-0FD0-434D-A60A-6F862CC6D7B2}">
      <dgm:prSet/>
      <dgm:spPr/>
      <dgm:t>
        <a:bodyPr/>
        <a:lstStyle/>
        <a:p>
          <a:endParaRPr lang="pt-BR" sz="1100"/>
        </a:p>
      </dgm:t>
    </dgm:pt>
    <dgm:pt modelId="{4C39C39D-4198-4C9A-B1E5-BB21B71622F2}">
      <dgm:prSet phldrT="[Texto]" custT="1"/>
      <dgm:spPr/>
      <dgm:t>
        <a:bodyPr/>
        <a:lstStyle/>
        <a:p>
          <a:r>
            <a:rPr lang="pt-BR" sz="3600" dirty="0"/>
            <a:t>Modelo Lógico</a:t>
          </a:r>
        </a:p>
      </dgm:t>
    </dgm:pt>
    <dgm:pt modelId="{A03515D0-B0FB-464D-B130-AAE3C490B40F}" type="parTrans" cxnId="{552FA637-B430-4EDC-A25C-5962C252227F}">
      <dgm:prSet/>
      <dgm:spPr/>
      <dgm:t>
        <a:bodyPr/>
        <a:lstStyle/>
        <a:p>
          <a:endParaRPr lang="pt-BR" sz="1100"/>
        </a:p>
      </dgm:t>
    </dgm:pt>
    <dgm:pt modelId="{63644153-E5C0-48E1-8A19-9A9B9A89DA47}" type="sibTrans" cxnId="{552FA637-B430-4EDC-A25C-5962C252227F}">
      <dgm:prSet/>
      <dgm:spPr/>
      <dgm:t>
        <a:bodyPr/>
        <a:lstStyle/>
        <a:p>
          <a:endParaRPr lang="pt-BR" sz="1100"/>
        </a:p>
      </dgm:t>
    </dgm:pt>
    <dgm:pt modelId="{5C1D27DA-15D6-417B-ACA7-436A0D7D1AF2}">
      <dgm:prSet phldrT="[Texto]" custT="1"/>
      <dgm:spPr/>
      <dgm:t>
        <a:bodyPr/>
        <a:lstStyle/>
        <a:p>
          <a:r>
            <a:rPr lang="pt-BR" sz="3600" dirty="0"/>
            <a:t>Modelo Físico</a:t>
          </a:r>
        </a:p>
      </dgm:t>
    </dgm:pt>
    <dgm:pt modelId="{AD930B2F-8283-4A97-9F61-D1FDEDB656A3}" type="parTrans" cxnId="{517B504D-DA91-4626-9A61-1043D50E7D6D}">
      <dgm:prSet/>
      <dgm:spPr/>
      <dgm:t>
        <a:bodyPr/>
        <a:lstStyle/>
        <a:p>
          <a:endParaRPr lang="pt-BR" sz="1100"/>
        </a:p>
      </dgm:t>
    </dgm:pt>
    <dgm:pt modelId="{7B6F0D28-F203-4092-BC17-BF31324B8E7B}" type="sibTrans" cxnId="{517B504D-DA91-4626-9A61-1043D50E7D6D}">
      <dgm:prSet/>
      <dgm:spPr/>
      <dgm:t>
        <a:bodyPr/>
        <a:lstStyle/>
        <a:p>
          <a:endParaRPr lang="pt-BR" sz="1100"/>
        </a:p>
      </dgm:t>
    </dgm:pt>
    <dgm:pt modelId="{860AB810-D22F-4BF5-98E9-302C8A4FF758}" type="pres">
      <dgm:prSet presAssocID="{5FACFDCD-68DC-483A-B368-530E27828D98}" presName="Name0" presStyleCnt="0">
        <dgm:presLayoutVars>
          <dgm:chMax val="7"/>
          <dgm:chPref val="7"/>
          <dgm:dir/>
        </dgm:presLayoutVars>
      </dgm:prSet>
      <dgm:spPr/>
    </dgm:pt>
    <dgm:pt modelId="{03B88077-C6C1-4E4A-BB5B-A50A8EF2DE4B}" type="pres">
      <dgm:prSet presAssocID="{5FACFDCD-68DC-483A-B368-530E27828D98}" presName="Name1" presStyleCnt="0"/>
      <dgm:spPr/>
    </dgm:pt>
    <dgm:pt modelId="{E5A30BD5-B32D-4206-BD4A-7FC93BB868F6}" type="pres">
      <dgm:prSet presAssocID="{5FACFDCD-68DC-483A-B368-530E27828D98}" presName="cycle" presStyleCnt="0"/>
      <dgm:spPr/>
    </dgm:pt>
    <dgm:pt modelId="{A0ABFEAF-BFD3-43ED-96EC-3B700CA8AC4A}" type="pres">
      <dgm:prSet presAssocID="{5FACFDCD-68DC-483A-B368-530E27828D98}" presName="srcNode" presStyleLbl="node1" presStyleIdx="0" presStyleCnt="3"/>
      <dgm:spPr/>
    </dgm:pt>
    <dgm:pt modelId="{511300CE-F8D3-40A3-912E-295FE0289DAF}" type="pres">
      <dgm:prSet presAssocID="{5FACFDCD-68DC-483A-B368-530E27828D98}" presName="conn" presStyleLbl="parChTrans1D2" presStyleIdx="0" presStyleCnt="1"/>
      <dgm:spPr/>
    </dgm:pt>
    <dgm:pt modelId="{257F2AE6-4BE5-4C62-9CE7-43725B94A187}" type="pres">
      <dgm:prSet presAssocID="{5FACFDCD-68DC-483A-B368-530E27828D98}" presName="extraNode" presStyleLbl="node1" presStyleIdx="0" presStyleCnt="3"/>
      <dgm:spPr/>
    </dgm:pt>
    <dgm:pt modelId="{20DB8CAA-8250-475C-BBCF-EEF16236D8F3}" type="pres">
      <dgm:prSet presAssocID="{5FACFDCD-68DC-483A-B368-530E27828D98}" presName="dstNode" presStyleLbl="node1" presStyleIdx="0" presStyleCnt="3"/>
      <dgm:spPr/>
    </dgm:pt>
    <dgm:pt modelId="{4BBA02E2-9662-4E1D-A8A4-8D0764D60733}" type="pres">
      <dgm:prSet presAssocID="{CD304BB8-FF18-46F5-9A07-C4CBFADEFC86}" presName="text_1" presStyleLbl="node1" presStyleIdx="0" presStyleCnt="3">
        <dgm:presLayoutVars>
          <dgm:bulletEnabled val="1"/>
        </dgm:presLayoutVars>
      </dgm:prSet>
      <dgm:spPr/>
    </dgm:pt>
    <dgm:pt modelId="{D15302AB-82E0-4182-A269-1610D7A71B96}" type="pres">
      <dgm:prSet presAssocID="{CD304BB8-FF18-46F5-9A07-C4CBFADEFC86}" presName="accent_1" presStyleCnt="0"/>
      <dgm:spPr/>
    </dgm:pt>
    <dgm:pt modelId="{54AE2661-1127-4901-A6D8-67AC0605C52F}" type="pres">
      <dgm:prSet presAssocID="{CD304BB8-FF18-46F5-9A07-C4CBFADEFC86}" presName="accentRepeatNode" presStyleLbl="solidFgAcc1" presStyleIdx="0" presStyleCnt="3"/>
      <dgm:spPr/>
    </dgm:pt>
    <dgm:pt modelId="{28D7EBC9-1F61-4CDC-A836-4CC9A26DFA85}" type="pres">
      <dgm:prSet presAssocID="{4C39C39D-4198-4C9A-B1E5-BB21B71622F2}" presName="text_2" presStyleLbl="node1" presStyleIdx="1" presStyleCnt="3">
        <dgm:presLayoutVars>
          <dgm:bulletEnabled val="1"/>
        </dgm:presLayoutVars>
      </dgm:prSet>
      <dgm:spPr/>
    </dgm:pt>
    <dgm:pt modelId="{FB7FB166-BA0D-4602-A583-2616E7B1E6C7}" type="pres">
      <dgm:prSet presAssocID="{4C39C39D-4198-4C9A-B1E5-BB21B71622F2}" presName="accent_2" presStyleCnt="0"/>
      <dgm:spPr/>
    </dgm:pt>
    <dgm:pt modelId="{103E8064-CC70-493B-90F0-EC49548E9A56}" type="pres">
      <dgm:prSet presAssocID="{4C39C39D-4198-4C9A-B1E5-BB21B71622F2}" presName="accentRepeatNode" presStyleLbl="solidFgAcc1" presStyleIdx="1" presStyleCnt="3"/>
      <dgm:spPr/>
    </dgm:pt>
    <dgm:pt modelId="{11C19320-AD0D-41B8-B929-927E0F9ADEF5}" type="pres">
      <dgm:prSet presAssocID="{5C1D27DA-15D6-417B-ACA7-436A0D7D1AF2}" presName="text_3" presStyleLbl="node1" presStyleIdx="2" presStyleCnt="3">
        <dgm:presLayoutVars>
          <dgm:bulletEnabled val="1"/>
        </dgm:presLayoutVars>
      </dgm:prSet>
      <dgm:spPr/>
    </dgm:pt>
    <dgm:pt modelId="{C5FC5CBD-B483-49DF-91F3-46BC282787DE}" type="pres">
      <dgm:prSet presAssocID="{5C1D27DA-15D6-417B-ACA7-436A0D7D1AF2}" presName="accent_3" presStyleCnt="0"/>
      <dgm:spPr/>
    </dgm:pt>
    <dgm:pt modelId="{0622F233-5A05-45DC-A701-0981C4BE7940}" type="pres">
      <dgm:prSet presAssocID="{5C1D27DA-15D6-417B-ACA7-436A0D7D1AF2}" presName="accentRepeatNode" presStyleLbl="solidFgAcc1" presStyleIdx="2" presStyleCnt="3"/>
      <dgm:spPr/>
    </dgm:pt>
  </dgm:ptLst>
  <dgm:cxnLst>
    <dgm:cxn modelId="{CDEF270D-046D-4DA4-8EEB-527A5B692E41}" type="presOf" srcId="{CD304BB8-FF18-46F5-9A07-C4CBFADEFC86}" destId="{4BBA02E2-9662-4E1D-A8A4-8D0764D60733}" srcOrd="0" destOrd="0" presId="urn:microsoft.com/office/officeart/2008/layout/VerticalCurvedList"/>
    <dgm:cxn modelId="{BE8D3512-F79F-4EB5-A0C6-4315FD6B8A31}" type="presOf" srcId="{069C9706-3B3A-4E8B-8137-2C504A510DEE}" destId="{511300CE-F8D3-40A3-912E-295FE0289DAF}" srcOrd="0" destOrd="0" presId="urn:microsoft.com/office/officeart/2008/layout/VerticalCurvedList"/>
    <dgm:cxn modelId="{552FA637-B430-4EDC-A25C-5962C252227F}" srcId="{5FACFDCD-68DC-483A-B368-530E27828D98}" destId="{4C39C39D-4198-4C9A-B1E5-BB21B71622F2}" srcOrd="1" destOrd="0" parTransId="{A03515D0-B0FB-464D-B130-AAE3C490B40F}" sibTransId="{63644153-E5C0-48E1-8A19-9A9B9A89DA47}"/>
    <dgm:cxn modelId="{FD024C67-FFEC-4F9B-929B-706CCFCDE692}" type="presOf" srcId="{5FACFDCD-68DC-483A-B368-530E27828D98}" destId="{860AB810-D22F-4BF5-98E9-302C8A4FF758}" srcOrd="0" destOrd="0" presId="urn:microsoft.com/office/officeart/2008/layout/VerticalCurvedList"/>
    <dgm:cxn modelId="{517B504D-DA91-4626-9A61-1043D50E7D6D}" srcId="{5FACFDCD-68DC-483A-B368-530E27828D98}" destId="{5C1D27DA-15D6-417B-ACA7-436A0D7D1AF2}" srcOrd="2" destOrd="0" parTransId="{AD930B2F-8283-4A97-9F61-D1FDEDB656A3}" sibTransId="{7B6F0D28-F203-4092-BC17-BF31324B8E7B}"/>
    <dgm:cxn modelId="{796B4979-88AC-464C-A299-EB18436C27DF}" type="presOf" srcId="{4C39C39D-4198-4C9A-B1E5-BB21B71622F2}" destId="{28D7EBC9-1F61-4CDC-A836-4CC9A26DFA85}" srcOrd="0" destOrd="0" presId="urn:microsoft.com/office/officeart/2008/layout/VerticalCurvedList"/>
    <dgm:cxn modelId="{BFEDF7E2-35C1-4F66-B04F-86863C8D7DB2}" type="presOf" srcId="{5C1D27DA-15D6-417B-ACA7-436A0D7D1AF2}" destId="{11C19320-AD0D-41B8-B929-927E0F9ADEF5}" srcOrd="0" destOrd="0" presId="urn:microsoft.com/office/officeart/2008/layout/VerticalCurvedList"/>
    <dgm:cxn modelId="{05257BF6-0FD0-434D-A60A-6F862CC6D7B2}" srcId="{5FACFDCD-68DC-483A-B368-530E27828D98}" destId="{CD304BB8-FF18-46F5-9A07-C4CBFADEFC86}" srcOrd="0" destOrd="0" parTransId="{BF870009-E012-446E-8386-42EFE3108194}" sibTransId="{069C9706-3B3A-4E8B-8137-2C504A510DEE}"/>
    <dgm:cxn modelId="{E8A394E0-A520-4E15-B861-7FAB5B4D2660}" type="presParOf" srcId="{860AB810-D22F-4BF5-98E9-302C8A4FF758}" destId="{03B88077-C6C1-4E4A-BB5B-A50A8EF2DE4B}" srcOrd="0" destOrd="0" presId="urn:microsoft.com/office/officeart/2008/layout/VerticalCurvedList"/>
    <dgm:cxn modelId="{E8F2C519-56E5-4933-BD70-595575FBA74B}" type="presParOf" srcId="{03B88077-C6C1-4E4A-BB5B-A50A8EF2DE4B}" destId="{E5A30BD5-B32D-4206-BD4A-7FC93BB868F6}" srcOrd="0" destOrd="0" presId="urn:microsoft.com/office/officeart/2008/layout/VerticalCurvedList"/>
    <dgm:cxn modelId="{38133D6A-89C1-4D45-89E2-3F9ABE617B6E}" type="presParOf" srcId="{E5A30BD5-B32D-4206-BD4A-7FC93BB868F6}" destId="{A0ABFEAF-BFD3-43ED-96EC-3B700CA8AC4A}" srcOrd="0" destOrd="0" presId="urn:microsoft.com/office/officeart/2008/layout/VerticalCurvedList"/>
    <dgm:cxn modelId="{2E1BDAEB-66AF-4C5D-BD8F-9B80AA8E0693}" type="presParOf" srcId="{E5A30BD5-B32D-4206-BD4A-7FC93BB868F6}" destId="{511300CE-F8D3-40A3-912E-295FE0289DAF}" srcOrd="1" destOrd="0" presId="urn:microsoft.com/office/officeart/2008/layout/VerticalCurvedList"/>
    <dgm:cxn modelId="{2B99F14C-ABBA-4670-8840-F797628FA70E}" type="presParOf" srcId="{E5A30BD5-B32D-4206-BD4A-7FC93BB868F6}" destId="{257F2AE6-4BE5-4C62-9CE7-43725B94A187}" srcOrd="2" destOrd="0" presId="urn:microsoft.com/office/officeart/2008/layout/VerticalCurvedList"/>
    <dgm:cxn modelId="{D7AA765B-A848-47C7-A5AD-D5D198F19546}" type="presParOf" srcId="{E5A30BD5-B32D-4206-BD4A-7FC93BB868F6}" destId="{20DB8CAA-8250-475C-BBCF-EEF16236D8F3}" srcOrd="3" destOrd="0" presId="urn:microsoft.com/office/officeart/2008/layout/VerticalCurvedList"/>
    <dgm:cxn modelId="{66436C6A-54D2-43A1-99A9-D59EE426D653}" type="presParOf" srcId="{03B88077-C6C1-4E4A-BB5B-A50A8EF2DE4B}" destId="{4BBA02E2-9662-4E1D-A8A4-8D0764D60733}" srcOrd="1" destOrd="0" presId="urn:microsoft.com/office/officeart/2008/layout/VerticalCurvedList"/>
    <dgm:cxn modelId="{D51CDCF1-F1B9-42F1-A0EB-FEB50BB1C5EA}" type="presParOf" srcId="{03B88077-C6C1-4E4A-BB5B-A50A8EF2DE4B}" destId="{D15302AB-82E0-4182-A269-1610D7A71B96}" srcOrd="2" destOrd="0" presId="urn:microsoft.com/office/officeart/2008/layout/VerticalCurvedList"/>
    <dgm:cxn modelId="{0938B69F-97E6-48D1-BAF1-7715309AF793}" type="presParOf" srcId="{D15302AB-82E0-4182-A269-1610D7A71B96}" destId="{54AE2661-1127-4901-A6D8-67AC0605C52F}" srcOrd="0" destOrd="0" presId="urn:microsoft.com/office/officeart/2008/layout/VerticalCurvedList"/>
    <dgm:cxn modelId="{BF7A339A-0A71-4D46-9208-50F0BDECCB03}" type="presParOf" srcId="{03B88077-C6C1-4E4A-BB5B-A50A8EF2DE4B}" destId="{28D7EBC9-1F61-4CDC-A836-4CC9A26DFA85}" srcOrd="3" destOrd="0" presId="urn:microsoft.com/office/officeart/2008/layout/VerticalCurvedList"/>
    <dgm:cxn modelId="{4022F0A8-B354-4D90-BB24-4D02EA674FF0}" type="presParOf" srcId="{03B88077-C6C1-4E4A-BB5B-A50A8EF2DE4B}" destId="{FB7FB166-BA0D-4602-A583-2616E7B1E6C7}" srcOrd="4" destOrd="0" presId="urn:microsoft.com/office/officeart/2008/layout/VerticalCurvedList"/>
    <dgm:cxn modelId="{47E06844-423E-4D48-B592-9A947FB7DE3C}" type="presParOf" srcId="{FB7FB166-BA0D-4602-A583-2616E7B1E6C7}" destId="{103E8064-CC70-493B-90F0-EC49548E9A56}" srcOrd="0" destOrd="0" presId="urn:microsoft.com/office/officeart/2008/layout/VerticalCurvedList"/>
    <dgm:cxn modelId="{CF519BEE-C251-4448-A7B1-78B40A52E114}" type="presParOf" srcId="{03B88077-C6C1-4E4A-BB5B-A50A8EF2DE4B}" destId="{11C19320-AD0D-41B8-B929-927E0F9ADEF5}" srcOrd="5" destOrd="0" presId="urn:microsoft.com/office/officeart/2008/layout/VerticalCurvedList"/>
    <dgm:cxn modelId="{6CF1655B-AE29-4F8F-98D6-26E77BE3C822}" type="presParOf" srcId="{03B88077-C6C1-4E4A-BB5B-A50A8EF2DE4B}" destId="{C5FC5CBD-B483-49DF-91F3-46BC282787DE}" srcOrd="6" destOrd="0" presId="urn:microsoft.com/office/officeart/2008/layout/VerticalCurvedList"/>
    <dgm:cxn modelId="{58090211-69CF-408A-BF9D-58E3924BD88D}" type="presParOf" srcId="{C5FC5CBD-B483-49DF-91F3-46BC282787DE}" destId="{0622F233-5A05-45DC-A701-0981C4BE794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800" b="1" dirty="0"/>
            <a:t>1. Mundo Observável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dirty="0">
              <a:solidFill>
                <a:schemeClr val="bg1"/>
              </a:solidFill>
            </a:rPr>
            <a:t> </a:t>
          </a:r>
          <a:r>
            <a:rPr lang="pt-BR" sz="1800" dirty="0">
              <a:solidFill>
                <a:schemeClr val="bg1">
                  <a:lumMod val="75000"/>
                </a:schemeClr>
              </a:solidFill>
            </a:rPr>
            <a:t> Lógico</a:t>
          </a:r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DD44C4C-CE27-44CC-83B9-28E67F1B8AFC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gm:t>
    </dgm:pt>
    <dgm:pt modelId="{E5A09EA7-7E92-4BF0-A775-529727A080F1}" type="parTrans" cxnId="{6C95D7CA-40B0-4F88-8A39-5D609FB40A56}">
      <dgm:prSet/>
      <dgm:spPr/>
      <dgm:t>
        <a:bodyPr/>
        <a:lstStyle/>
        <a:p>
          <a:endParaRPr lang="pt-BR"/>
        </a:p>
      </dgm:t>
    </dgm:pt>
    <dgm:pt modelId="{7513BF25-C573-4622-80A8-E5FB463A2D12}" type="sibTrans" cxnId="{6C95D7CA-40B0-4F88-8A39-5D609FB40A56}">
      <dgm:prSet/>
      <dgm:spPr/>
      <dgm:t>
        <a:bodyPr/>
        <a:lstStyle/>
        <a:p>
          <a:endParaRPr lang="pt-BR"/>
        </a:p>
      </dgm:t>
    </dgm:pt>
    <dgm:pt modelId="{F60BDB3F-5144-422B-9B6E-389B0921F989}" type="pres">
      <dgm:prSet presAssocID="{602B0AF6-1657-44A9-AAB1-2504BA09D379}" presName="Name0" presStyleCnt="0">
        <dgm:presLayoutVars>
          <dgm:dir/>
          <dgm:resizeHandles val="exact"/>
        </dgm:presLayoutVars>
      </dgm:prSet>
      <dgm:spPr/>
    </dgm:pt>
    <dgm:pt modelId="{B3144829-D6C5-4E17-A7E0-1721C80983DF}" type="pres">
      <dgm:prSet presAssocID="{136E1A22-AAD6-4DF3-9F88-7C1248C552F1}" presName="parTxOnly" presStyleLbl="node1" presStyleIdx="0" presStyleCnt="4" custLinFactNeighborY="-4329">
        <dgm:presLayoutVars>
          <dgm:bulletEnabled val="1"/>
        </dgm:presLayoutVars>
      </dgm:prSet>
      <dgm:spPr/>
    </dgm:pt>
    <dgm:pt modelId="{E502648D-D613-42C3-BFD7-524225FF28B5}" type="pres">
      <dgm:prSet presAssocID="{1958C13C-CCCD-4AA1-8439-2C49F5960147}" presName="parSpace" presStyleCnt="0"/>
      <dgm:spPr/>
    </dgm:pt>
    <dgm:pt modelId="{C4B82193-51DD-482F-AF4D-B8652702E237}" type="pres">
      <dgm:prSet presAssocID="{576FB7C4-62AF-48BE-AAA0-DB85DB29E8BA}" presName="parTxOnly" presStyleLbl="node1" presStyleIdx="1" presStyleCnt="4" custLinFactNeighborX="0" custLinFactNeighborY="21208">
        <dgm:presLayoutVars>
          <dgm:bulletEnabled val="1"/>
        </dgm:presLayoutVars>
      </dgm:prSet>
      <dgm:spPr/>
    </dgm:pt>
    <dgm:pt modelId="{8A85E30A-752C-4268-BF44-94869E68E4B9}" type="pres">
      <dgm:prSet presAssocID="{F82996EE-2361-4C42-913C-11F19236234B}" presName="parSpace" presStyleCnt="0"/>
      <dgm:spPr/>
    </dgm:pt>
    <dgm:pt modelId="{D4964679-80A2-4BB1-9882-E4CD7C8583C0}" type="pres">
      <dgm:prSet presAssocID="{D084B81C-7F34-4F12-9114-329D8F5B5407}" presName="parTxOnly" presStyleLbl="node1" presStyleIdx="2" presStyleCnt="4" custLinFactNeighborY="-5144">
        <dgm:presLayoutVars>
          <dgm:bulletEnabled val="1"/>
        </dgm:presLayoutVars>
      </dgm:prSet>
      <dgm:spPr/>
    </dgm:pt>
    <dgm:pt modelId="{687E0F69-E3AA-4F95-90D9-1AAA8847999F}" type="pres">
      <dgm:prSet presAssocID="{81CB6F66-C7C1-45EB-B1D8-9E513A1797B8}" presName="parSpace" presStyleCnt="0"/>
      <dgm:spPr/>
    </dgm:pt>
    <dgm:pt modelId="{4DDD84A0-72A5-4688-819D-B9BC648AD28A}" type="pres">
      <dgm:prSet presAssocID="{EDD44C4C-CE27-44CC-83B9-28E67F1B8AFC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27B66929-1CB8-49D7-8649-50FA655D7AE9}" type="presOf" srcId="{136E1A22-AAD6-4DF3-9F88-7C1248C552F1}" destId="{B3144829-D6C5-4E17-A7E0-1721C80983DF}" srcOrd="0" destOrd="0" presId="urn:microsoft.com/office/officeart/2005/8/layout/hChevron3"/>
    <dgm:cxn modelId="{E846343E-AFC1-47EC-82B9-1DFE88EED931}" type="presOf" srcId="{D084B81C-7F34-4F12-9114-329D8F5B5407}" destId="{D4964679-80A2-4BB1-9882-E4CD7C8583C0}" srcOrd="0" destOrd="0" presId="urn:microsoft.com/office/officeart/2005/8/layout/hChevron3"/>
    <dgm:cxn modelId="{BC8AC861-C9FD-4AEF-9D84-3970CAABD256}" type="presOf" srcId="{602B0AF6-1657-44A9-AAB1-2504BA09D379}" destId="{F60BDB3F-5144-422B-9B6E-389B0921F989}" srcOrd="0" destOrd="0" presId="urn:microsoft.com/office/officeart/2005/8/layout/hChevron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AC90E3B0-FC57-42DA-BE1E-5F38264C7D8B}" type="presOf" srcId="{EDD44C4C-CE27-44CC-83B9-28E67F1B8AFC}" destId="{4DDD84A0-72A5-4688-819D-B9BC648AD28A}" srcOrd="0" destOrd="0" presId="urn:microsoft.com/office/officeart/2005/8/layout/hChevron3"/>
    <dgm:cxn modelId="{1C0140B4-6E2E-4AF8-95EA-CBFBA76530EA}" type="presOf" srcId="{576FB7C4-62AF-48BE-AAA0-DB85DB29E8BA}" destId="{C4B82193-51DD-482F-AF4D-B8652702E237}" srcOrd="0" destOrd="0" presId="urn:microsoft.com/office/officeart/2005/8/layout/hChevron3"/>
    <dgm:cxn modelId="{6C95D7CA-40B0-4F88-8A39-5D609FB40A56}" srcId="{602B0AF6-1657-44A9-AAB1-2504BA09D379}" destId="{EDD44C4C-CE27-44CC-83B9-28E67F1B8AFC}" srcOrd="3" destOrd="0" parTransId="{E5A09EA7-7E92-4BF0-A775-529727A080F1}" sibTransId="{7513BF25-C573-4622-80A8-E5FB463A2D12}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1443C796-E7CD-461D-91FD-4D0EC36ABDB0}" type="presParOf" srcId="{F60BDB3F-5144-422B-9B6E-389B0921F989}" destId="{B3144829-D6C5-4E17-A7E0-1721C80983DF}" srcOrd="0" destOrd="0" presId="urn:microsoft.com/office/officeart/2005/8/layout/hChevron3"/>
    <dgm:cxn modelId="{55E60D07-4D1B-448F-9DD8-4DFE279FCCAB}" type="presParOf" srcId="{F60BDB3F-5144-422B-9B6E-389B0921F989}" destId="{E502648D-D613-42C3-BFD7-524225FF28B5}" srcOrd="1" destOrd="0" presId="urn:microsoft.com/office/officeart/2005/8/layout/hChevron3"/>
    <dgm:cxn modelId="{AD8FF16B-ECCB-45E8-93ED-D63DE8B45F17}" type="presParOf" srcId="{F60BDB3F-5144-422B-9B6E-389B0921F989}" destId="{C4B82193-51DD-482F-AF4D-B8652702E237}" srcOrd="2" destOrd="0" presId="urn:microsoft.com/office/officeart/2005/8/layout/hChevron3"/>
    <dgm:cxn modelId="{898260B4-C176-453B-943F-97711019B820}" type="presParOf" srcId="{F60BDB3F-5144-422B-9B6E-389B0921F989}" destId="{8A85E30A-752C-4268-BF44-94869E68E4B9}" srcOrd="3" destOrd="0" presId="urn:microsoft.com/office/officeart/2005/8/layout/hChevron3"/>
    <dgm:cxn modelId="{78398963-0323-4E00-8999-8519BFE9BE6A}" type="presParOf" srcId="{F60BDB3F-5144-422B-9B6E-389B0921F989}" destId="{D4964679-80A2-4BB1-9882-E4CD7C8583C0}" srcOrd="4" destOrd="0" presId="urn:microsoft.com/office/officeart/2005/8/layout/hChevron3"/>
    <dgm:cxn modelId="{9334A955-3C24-45F6-83CA-16BE2E60D6E7}" type="presParOf" srcId="{F60BDB3F-5144-422B-9B6E-389B0921F989}" destId="{687E0F69-E3AA-4F95-90D9-1AAA8847999F}" srcOrd="5" destOrd="0" presId="urn:microsoft.com/office/officeart/2005/8/layout/hChevron3"/>
    <dgm:cxn modelId="{009BBB07-FD69-4CBA-9628-9D6056D20F12}" type="presParOf" srcId="{F60BDB3F-5144-422B-9B6E-389B0921F989}" destId="{4DDD84A0-72A5-4688-819D-B9BC648AD28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>
        <a:solidFill>
          <a:srgbClr val="92D050"/>
        </a:solidFill>
      </dgm:spPr>
      <dgm:t>
        <a:bodyPr/>
        <a:lstStyle/>
        <a:p>
          <a:r>
            <a:rPr lang="pt-BR" sz="1800" b="1" dirty="0">
              <a:solidFill>
                <a:schemeClr val="bg1"/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dirty="0">
              <a:solidFill>
                <a:schemeClr val="bg1"/>
              </a:solidFill>
            </a:rPr>
            <a:t> </a:t>
          </a:r>
          <a:r>
            <a:rPr lang="pt-BR" sz="1800" dirty="0">
              <a:solidFill>
                <a:schemeClr val="bg1">
                  <a:lumMod val="75000"/>
                </a:schemeClr>
              </a:solidFill>
            </a:rPr>
            <a:t> Lógico</a:t>
          </a:r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DD44C4C-CE27-44CC-83B9-28E67F1B8AFC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gm:t>
    </dgm:pt>
    <dgm:pt modelId="{E5A09EA7-7E92-4BF0-A775-529727A080F1}" type="parTrans" cxnId="{6C95D7CA-40B0-4F88-8A39-5D609FB40A56}">
      <dgm:prSet/>
      <dgm:spPr/>
      <dgm:t>
        <a:bodyPr/>
        <a:lstStyle/>
        <a:p>
          <a:endParaRPr lang="pt-BR"/>
        </a:p>
      </dgm:t>
    </dgm:pt>
    <dgm:pt modelId="{7513BF25-C573-4622-80A8-E5FB463A2D12}" type="sibTrans" cxnId="{6C95D7CA-40B0-4F88-8A39-5D609FB40A56}">
      <dgm:prSet/>
      <dgm:spPr/>
      <dgm:t>
        <a:bodyPr/>
        <a:lstStyle/>
        <a:p>
          <a:endParaRPr lang="pt-BR"/>
        </a:p>
      </dgm:t>
    </dgm:pt>
    <dgm:pt modelId="{F60BDB3F-5144-422B-9B6E-389B0921F989}" type="pres">
      <dgm:prSet presAssocID="{602B0AF6-1657-44A9-AAB1-2504BA09D379}" presName="Name0" presStyleCnt="0">
        <dgm:presLayoutVars>
          <dgm:dir/>
          <dgm:resizeHandles val="exact"/>
        </dgm:presLayoutVars>
      </dgm:prSet>
      <dgm:spPr/>
    </dgm:pt>
    <dgm:pt modelId="{B3144829-D6C5-4E17-A7E0-1721C80983DF}" type="pres">
      <dgm:prSet presAssocID="{136E1A22-AAD6-4DF3-9F88-7C1248C552F1}" presName="parTxOnly" presStyleLbl="node1" presStyleIdx="0" presStyleCnt="4" custLinFactNeighborY="-4329">
        <dgm:presLayoutVars>
          <dgm:bulletEnabled val="1"/>
        </dgm:presLayoutVars>
      </dgm:prSet>
      <dgm:spPr/>
    </dgm:pt>
    <dgm:pt modelId="{E502648D-D613-42C3-BFD7-524225FF28B5}" type="pres">
      <dgm:prSet presAssocID="{1958C13C-CCCD-4AA1-8439-2C49F5960147}" presName="parSpace" presStyleCnt="0"/>
      <dgm:spPr/>
    </dgm:pt>
    <dgm:pt modelId="{C4B82193-51DD-482F-AF4D-B8652702E237}" type="pres">
      <dgm:prSet presAssocID="{576FB7C4-62AF-48BE-AAA0-DB85DB29E8BA}" presName="parTxOnly" presStyleLbl="node1" presStyleIdx="1" presStyleCnt="4" custLinFactNeighborX="0" custLinFactNeighborY="21208">
        <dgm:presLayoutVars>
          <dgm:bulletEnabled val="1"/>
        </dgm:presLayoutVars>
      </dgm:prSet>
      <dgm:spPr/>
    </dgm:pt>
    <dgm:pt modelId="{8A85E30A-752C-4268-BF44-94869E68E4B9}" type="pres">
      <dgm:prSet presAssocID="{F82996EE-2361-4C42-913C-11F19236234B}" presName="parSpace" presStyleCnt="0"/>
      <dgm:spPr/>
    </dgm:pt>
    <dgm:pt modelId="{D4964679-80A2-4BB1-9882-E4CD7C8583C0}" type="pres">
      <dgm:prSet presAssocID="{D084B81C-7F34-4F12-9114-329D8F5B5407}" presName="parTxOnly" presStyleLbl="node1" presStyleIdx="2" presStyleCnt="4" custLinFactNeighborY="-5144">
        <dgm:presLayoutVars>
          <dgm:bulletEnabled val="1"/>
        </dgm:presLayoutVars>
      </dgm:prSet>
      <dgm:spPr/>
    </dgm:pt>
    <dgm:pt modelId="{687E0F69-E3AA-4F95-90D9-1AAA8847999F}" type="pres">
      <dgm:prSet presAssocID="{81CB6F66-C7C1-45EB-B1D8-9E513A1797B8}" presName="parSpace" presStyleCnt="0"/>
      <dgm:spPr/>
    </dgm:pt>
    <dgm:pt modelId="{4DDD84A0-72A5-4688-819D-B9BC648AD28A}" type="pres">
      <dgm:prSet presAssocID="{EDD44C4C-CE27-44CC-83B9-28E67F1B8AFC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27B66929-1CB8-49D7-8649-50FA655D7AE9}" type="presOf" srcId="{136E1A22-AAD6-4DF3-9F88-7C1248C552F1}" destId="{B3144829-D6C5-4E17-A7E0-1721C80983DF}" srcOrd="0" destOrd="0" presId="urn:microsoft.com/office/officeart/2005/8/layout/hChevron3"/>
    <dgm:cxn modelId="{E846343E-AFC1-47EC-82B9-1DFE88EED931}" type="presOf" srcId="{D084B81C-7F34-4F12-9114-329D8F5B5407}" destId="{D4964679-80A2-4BB1-9882-E4CD7C8583C0}" srcOrd="0" destOrd="0" presId="urn:microsoft.com/office/officeart/2005/8/layout/hChevron3"/>
    <dgm:cxn modelId="{BC8AC861-C9FD-4AEF-9D84-3970CAABD256}" type="presOf" srcId="{602B0AF6-1657-44A9-AAB1-2504BA09D379}" destId="{F60BDB3F-5144-422B-9B6E-389B0921F989}" srcOrd="0" destOrd="0" presId="urn:microsoft.com/office/officeart/2005/8/layout/hChevron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AC90E3B0-FC57-42DA-BE1E-5F38264C7D8B}" type="presOf" srcId="{EDD44C4C-CE27-44CC-83B9-28E67F1B8AFC}" destId="{4DDD84A0-72A5-4688-819D-B9BC648AD28A}" srcOrd="0" destOrd="0" presId="urn:microsoft.com/office/officeart/2005/8/layout/hChevron3"/>
    <dgm:cxn modelId="{1C0140B4-6E2E-4AF8-95EA-CBFBA76530EA}" type="presOf" srcId="{576FB7C4-62AF-48BE-AAA0-DB85DB29E8BA}" destId="{C4B82193-51DD-482F-AF4D-B8652702E237}" srcOrd="0" destOrd="0" presId="urn:microsoft.com/office/officeart/2005/8/layout/hChevron3"/>
    <dgm:cxn modelId="{6C95D7CA-40B0-4F88-8A39-5D609FB40A56}" srcId="{602B0AF6-1657-44A9-AAB1-2504BA09D379}" destId="{EDD44C4C-CE27-44CC-83B9-28E67F1B8AFC}" srcOrd="3" destOrd="0" parTransId="{E5A09EA7-7E92-4BF0-A775-529727A080F1}" sibTransId="{7513BF25-C573-4622-80A8-E5FB463A2D12}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1443C796-E7CD-461D-91FD-4D0EC36ABDB0}" type="presParOf" srcId="{F60BDB3F-5144-422B-9B6E-389B0921F989}" destId="{B3144829-D6C5-4E17-A7E0-1721C80983DF}" srcOrd="0" destOrd="0" presId="urn:microsoft.com/office/officeart/2005/8/layout/hChevron3"/>
    <dgm:cxn modelId="{55E60D07-4D1B-448F-9DD8-4DFE279FCCAB}" type="presParOf" srcId="{F60BDB3F-5144-422B-9B6E-389B0921F989}" destId="{E502648D-D613-42C3-BFD7-524225FF28B5}" srcOrd="1" destOrd="0" presId="urn:microsoft.com/office/officeart/2005/8/layout/hChevron3"/>
    <dgm:cxn modelId="{AD8FF16B-ECCB-45E8-93ED-D63DE8B45F17}" type="presParOf" srcId="{F60BDB3F-5144-422B-9B6E-389B0921F989}" destId="{C4B82193-51DD-482F-AF4D-B8652702E237}" srcOrd="2" destOrd="0" presId="urn:microsoft.com/office/officeart/2005/8/layout/hChevron3"/>
    <dgm:cxn modelId="{898260B4-C176-453B-943F-97711019B820}" type="presParOf" srcId="{F60BDB3F-5144-422B-9B6E-389B0921F989}" destId="{8A85E30A-752C-4268-BF44-94869E68E4B9}" srcOrd="3" destOrd="0" presId="urn:microsoft.com/office/officeart/2005/8/layout/hChevron3"/>
    <dgm:cxn modelId="{78398963-0323-4E00-8999-8519BFE9BE6A}" type="presParOf" srcId="{F60BDB3F-5144-422B-9B6E-389B0921F989}" destId="{D4964679-80A2-4BB1-9882-E4CD7C8583C0}" srcOrd="4" destOrd="0" presId="urn:microsoft.com/office/officeart/2005/8/layout/hChevron3"/>
    <dgm:cxn modelId="{9334A955-3C24-45F6-83CA-16BE2E60D6E7}" type="presParOf" srcId="{F60BDB3F-5144-422B-9B6E-389B0921F989}" destId="{687E0F69-E3AA-4F95-90D9-1AAA8847999F}" srcOrd="5" destOrd="0" presId="urn:microsoft.com/office/officeart/2005/8/layout/hChevron3"/>
    <dgm:cxn modelId="{009BBB07-FD69-4CBA-9628-9D6056D20F12}" type="presParOf" srcId="{F60BDB3F-5144-422B-9B6E-389B0921F989}" destId="{4DDD84A0-72A5-4688-819D-B9BC648AD28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800" b="1" dirty="0">
              <a:solidFill>
                <a:schemeClr val="bg1"/>
              </a:solidFill>
            </a:rPr>
            <a:t>3. Modelo  Lógico</a:t>
          </a:r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DD44C4C-CE27-44CC-83B9-28E67F1B8AFC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gm:t>
    </dgm:pt>
    <dgm:pt modelId="{E5A09EA7-7E92-4BF0-A775-529727A080F1}" type="parTrans" cxnId="{6C95D7CA-40B0-4F88-8A39-5D609FB40A56}">
      <dgm:prSet/>
      <dgm:spPr/>
      <dgm:t>
        <a:bodyPr/>
        <a:lstStyle/>
        <a:p>
          <a:endParaRPr lang="pt-BR"/>
        </a:p>
      </dgm:t>
    </dgm:pt>
    <dgm:pt modelId="{7513BF25-C573-4622-80A8-E5FB463A2D12}" type="sibTrans" cxnId="{6C95D7CA-40B0-4F88-8A39-5D609FB40A56}">
      <dgm:prSet/>
      <dgm:spPr/>
      <dgm:t>
        <a:bodyPr/>
        <a:lstStyle/>
        <a:p>
          <a:endParaRPr lang="pt-BR"/>
        </a:p>
      </dgm:t>
    </dgm:pt>
    <dgm:pt modelId="{F60BDB3F-5144-422B-9B6E-389B0921F989}" type="pres">
      <dgm:prSet presAssocID="{602B0AF6-1657-44A9-AAB1-2504BA09D379}" presName="Name0" presStyleCnt="0">
        <dgm:presLayoutVars>
          <dgm:dir/>
          <dgm:resizeHandles val="exact"/>
        </dgm:presLayoutVars>
      </dgm:prSet>
      <dgm:spPr/>
    </dgm:pt>
    <dgm:pt modelId="{B3144829-D6C5-4E17-A7E0-1721C80983DF}" type="pres">
      <dgm:prSet presAssocID="{136E1A22-AAD6-4DF3-9F88-7C1248C552F1}" presName="parTxOnly" presStyleLbl="node1" presStyleIdx="0" presStyleCnt="4" custLinFactNeighborY="-4329">
        <dgm:presLayoutVars>
          <dgm:bulletEnabled val="1"/>
        </dgm:presLayoutVars>
      </dgm:prSet>
      <dgm:spPr/>
    </dgm:pt>
    <dgm:pt modelId="{E502648D-D613-42C3-BFD7-524225FF28B5}" type="pres">
      <dgm:prSet presAssocID="{1958C13C-CCCD-4AA1-8439-2C49F5960147}" presName="parSpace" presStyleCnt="0"/>
      <dgm:spPr/>
    </dgm:pt>
    <dgm:pt modelId="{C4B82193-51DD-482F-AF4D-B8652702E237}" type="pres">
      <dgm:prSet presAssocID="{576FB7C4-62AF-48BE-AAA0-DB85DB29E8BA}" presName="parTxOnly" presStyleLbl="node1" presStyleIdx="1" presStyleCnt="4" custLinFactNeighborX="0" custLinFactNeighborY="21208">
        <dgm:presLayoutVars>
          <dgm:bulletEnabled val="1"/>
        </dgm:presLayoutVars>
      </dgm:prSet>
      <dgm:spPr/>
    </dgm:pt>
    <dgm:pt modelId="{8A85E30A-752C-4268-BF44-94869E68E4B9}" type="pres">
      <dgm:prSet presAssocID="{F82996EE-2361-4C42-913C-11F19236234B}" presName="parSpace" presStyleCnt="0"/>
      <dgm:spPr/>
    </dgm:pt>
    <dgm:pt modelId="{D4964679-80A2-4BB1-9882-E4CD7C8583C0}" type="pres">
      <dgm:prSet presAssocID="{D084B81C-7F34-4F12-9114-329D8F5B5407}" presName="parTxOnly" presStyleLbl="node1" presStyleIdx="2" presStyleCnt="4" custLinFactNeighborY="-5144">
        <dgm:presLayoutVars>
          <dgm:bulletEnabled val="1"/>
        </dgm:presLayoutVars>
      </dgm:prSet>
      <dgm:spPr/>
    </dgm:pt>
    <dgm:pt modelId="{687E0F69-E3AA-4F95-90D9-1AAA8847999F}" type="pres">
      <dgm:prSet presAssocID="{81CB6F66-C7C1-45EB-B1D8-9E513A1797B8}" presName="parSpace" presStyleCnt="0"/>
      <dgm:spPr/>
    </dgm:pt>
    <dgm:pt modelId="{4DDD84A0-72A5-4688-819D-B9BC648AD28A}" type="pres">
      <dgm:prSet presAssocID="{EDD44C4C-CE27-44CC-83B9-28E67F1B8AFC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27B66929-1CB8-49D7-8649-50FA655D7AE9}" type="presOf" srcId="{136E1A22-AAD6-4DF3-9F88-7C1248C552F1}" destId="{B3144829-D6C5-4E17-A7E0-1721C80983DF}" srcOrd="0" destOrd="0" presId="urn:microsoft.com/office/officeart/2005/8/layout/hChevron3"/>
    <dgm:cxn modelId="{E846343E-AFC1-47EC-82B9-1DFE88EED931}" type="presOf" srcId="{D084B81C-7F34-4F12-9114-329D8F5B5407}" destId="{D4964679-80A2-4BB1-9882-E4CD7C8583C0}" srcOrd="0" destOrd="0" presId="urn:microsoft.com/office/officeart/2005/8/layout/hChevron3"/>
    <dgm:cxn modelId="{BC8AC861-C9FD-4AEF-9D84-3970CAABD256}" type="presOf" srcId="{602B0AF6-1657-44A9-AAB1-2504BA09D379}" destId="{F60BDB3F-5144-422B-9B6E-389B0921F989}" srcOrd="0" destOrd="0" presId="urn:microsoft.com/office/officeart/2005/8/layout/hChevron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AC90E3B0-FC57-42DA-BE1E-5F38264C7D8B}" type="presOf" srcId="{EDD44C4C-CE27-44CC-83B9-28E67F1B8AFC}" destId="{4DDD84A0-72A5-4688-819D-B9BC648AD28A}" srcOrd="0" destOrd="0" presId="urn:microsoft.com/office/officeart/2005/8/layout/hChevron3"/>
    <dgm:cxn modelId="{1C0140B4-6E2E-4AF8-95EA-CBFBA76530EA}" type="presOf" srcId="{576FB7C4-62AF-48BE-AAA0-DB85DB29E8BA}" destId="{C4B82193-51DD-482F-AF4D-B8652702E237}" srcOrd="0" destOrd="0" presId="urn:microsoft.com/office/officeart/2005/8/layout/hChevron3"/>
    <dgm:cxn modelId="{6C95D7CA-40B0-4F88-8A39-5D609FB40A56}" srcId="{602B0AF6-1657-44A9-AAB1-2504BA09D379}" destId="{EDD44C4C-CE27-44CC-83B9-28E67F1B8AFC}" srcOrd="3" destOrd="0" parTransId="{E5A09EA7-7E92-4BF0-A775-529727A080F1}" sibTransId="{7513BF25-C573-4622-80A8-E5FB463A2D12}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1443C796-E7CD-461D-91FD-4D0EC36ABDB0}" type="presParOf" srcId="{F60BDB3F-5144-422B-9B6E-389B0921F989}" destId="{B3144829-D6C5-4E17-A7E0-1721C80983DF}" srcOrd="0" destOrd="0" presId="urn:microsoft.com/office/officeart/2005/8/layout/hChevron3"/>
    <dgm:cxn modelId="{55E60D07-4D1B-448F-9DD8-4DFE279FCCAB}" type="presParOf" srcId="{F60BDB3F-5144-422B-9B6E-389B0921F989}" destId="{E502648D-D613-42C3-BFD7-524225FF28B5}" srcOrd="1" destOrd="0" presId="urn:microsoft.com/office/officeart/2005/8/layout/hChevron3"/>
    <dgm:cxn modelId="{AD8FF16B-ECCB-45E8-93ED-D63DE8B45F17}" type="presParOf" srcId="{F60BDB3F-5144-422B-9B6E-389B0921F989}" destId="{C4B82193-51DD-482F-AF4D-B8652702E237}" srcOrd="2" destOrd="0" presId="urn:microsoft.com/office/officeart/2005/8/layout/hChevron3"/>
    <dgm:cxn modelId="{898260B4-C176-453B-943F-97711019B820}" type="presParOf" srcId="{F60BDB3F-5144-422B-9B6E-389B0921F989}" destId="{8A85E30A-752C-4268-BF44-94869E68E4B9}" srcOrd="3" destOrd="0" presId="urn:microsoft.com/office/officeart/2005/8/layout/hChevron3"/>
    <dgm:cxn modelId="{78398963-0323-4E00-8999-8519BFE9BE6A}" type="presParOf" srcId="{F60BDB3F-5144-422B-9B6E-389B0921F989}" destId="{D4964679-80A2-4BB1-9882-E4CD7C8583C0}" srcOrd="4" destOrd="0" presId="urn:microsoft.com/office/officeart/2005/8/layout/hChevron3"/>
    <dgm:cxn modelId="{9334A955-3C24-45F6-83CA-16BE2E60D6E7}" type="presParOf" srcId="{F60BDB3F-5144-422B-9B6E-389B0921F989}" destId="{687E0F69-E3AA-4F95-90D9-1AAA8847999F}" srcOrd="5" destOrd="0" presId="urn:microsoft.com/office/officeart/2005/8/layout/hChevron3"/>
    <dgm:cxn modelId="{009BBB07-FD69-4CBA-9628-9D6056D20F12}" type="presParOf" srcId="{F60BDB3F-5144-422B-9B6E-389B0921F989}" destId="{4DDD84A0-72A5-4688-819D-B9BC648AD28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2B0AF6-1657-44A9-AAB1-2504BA09D379}" type="doc">
      <dgm:prSet loTypeId="urn:microsoft.com/office/officeart/2005/8/layout/hChevron3" loCatId="process" qsTypeId="urn:microsoft.com/office/officeart/2005/8/quickstyle/simple1" qsCatId="simple" csTypeId="urn:microsoft.com/office/officeart/2005/8/colors/colorful4" csCatId="colorful" phldr="1"/>
      <dgm:spPr/>
    </dgm:pt>
    <dgm:pt modelId="{136E1A22-AAD6-4DF3-9F88-7C1248C552F1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gm:t>
    </dgm:pt>
    <dgm:pt modelId="{ADC6C34F-687B-41A7-A5D0-91D39DCFF963}" type="parTrans" cxnId="{727DF8F5-77CF-46AE-8182-107DE539DB4E}">
      <dgm:prSet/>
      <dgm:spPr/>
      <dgm:t>
        <a:bodyPr/>
        <a:lstStyle/>
        <a:p>
          <a:endParaRPr lang="pt-BR"/>
        </a:p>
      </dgm:t>
    </dgm:pt>
    <dgm:pt modelId="{1958C13C-CCCD-4AA1-8439-2C49F5960147}" type="sibTrans" cxnId="{727DF8F5-77CF-46AE-8182-107DE539DB4E}">
      <dgm:prSet/>
      <dgm:spPr/>
      <dgm:t>
        <a:bodyPr/>
        <a:lstStyle/>
        <a:p>
          <a:endParaRPr lang="pt-BR"/>
        </a:p>
      </dgm:t>
    </dgm:pt>
    <dgm:pt modelId="{576FB7C4-62AF-48BE-AAA0-DB85DB29E8BA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gm:t>
    </dgm:pt>
    <dgm:pt modelId="{C26D40A2-A694-4B0D-B7EA-812594AED5CE}" type="parTrans" cxnId="{31C36247-BDB3-493B-9287-EE68E0776493}">
      <dgm:prSet/>
      <dgm:spPr/>
      <dgm:t>
        <a:bodyPr/>
        <a:lstStyle/>
        <a:p>
          <a:endParaRPr lang="pt-BR"/>
        </a:p>
      </dgm:t>
    </dgm:pt>
    <dgm:pt modelId="{F82996EE-2361-4C42-913C-11F19236234B}" type="sibTrans" cxnId="{31C36247-BDB3-493B-9287-EE68E0776493}">
      <dgm:prSet/>
      <dgm:spPr/>
      <dgm:t>
        <a:bodyPr/>
        <a:lstStyle/>
        <a:p>
          <a:endParaRPr lang="pt-BR"/>
        </a:p>
      </dgm:t>
    </dgm:pt>
    <dgm:pt modelId="{D084B81C-7F34-4F12-9114-329D8F5B5407}">
      <dgm:prSet phldrT="[Texto]" custT="1"/>
      <dgm:spPr/>
      <dgm:t>
        <a:bodyPr/>
        <a:lstStyle/>
        <a:p>
          <a:r>
            <a:rPr lang="pt-BR" sz="18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dirty="0">
              <a:solidFill>
                <a:schemeClr val="bg1"/>
              </a:solidFill>
            </a:rPr>
            <a:t> </a:t>
          </a:r>
          <a:r>
            <a:rPr lang="pt-BR" sz="1800" dirty="0">
              <a:solidFill>
                <a:schemeClr val="bg1">
                  <a:lumMod val="75000"/>
                </a:schemeClr>
              </a:solidFill>
            </a:rPr>
            <a:t> Lógico</a:t>
          </a:r>
        </a:p>
      </dgm:t>
    </dgm:pt>
    <dgm:pt modelId="{F635E8C4-6503-4AA3-8376-9B7E0DCDF922}" type="parTrans" cxnId="{B4C9A704-00E9-4C87-A079-0812E79CC56E}">
      <dgm:prSet/>
      <dgm:spPr/>
      <dgm:t>
        <a:bodyPr/>
        <a:lstStyle/>
        <a:p>
          <a:endParaRPr lang="pt-BR"/>
        </a:p>
      </dgm:t>
    </dgm:pt>
    <dgm:pt modelId="{81CB6F66-C7C1-45EB-B1D8-9E513A1797B8}" type="sibTrans" cxnId="{B4C9A704-00E9-4C87-A079-0812E79CC56E}">
      <dgm:prSet/>
      <dgm:spPr/>
      <dgm:t>
        <a:bodyPr/>
        <a:lstStyle/>
        <a:p>
          <a:endParaRPr lang="pt-BR"/>
        </a:p>
      </dgm:t>
    </dgm:pt>
    <dgm:pt modelId="{EDD44C4C-CE27-44CC-83B9-28E67F1B8AFC}">
      <dgm:prSet phldrT="[Texto]" custT="1"/>
      <dgm:spPr/>
      <dgm:t>
        <a:bodyPr/>
        <a:lstStyle/>
        <a:p>
          <a:r>
            <a:rPr lang="pt-BR" sz="1800" dirty="0">
              <a:solidFill>
                <a:schemeClr val="bg1"/>
              </a:solidFill>
            </a:rPr>
            <a:t>4. Modelo Físico</a:t>
          </a:r>
        </a:p>
      </dgm:t>
    </dgm:pt>
    <dgm:pt modelId="{E5A09EA7-7E92-4BF0-A775-529727A080F1}" type="parTrans" cxnId="{6C95D7CA-40B0-4F88-8A39-5D609FB40A56}">
      <dgm:prSet/>
      <dgm:spPr/>
      <dgm:t>
        <a:bodyPr/>
        <a:lstStyle/>
        <a:p>
          <a:endParaRPr lang="pt-BR"/>
        </a:p>
      </dgm:t>
    </dgm:pt>
    <dgm:pt modelId="{7513BF25-C573-4622-80A8-E5FB463A2D12}" type="sibTrans" cxnId="{6C95D7CA-40B0-4F88-8A39-5D609FB40A56}">
      <dgm:prSet/>
      <dgm:spPr/>
      <dgm:t>
        <a:bodyPr/>
        <a:lstStyle/>
        <a:p>
          <a:endParaRPr lang="pt-BR"/>
        </a:p>
      </dgm:t>
    </dgm:pt>
    <dgm:pt modelId="{F60BDB3F-5144-422B-9B6E-389B0921F989}" type="pres">
      <dgm:prSet presAssocID="{602B0AF6-1657-44A9-AAB1-2504BA09D379}" presName="Name0" presStyleCnt="0">
        <dgm:presLayoutVars>
          <dgm:dir/>
          <dgm:resizeHandles val="exact"/>
        </dgm:presLayoutVars>
      </dgm:prSet>
      <dgm:spPr/>
    </dgm:pt>
    <dgm:pt modelId="{B3144829-D6C5-4E17-A7E0-1721C80983DF}" type="pres">
      <dgm:prSet presAssocID="{136E1A22-AAD6-4DF3-9F88-7C1248C552F1}" presName="parTxOnly" presStyleLbl="node1" presStyleIdx="0" presStyleCnt="4" custLinFactNeighborY="-4329">
        <dgm:presLayoutVars>
          <dgm:bulletEnabled val="1"/>
        </dgm:presLayoutVars>
      </dgm:prSet>
      <dgm:spPr/>
    </dgm:pt>
    <dgm:pt modelId="{E502648D-D613-42C3-BFD7-524225FF28B5}" type="pres">
      <dgm:prSet presAssocID="{1958C13C-CCCD-4AA1-8439-2C49F5960147}" presName="parSpace" presStyleCnt="0"/>
      <dgm:spPr/>
    </dgm:pt>
    <dgm:pt modelId="{C4B82193-51DD-482F-AF4D-B8652702E237}" type="pres">
      <dgm:prSet presAssocID="{576FB7C4-62AF-48BE-AAA0-DB85DB29E8BA}" presName="parTxOnly" presStyleLbl="node1" presStyleIdx="1" presStyleCnt="4" custLinFactNeighborX="0" custLinFactNeighborY="21208">
        <dgm:presLayoutVars>
          <dgm:bulletEnabled val="1"/>
        </dgm:presLayoutVars>
      </dgm:prSet>
      <dgm:spPr/>
    </dgm:pt>
    <dgm:pt modelId="{8A85E30A-752C-4268-BF44-94869E68E4B9}" type="pres">
      <dgm:prSet presAssocID="{F82996EE-2361-4C42-913C-11F19236234B}" presName="parSpace" presStyleCnt="0"/>
      <dgm:spPr/>
    </dgm:pt>
    <dgm:pt modelId="{D4964679-80A2-4BB1-9882-E4CD7C8583C0}" type="pres">
      <dgm:prSet presAssocID="{D084B81C-7F34-4F12-9114-329D8F5B5407}" presName="parTxOnly" presStyleLbl="node1" presStyleIdx="2" presStyleCnt="4" custLinFactNeighborY="-5144">
        <dgm:presLayoutVars>
          <dgm:bulletEnabled val="1"/>
        </dgm:presLayoutVars>
      </dgm:prSet>
      <dgm:spPr/>
    </dgm:pt>
    <dgm:pt modelId="{687E0F69-E3AA-4F95-90D9-1AAA8847999F}" type="pres">
      <dgm:prSet presAssocID="{81CB6F66-C7C1-45EB-B1D8-9E513A1797B8}" presName="parSpace" presStyleCnt="0"/>
      <dgm:spPr/>
    </dgm:pt>
    <dgm:pt modelId="{4DDD84A0-72A5-4688-819D-B9BC648AD28A}" type="pres">
      <dgm:prSet presAssocID="{EDD44C4C-CE27-44CC-83B9-28E67F1B8AFC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B4C9A704-00E9-4C87-A079-0812E79CC56E}" srcId="{602B0AF6-1657-44A9-AAB1-2504BA09D379}" destId="{D084B81C-7F34-4F12-9114-329D8F5B5407}" srcOrd="2" destOrd="0" parTransId="{F635E8C4-6503-4AA3-8376-9B7E0DCDF922}" sibTransId="{81CB6F66-C7C1-45EB-B1D8-9E513A1797B8}"/>
    <dgm:cxn modelId="{27B66929-1CB8-49D7-8649-50FA655D7AE9}" type="presOf" srcId="{136E1A22-AAD6-4DF3-9F88-7C1248C552F1}" destId="{B3144829-D6C5-4E17-A7E0-1721C80983DF}" srcOrd="0" destOrd="0" presId="urn:microsoft.com/office/officeart/2005/8/layout/hChevron3"/>
    <dgm:cxn modelId="{E846343E-AFC1-47EC-82B9-1DFE88EED931}" type="presOf" srcId="{D084B81C-7F34-4F12-9114-329D8F5B5407}" destId="{D4964679-80A2-4BB1-9882-E4CD7C8583C0}" srcOrd="0" destOrd="0" presId="urn:microsoft.com/office/officeart/2005/8/layout/hChevron3"/>
    <dgm:cxn modelId="{BC8AC861-C9FD-4AEF-9D84-3970CAABD256}" type="presOf" srcId="{602B0AF6-1657-44A9-AAB1-2504BA09D379}" destId="{F60BDB3F-5144-422B-9B6E-389B0921F989}" srcOrd="0" destOrd="0" presId="urn:microsoft.com/office/officeart/2005/8/layout/hChevron3"/>
    <dgm:cxn modelId="{31C36247-BDB3-493B-9287-EE68E0776493}" srcId="{602B0AF6-1657-44A9-AAB1-2504BA09D379}" destId="{576FB7C4-62AF-48BE-AAA0-DB85DB29E8BA}" srcOrd="1" destOrd="0" parTransId="{C26D40A2-A694-4B0D-B7EA-812594AED5CE}" sibTransId="{F82996EE-2361-4C42-913C-11F19236234B}"/>
    <dgm:cxn modelId="{AC90E3B0-FC57-42DA-BE1E-5F38264C7D8B}" type="presOf" srcId="{EDD44C4C-CE27-44CC-83B9-28E67F1B8AFC}" destId="{4DDD84A0-72A5-4688-819D-B9BC648AD28A}" srcOrd="0" destOrd="0" presId="urn:microsoft.com/office/officeart/2005/8/layout/hChevron3"/>
    <dgm:cxn modelId="{1C0140B4-6E2E-4AF8-95EA-CBFBA76530EA}" type="presOf" srcId="{576FB7C4-62AF-48BE-AAA0-DB85DB29E8BA}" destId="{C4B82193-51DD-482F-AF4D-B8652702E237}" srcOrd="0" destOrd="0" presId="urn:microsoft.com/office/officeart/2005/8/layout/hChevron3"/>
    <dgm:cxn modelId="{6C95D7CA-40B0-4F88-8A39-5D609FB40A56}" srcId="{602B0AF6-1657-44A9-AAB1-2504BA09D379}" destId="{EDD44C4C-CE27-44CC-83B9-28E67F1B8AFC}" srcOrd="3" destOrd="0" parTransId="{E5A09EA7-7E92-4BF0-A775-529727A080F1}" sibTransId="{7513BF25-C573-4622-80A8-E5FB463A2D12}"/>
    <dgm:cxn modelId="{727DF8F5-77CF-46AE-8182-107DE539DB4E}" srcId="{602B0AF6-1657-44A9-AAB1-2504BA09D379}" destId="{136E1A22-AAD6-4DF3-9F88-7C1248C552F1}" srcOrd="0" destOrd="0" parTransId="{ADC6C34F-687B-41A7-A5D0-91D39DCFF963}" sibTransId="{1958C13C-CCCD-4AA1-8439-2C49F5960147}"/>
    <dgm:cxn modelId="{1443C796-E7CD-461D-91FD-4D0EC36ABDB0}" type="presParOf" srcId="{F60BDB3F-5144-422B-9B6E-389B0921F989}" destId="{B3144829-D6C5-4E17-A7E0-1721C80983DF}" srcOrd="0" destOrd="0" presId="urn:microsoft.com/office/officeart/2005/8/layout/hChevron3"/>
    <dgm:cxn modelId="{55E60D07-4D1B-448F-9DD8-4DFE279FCCAB}" type="presParOf" srcId="{F60BDB3F-5144-422B-9B6E-389B0921F989}" destId="{E502648D-D613-42C3-BFD7-524225FF28B5}" srcOrd="1" destOrd="0" presId="urn:microsoft.com/office/officeart/2005/8/layout/hChevron3"/>
    <dgm:cxn modelId="{AD8FF16B-ECCB-45E8-93ED-D63DE8B45F17}" type="presParOf" srcId="{F60BDB3F-5144-422B-9B6E-389B0921F989}" destId="{C4B82193-51DD-482F-AF4D-B8652702E237}" srcOrd="2" destOrd="0" presId="urn:microsoft.com/office/officeart/2005/8/layout/hChevron3"/>
    <dgm:cxn modelId="{898260B4-C176-453B-943F-97711019B820}" type="presParOf" srcId="{F60BDB3F-5144-422B-9B6E-389B0921F989}" destId="{8A85E30A-752C-4268-BF44-94869E68E4B9}" srcOrd="3" destOrd="0" presId="urn:microsoft.com/office/officeart/2005/8/layout/hChevron3"/>
    <dgm:cxn modelId="{78398963-0323-4E00-8999-8519BFE9BE6A}" type="presParOf" srcId="{F60BDB3F-5144-422B-9B6E-389B0921F989}" destId="{D4964679-80A2-4BB1-9882-E4CD7C8583C0}" srcOrd="4" destOrd="0" presId="urn:microsoft.com/office/officeart/2005/8/layout/hChevron3"/>
    <dgm:cxn modelId="{9334A955-3C24-45F6-83CA-16BE2E60D6E7}" type="presParOf" srcId="{F60BDB3F-5144-422B-9B6E-389B0921F989}" destId="{687E0F69-E3AA-4F95-90D9-1AAA8847999F}" srcOrd="5" destOrd="0" presId="urn:microsoft.com/office/officeart/2005/8/layout/hChevron3"/>
    <dgm:cxn modelId="{009BBB07-FD69-4CBA-9628-9D6056D20F12}" type="presParOf" srcId="{F60BDB3F-5144-422B-9B6E-389B0921F989}" destId="{4DDD84A0-72A5-4688-819D-B9BC648AD28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1300CE-F8D3-40A3-912E-295FE0289DAF}">
      <dsp:nvSpPr>
        <dsp:cNvPr id="0" name=""/>
        <dsp:cNvSpPr/>
      </dsp:nvSpPr>
      <dsp:spPr>
        <a:xfrm>
          <a:off x="-4350753" y="-667377"/>
          <a:ext cx="5183458" cy="5183458"/>
        </a:xfrm>
        <a:prstGeom prst="blockArc">
          <a:avLst>
            <a:gd name="adj1" fmla="val 18900000"/>
            <a:gd name="adj2" fmla="val 2700000"/>
            <a:gd name="adj3" fmla="val 417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BA02E2-9662-4E1D-A8A4-8D0764D60733}">
      <dsp:nvSpPr>
        <dsp:cNvPr id="0" name=""/>
        <dsp:cNvSpPr/>
      </dsp:nvSpPr>
      <dsp:spPr>
        <a:xfrm>
          <a:off x="535526" y="384870"/>
          <a:ext cx="4813287" cy="76974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0982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Modelo Conceitual</a:t>
          </a:r>
        </a:p>
      </dsp:txBody>
      <dsp:txXfrm>
        <a:off x="535526" y="384870"/>
        <a:ext cx="4813287" cy="769740"/>
      </dsp:txXfrm>
    </dsp:sp>
    <dsp:sp modelId="{54AE2661-1127-4901-A6D8-67AC0605C52F}">
      <dsp:nvSpPr>
        <dsp:cNvPr id="0" name=""/>
        <dsp:cNvSpPr/>
      </dsp:nvSpPr>
      <dsp:spPr>
        <a:xfrm>
          <a:off x="54438" y="288652"/>
          <a:ext cx="962176" cy="9621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7EBC9-1F61-4CDC-A836-4CC9A26DFA85}">
      <dsp:nvSpPr>
        <dsp:cNvPr id="0" name=""/>
        <dsp:cNvSpPr/>
      </dsp:nvSpPr>
      <dsp:spPr>
        <a:xfrm>
          <a:off x="815326" y="1539481"/>
          <a:ext cx="4533486" cy="769740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0982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Modelo Lógico</a:t>
          </a:r>
        </a:p>
      </dsp:txBody>
      <dsp:txXfrm>
        <a:off x="815326" y="1539481"/>
        <a:ext cx="4533486" cy="769740"/>
      </dsp:txXfrm>
    </dsp:sp>
    <dsp:sp modelId="{103E8064-CC70-493B-90F0-EC49548E9A56}">
      <dsp:nvSpPr>
        <dsp:cNvPr id="0" name=""/>
        <dsp:cNvSpPr/>
      </dsp:nvSpPr>
      <dsp:spPr>
        <a:xfrm>
          <a:off x="334238" y="1443263"/>
          <a:ext cx="962176" cy="9621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19320-AD0D-41B8-B929-927E0F9ADEF5}">
      <dsp:nvSpPr>
        <dsp:cNvPr id="0" name=""/>
        <dsp:cNvSpPr/>
      </dsp:nvSpPr>
      <dsp:spPr>
        <a:xfrm>
          <a:off x="535526" y="2694092"/>
          <a:ext cx="4813287" cy="769740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0982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600" kern="1200" dirty="0"/>
            <a:t>Modelo Físico</a:t>
          </a:r>
        </a:p>
      </dsp:txBody>
      <dsp:txXfrm>
        <a:off x="535526" y="2694092"/>
        <a:ext cx="4813287" cy="769740"/>
      </dsp:txXfrm>
    </dsp:sp>
    <dsp:sp modelId="{0622F233-5A05-45DC-A701-0981C4BE7940}">
      <dsp:nvSpPr>
        <dsp:cNvPr id="0" name=""/>
        <dsp:cNvSpPr/>
      </dsp:nvSpPr>
      <dsp:spPr>
        <a:xfrm>
          <a:off x="54438" y="2597875"/>
          <a:ext cx="962176" cy="96217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4829-D6C5-4E17-A7E0-1721C80983DF}">
      <dsp:nvSpPr>
        <dsp:cNvPr id="0" name=""/>
        <dsp:cNvSpPr/>
      </dsp:nvSpPr>
      <dsp:spPr>
        <a:xfrm>
          <a:off x="3048" y="0"/>
          <a:ext cx="3059025" cy="69985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/>
            <a:t>1. Mundo Observável</a:t>
          </a:r>
        </a:p>
      </dsp:txBody>
      <dsp:txXfrm>
        <a:off x="3048" y="0"/>
        <a:ext cx="2884062" cy="699852"/>
      </dsp:txXfrm>
    </dsp:sp>
    <dsp:sp modelId="{C4B82193-51DD-482F-AF4D-B8652702E237}">
      <dsp:nvSpPr>
        <dsp:cNvPr id="0" name=""/>
        <dsp:cNvSpPr/>
      </dsp:nvSpPr>
      <dsp:spPr>
        <a:xfrm>
          <a:off x="2450269" y="0"/>
          <a:ext cx="3059025" cy="699852"/>
        </a:xfrm>
        <a:prstGeom prst="chevron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sp:txBody>
      <dsp:txXfrm>
        <a:off x="2800195" y="0"/>
        <a:ext cx="2359173" cy="699852"/>
      </dsp:txXfrm>
    </dsp:sp>
    <dsp:sp modelId="{D4964679-80A2-4BB1-9882-E4CD7C8583C0}">
      <dsp:nvSpPr>
        <dsp:cNvPr id="0" name=""/>
        <dsp:cNvSpPr/>
      </dsp:nvSpPr>
      <dsp:spPr>
        <a:xfrm>
          <a:off x="4897490" y="0"/>
          <a:ext cx="3059025" cy="699852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kern="1200" dirty="0">
              <a:solidFill>
                <a:schemeClr val="bg1"/>
              </a:solidFill>
            </a:rPr>
            <a:t> </a:t>
          </a: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 Lógico</a:t>
          </a:r>
        </a:p>
      </dsp:txBody>
      <dsp:txXfrm>
        <a:off x="5247416" y="0"/>
        <a:ext cx="2359173" cy="699852"/>
      </dsp:txXfrm>
    </dsp:sp>
    <dsp:sp modelId="{4DDD84A0-72A5-4688-819D-B9BC648AD28A}">
      <dsp:nvSpPr>
        <dsp:cNvPr id="0" name=""/>
        <dsp:cNvSpPr/>
      </dsp:nvSpPr>
      <dsp:spPr>
        <a:xfrm>
          <a:off x="7344711" y="0"/>
          <a:ext cx="3059025" cy="699852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sp:txBody>
      <dsp:txXfrm>
        <a:off x="7694637" y="0"/>
        <a:ext cx="2359173" cy="6998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4829-D6C5-4E17-A7E0-1721C80983DF}">
      <dsp:nvSpPr>
        <dsp:cNvPr id="0" name=""/>
        <dsp:cNvSpPr/>
      </dsp:nvSpPr>
      <dsp:spPr>
        <a:xfrm>
          <a:off x="3048" y="0"/>
          <a:ext cx="3059025" cy="69985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sp:txBody>
      <dsp:txXfrm>
        <a:off x="3048" y="0"/>
        <a:ext cx="2884062" cy="699852"/>
      </dsp:txXfrm>
    </dsp:sp>
    <dsp:sp modelId="{C4B82193-51DD-482F-AF4D-B8652702E237}">
      <dsp:nvSpPr>
        <dsp:cNvPr id="0" name=""/>
        <dsp:cNvSpPr/>
      </dsp:nvSpPr>
      <dsp:spPr>
        <a:xfrm>
          <a:off x="2450269" y="0"/>
          <a:ext cx="3059025" cy="699852"/>
        </a:xfrm>
        <a:prstGeom prst="chevron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>
              <a:solidFill>
                <a:schemeClr val="bg1"/>
              </a:solidFill>
            </a:rPr>
            <a:t>2. Modelo Conceitual</a:t>
          </a:r>
        </a:p>
      </dsp:txBody>
      <dsp:txXfrm>
        <a:off x="2800195" y="0"/>
        <a:ext cx="2359173" cy="699852"/>
      </dsp:txXfrm>
    </dsp:sp>
    <dsp:sp modelId="{D4964679-80A2-4BB1-9882-E4CD7C8583C0}">
      <dsp:nvSpPr>
        <dsp:cNvPr id="0" name=""/>
        <dsp:cNvSpPr/>
      </dsp:nvSpPr>
      <dsp:spPr>
        <a:xfrm>
          <a:off x="4897490" y="0"/>
          <a:ext cx="3059025" cy="699852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kern="1200" dirty="0">
              <a:solidFill>
                <a:schemeClr val="bg1"/>
              </a:solidFill>
            </a:rPr>
            <a:t> </a:t>
          </a: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 Lógico</a:t>
          </a:r>
        </a:p>
      </dsp:txBody>
      <dsp:txXfrm>
        <a:off x="5247416" y="0"/>
        <a:ext cx="2359173" cy="699852"/>
      </dsp:txXfrm>
    </dsp:sp>
    <dsp:sp modelId="{4DDD84A0-72A5-4688-819D-B9BC648AD28A}">
      <dsp:nvSpPr>
        <dsp:cNvPr id="0" name=""/>
        <dsp:cNvSpPr/>
      </dsp:nvSpPr>
      <dsp:spPr>
        <a:xfrm>
          <a:off x="7344711" y="0"/>
          <a:ext cx="3059025" cy="699852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sp:txBody>
      <dsp:txXfrm>
        <a:off x="7694637" y="0"/>
        <a:ext cx="2359173" cy="6998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4829-D6C5-4E17-A7E0-1721C80983DF}">
      <dsp:nvSpPr>
        <dsp:cNvPr id="0" name=""/>
        <dsp:cNvSpPr/>
      </dsp:nvSpPr>
      <dsp:spPr>
        <a:xfrm>
          <a:off x="3048" y="0"/>
          <a:ext cx="3059025" cy="69985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sp:txBody>
      <dsp:txXfrm>
        <a:off x="3048" y="0"/>
        <a:ext cx="2884062" cy="699852"/>
      </dsp:txXfrm>
    </dsp:sp>
    <dsp:sp modelId="{C4B82193-51DD-482F-AF4D-B8652702E237}">
      <dsp:nvSpPr>
        <dsp:cNvPr id="0" name=""/>
        <dsp:cNvSpPr/>
      </dsp:nvSpPr>
      <dsp:spPr>
        <a:xfrm>
          <a:off x="2450269" y="0"/>
          <a:ext cx="3059025" cy="699852"/>
        </a:xfrm>
        <a:prstGeom prst="chevron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sp:txBody>
      <dsp:txXfrm>
        <a:off x="2800195" y="0"/>
        <a:ext cx="2359173" cy="699852"/>
      </dsp:txXfrm>
    </dsp:sp>
    <dsp:sp modelId="{D4964679-80A2-4BB1-9882-E4CD7C8583C0}">
      <dsp:nvSpPr>
        <dsp:cNvPr id="0" name=""/>
        <dsp:cNvSpPr/>
      </dsp:nvSpPr>
      <dsp:spPr>
        <a:xfrm>
          <a:off x="4897490" y="0"/>
          <a:ext cx="3059025" cy="699852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 dirty="0">
              <a:solidFill>
                <a:schemeClr val="bg1"/>
              </a:solidFill>
            </a:rPr>
            <a:t>3. Modelo  Lógico</a:t>
          </a:r>
        </a:p>
      </dsp:txBody>
      <dsp:txXfrm>
        <a:off x="5247416" y="0"/>
        <a:ext cx="2359173" cy="699852"/>
      </dsp:txXfrm>
    </dsp:sp>
    <dsp:sp modelId="{4DDD84A0-72A5-4688-819D-B9BC648AD28A}">
      <dsp:nvSpPr>
        <dsp:cNvPr id="0" name=""/>
        <dsp:cNvSpPr/>
      </dsp:nvSpPr>
      <dsp:spPr>
        <a:xfrm>
          <a:off x="7344711" y="0"/>
          <a:ext cx="3059025" cy="699852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4. Modelo Físico</a:t>
          </a:r>
        </a:p>
      </dsp:txBody>
      <dsp:txXfrm>
        <a:off x="7694637" y="0"/>
        <a:ext cx="2359173" cy="6998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44829-D6C5-4E17-A7E0-1721C80983DF}">
      <dsp:nvSpPr>
        <dsp:cNvPr id="0" name=""/>
        <dsp:cNvSpPr/>
      </dsp:nvSpPr>
      <dsp:spPr>
        <a:xfrm>
          <a:off x="3048" y="0"/>
          <a:ext cx="3059025" cy="699852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1. Mundo Observável</a:t>
          </a:r>
        </a:p>
      </dsp:txBody>
      <dsp:txXfrm>
        <a:off x="3048" y="0"/>
        <a:ext cx="2884062" cy="699852"/>
      </dsp:txXfrm>
    </dsp:sp>
    <dsp:sp modelId="{C4B82193-51DD-482F-AF4D-B8652702E237}">
      <dsp:nvSpPr>
        <dsp:cNvPr id="0" name=""/>
        <dsp:cNvSpPr/>
      </dsp:nvSpPr>
      <dsp:spPr>
        <a:xfrm>
          <a:off x="2450269" y="0"/>
          <a:ext cx="3059025" cy="699852"/>
        </a:xfrm>
        <a:prstGeom prst="chevron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2. Modelo Conceitual</a:t>
          </a:r>
        </a:p>
      </dsp:txBody>
      <dsp:txXfrm>
        <a:off x="2800195" y="0"/>
        <a:ext cx="2359173" cy="699852"/>
      </dsp:txXfrm>
    </dsp:sp>
    <dsp:sp modelId="{D4964679-80A2-4BB1-9882-E4CD7C8583C0}">
      <dsp:nvSpPr>
        <dsp:cNvPr id="0" name=""/>
        <dsp:cNvSpPr/>
      </dsp:nvSpPr>
      <dsp:spPr>
        <a:xfrm>
          <a:off x="4897490" y="0"/>
          <a:ext cx="3059025" cy="699852"/>
        </a:xfrm>
        <a:prstGeom prst="chevron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3. Modelo</a:t>
          </a:r>
          <a:r>
            <a:rPr lang="pt-BR" sz="1800" kern="1200" dirty="0">
              <a:solidFill>
                <a:schemeClr val="bg1"/>
              </a:solidFill>
            </a:rPr>
            <a:t> </a:t>
          </a:r>
          <a:r>
            <a:rPr lang="pt-BR" sz="1800" kern="1200" dirty="0">
              <a:solidFill>
                <a:schemeClr val="bg1">
                  <a:lumMod val="75000"/>
                </a:schemeClr>
              </a:solidFill>
            </a:rPr>
            <a:t> Lógico</a:t>
          </a:r>
        </a:p>
      </dsp:txBody>
      <dsp:txXfrm>
        <a:off x="5247416" y="0"/>
        <a:ext cx="2359173" cy="699852"/>
      </dsp:txXfrm>
    </dsp:sp>
    <dsp:sp modelId="{4DDD84A0-72A5-4688-819D-B9BC648AD28A}">
      <dsp:nvSpPr>
        <dsp:cNvPr id="0" name=""/>
        <dsp:cNvSpPr/>
      </dsp:nvSpPr>
      <dsp:spPr>
        <a:xfrm>
          <a:off x="7344711" y="0"/>
          <a:ext cx="3059025" cy="699852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>
              <a:solidFill>
                <a:schemeClr val="bg1"/>
              </a:solidFill>
            </a:rPr>
            <a:t>4. Modelo Físico</a:t>
          </a:r>
        </a:p>
      </dsp:txBody>
      <dsp:txXfrm>
        <a:off x="7694637" y="0"/>
        <a:ext cx="2359173" cy="6998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A1FC0-250D-4B4A-85D2-6E64385828D0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6519D-BEC0-405C-8F15-4027DD107A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3564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56519D-BEC0-405C-8F15-4027DD107A2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866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37852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50711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B1047-C2A6-4904-B9A4-1024A8AF1F87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448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33B32-ACFE-4120-8F59-39DD1B2AEE45}" type="datetime1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741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7B1C3-49C8-4595-9517-AE253D10D53F}" type="datetime1">
              <a:rPr lang="pt-BR" smtClean="0"/>
              <a:t>10/07/2026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4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22901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3396-B867-4B34-9310-94A75068F676}" type="datetime1">
              <a:rPr lang="pt-BR" smtClean="0"/>
              <a:t>10/07/2026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960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F9797-BF41-44D9-9D45-43618226489C}" type="datetime1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368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05A0C-8246-4B5F-A38D-EA02A43479DA}" type="datetime1">
              <a:rPr lang="pt-BR" smtClean="0"/>
              <a:t>10/07/2026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69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64414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10800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D64C9-6C69-4398-9F77-D88E9692069D}" type="datetime1">
              <a:rPr lang="pt-BR" smtClean="0"/>
              <a:t>10/07/2026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Roberto </a:t>
            </a:r>
            <a:r>
              <a:rPr lang="pt-BR" dirty="0" err="1"/>
              <a:t>Harkovsky</a:t>
            </a:r>
            <a:r>
              <a:rPr lang="pt-BR" dirty="0"/>
              <a:t>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0B5DD-9567-43DE-A578-1A8085956379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365125"/>
            <a:ext cx="1419225" cy="314325"/>
          </a:xfrm>
          <a:prstGeom prst="rect">
            <a:avLst/>
          </a:prstGeom>
        </p:spPr>
      </p:pic>
      <p:sp>
        <p:nvSpPr>
          <p:cNvPr id="7" name="MSIPCMContentMarking" descr="{&quot;HashCode&quot;:-321200650,&quot;Placement&quot;:&quot;Footer&quot;,&quot;Top&quot;:519.343,&quot;Left&quot;:454.655182,&quot;SlideWidth&quot;:960,&quot;SlideHeight&quot;:540}">
            <a:extLst>
              <a:ext uri="{FF2B5EF4-FFF2-40B4-BE49-F238E27FC236}">
                <a16:creationId xmlns:a16="http://schemas.microsoft.com/office/drawing/2014/main" id="{7EC8FF19-5E3E-4681-B290-C6F93F6ADE41}"/>
              </a:ext>
            </a:extLst>
          </p:cNvPr>
          <p:cNvSpPr txBox="1"/>
          <p:nvPr userDrawn="1"/>
        </p:nvSpPr>
        <p:spPr>
          <a:xfrm>
            <a:off x="5774121" y="6595656"/>
            <a:ext cx="64375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410335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brmodeloweb.com/lang/pt-br/index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Banco de Dados I</a:t>
            </a:r>
            <a:b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Modelagem de  Dados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Parte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1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05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pt-BR" dirty="0"/>
              <a:t>Referência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pt-BR" sz="2000"/>
              <a:t>Elmasri; Navathe, “Sistema de Banco de Dados”, ed. Pearson 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3268" r="1241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73AB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99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BCB481C4-EA9D-8667-5458-ABEE3B1C70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dirty="0"/>
              <a:t>Por Que Modelar Dados?</a:t>
            </a:r>
            <a:endParaRPr lang="pt-BR" dirty="0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C1BE4D1C-0798-B6D6-CFB9-7FFDD9006F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E32EB1-A887-720E-603D-2DF21B09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FBCD93-0B86-D9E5-A5DD-15FA9E1B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771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Suponha uma Demanda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914400" y="1506195"/>
            <a:ext cx="10363200" cy="4680520"/>
          </a:xfrm>
        </p:spPr>
        <p:txBody>
          <a:bodyPr>
            <a:noAutofit/>
          </a:bodyPr>
          <a:lstStyle/>
          <a:p>
            <a:r>
              <a:rPr lang="pt-BR" sz="2400" b="1" dirty="0">
                <a:solidFill>
                  <a:srgbClr val="C00000"/>
                </a:solidFill>
              </a:rPr>
              <a:t>Encomenda</a:t>
            </a:r>
            <a:r>
              <a:rPr lang="pt-BR" sz="2400" dirty="0"/>
              <a:t>: “</a:t>
            </a:r>
            <a:r>
              <a:rPr lang="pt-BR" sz="2400" i="1" dirty="0"/>
              <a:t>O SENAC RIO deseja controlar a matrícula de seus alunos nas diversas </a:t>
            </a:r>
            <a:r>
              <a:rPr lang="pt-BR" sz="2400" i="1" dirty="0" err="1"/>
              <a:t>UCs</a:t>
            </a:r>
            <a:r>
              <a:rPr lang="pt-BR" sz="2400" i="1" dirty="0"/>
              <a:t> disponíveis para os períodos. </a:t>
            </a:r>
          </a:p>
          <a:p>
            <a:r>
              <a:rPr lang="pt-BR" sz="2400" i="1" dirty="0"/>
              <a:t>O sistema será utilizado durante o semestre letivo ....</a:t>
            </a:r>
          </a:p>
          <a:p>
            <a:r>
              <a:rPr lang="pt-BR" sz="2400" i="1" dirty="0"/>
              <a:t>A secretaria deverá acessar....”</a:t>
            </a:r>
          </a:p>
          <a:p>
            <a:r>
              <a:rPr lang="pt-BR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Regras para os Dados: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i="1" dirty="0"/>
              <a:t>Um aluno pode se matricular em várias </a:t>
            </a:r>
            <a:r>
              <a:rPr lang="pt-BR" sz="2400" i="1" dirty="0" err="1"/>
              <a:t>UCs</a:t>
            </a:r>
            <a:r>
              <a:rPr lang="pt-BR" sz="2400" i="1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i="1" dirty="0"/>
              <a:t>Cada UC tem seu código, créditos e respectivo nome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i="1" dirty="0"/>
              <a:t>As informações de aluno incluem nome, matrícula, semestre matriculado e grau obtido em cada UC. </a:t>
            </a:r>
          </a:p>
          <a:p>
            <a:endParaRPr lang="pt-BR" sz="240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14" name="Espaço Reservado para Número de Slid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</a:t>
            </a:fld>
            <a:endParaRPr lang="pt-BR"/>
          </a:p>
        </p:txBody>
      </p:sp>
      <p:sp>
        <p:nvSpPr>
          <p:cNvPr id="2" name="Retângulo 1"/>
          <p:cNvSpPr/>
          <p:nvPr/>
        </p:nvSpPr>
        <p:spPr>
          <a:xfrm rot="20538013">
            <a:off x="7089929" y="1627917"/>
            <a:ext cx="4923056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Como isto vira uma Base </a:t>
            </a:r>
            <a:r>
              <a:rPr lang="pt-BR" sz="5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 Dados???</a:t>
            </a:r>
            <a:endParaRPr lang="pt-BR" sz="5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016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de Dados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o </a:t>
            </a:r>
            <a:r>
              <a:rPr lang="pt-BR" dirty="0">
                <a:solidFill>
                  <a:srgbClr val="C00000"/>
                </a:solidFill>
              </a:rPr>
              <a:t>processo de criação </a:t>
            </a:r>
            <a:r>
              <a:rPr lang="pt-BR" dirty="0"/>
              <a:t>de um </a:t>
            </a:r>
            <a:r>
              <a:rPr lang="pt-BR" dirty="0">
                <a:solidFill>
                  <a:srgbClr val="C00000"/>
                </a:solidFill>
              </a:rPr>
              <a:t>modelo de dados </a:t>
            </a:r>
            <a:r>
              <a:rPr lang="pt-BR" dirty="0"/>
              <a:t>para </a:t>
            </a:r>
            <a:r>
              <a:rPr lang="pt-BR" dirty="0">
                <a:solidFill>
                  <a:srgbClr val="C00000"/>
                </a:solidFill>
              </a:rPr>
              <a:t>armazenamento</a:t>
            </a:r>
            <a:r>
              <a:rPr lang="pt-BR" dirty="0"/>
              <a:t> em um banco de dados. </a:t>
            </a:r>
          </a:p>
          <a:p>
            <a:r>
              <a:rPr lang="pt-BR" dirty="0"/>
              <a:t>Esse modelo de dados é uma </a:t>
            </a:r>
            <a:r>
              <a:rPr lang="pt-BR" dirty="0">
                <a:solidFill>
                  <a:srgbClr val="C00000"/>
                </a:solidFill>
              </a:rPr>
              <a:t>representação conceitual </a:t>
            </a:r>
            <a:r>
              <a:rPr lang="pt-BR" dirty="0"/>
              <a:t>de objetos de dados, as associações entre diferentes objetos de dados e as regras.</a:t>
            </a:r>
          </a:p>
          <a:p>
            <a:r>
              <a:rPr lang="pt-BR" dirty="0"/>
              <a:t>A modelagem de dados ajuda na </a:t>
            </a:r>
            <a:r>
              <a:rPr lang="pt-BR" dirty="0">
                <a:solidFill>
                  <a:srgbClr val="C00000"/>
                </a:solidFill>
              </a:rPr>
              <a:t>representação visual </a:t>
            </a:r>
            <a:r>
              <a:rPr lang="pt-BR" dirty="0"/>
              <a:t>dos </a:t>
            </a:r>
            <a:r>
              <a:rPr lang="pt-BR" dirty="0">
                <a:solidFill>
                  <a:srgbClr val="C00000"/>
                </a:solidFill>
              </a:rPr>
              <a:t>dados</a:t>
            </a:r>
            <a:r>
              <a:rPr lang="pt-BR" dirty="0"/>
              <a:t> e impõe regras de negócios, conformidades regulatórias e políticas governamentais sobre os dados. </a:t>
            </a:r>
          </a:p>
          <a:p>
            <a:r>
              <a:rPr lang="pt-BR" dirty="0"/>
              <a:t>Os modelos de dados </a:t>
            </a:r>
            <a:r>
              <a:rPr lang="pt-BR" dirty="0">
                <a:solidFill>
                  <a:srgbClr val="C00000"/>
                </a:solidFill>
              </a:rPr>
              <a:t>garantem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consistência</a:t>
            </a:r>
            <a:r>
              <a:rPr lang="pt-BR" dirty="0"/>
              <a:t> nas convenções de nomenclatura, valores padrão, semântica, segurança, garantindo a qualidade dos dados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51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45CAA-5D70-3793-5BC5-B48F1029B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Por Que Modelar Dados?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34C4D7-D2A1-9952-0C9A-EEF654590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58400" cy="480218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pt-BR" sz="2400" dirty="0"/>
              <a:t>A modelagem de dados é um projeto que nos permite: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Compreender o Negócio</a:t>
            </a:r>
            <a:r>
              <a:rPr lang="pt-BR" sz="2400" b="1" dirty="0"/>
              <a:t>:</a:t>
            </a:r>
            <a:r>
              <a:rPr lang="pt-BR" sz="2400" dirty="0"/>
              <a:t> Descrever os requisitos do sistema de forma clara e estruturada.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Comunicar Ideias</a:t>
            </a:r>
            <a:r>
              <a:rPr lang="pt-BR" sz="2400" b="1" dirty="0"/>
              <a:t>:</a:t>
            </a:r>
            <a:r>
              <a:rPr lang="pt-BR" sz="2400" dirty="0"/>
              <a:t> Facilitar a comunicação entre desenvolvedores, analistas de negócio e usuários.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Projetar Bancos de Dados</a:t>
            </a:r>
            <a:r>
              <a:rPr lang="pt-BR" sz="2400" b="1" dirty="0"/>
              <a:t>:</a:t>
            </a:r>
            <a:r>
              <a:rPr lang="pt-BR" sz="2400" dirty="0"/>
              <a:t> Criar uma base sólida para a implementação de bancos de dados eficientes e consistentes.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rgbClr val="C00000"/>
                </a:solidFill>
              </a:rPr>
              <a:t>Garantir a Qualidade</a:t>
            </a:r>
            <a:r>
              <a:rPr lang="pt-BR" sz="2400" b="1" dirty="0"/>
              <a:t>:</a:t>
            </a:r>
            <a:r>
              <a:rPr lang="pt-BR" sz="2400" dirty="0"/>
              <a:t> Minimizar erros e redundâncias, garantindo a integridade dos dados.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2B98B9-FBDF-2EC1-4C0E-A55450D8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0D735C-9B3E-5B72-FA12-EA9818BE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885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Dados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1825625"/>
            <a:ext cx="10802416" cy="4351338"/>
          </a:xfrm>
        </p:spPr>
        <p:txBody>
          <a:bodyPr>
            <a:normAutofit/>
          </a:bodyPr>
          <a:lstStyle/>
          <a:p>
            <a:r>
              <a:rPr lang="pt-BR" dirty="0"/>
              <a:t>Definido como um </a:t>
            </a:r>
            <a:r>
              <a:rPr lang="pt-BR" dirty="0">
                <a:solidFill>
                  <a:srgbClr val="C00000"/>
                </a:solidFill>
              </a:rPr>
              <a:t>modelo abstrato </a:t>
            </a:r>
            <a:r>
              <a:rPr lang="pt-BR" dirty="0"/>
              <a:t>que organiza a </a:t>
            </a:r>
            <a:r>
              <a:rPr lang="pt-BR" dirty="0">
                <a:solidFill>
                  <a:srgbClr val="C00000"/>
                </a:solidFill>
              </a:rPr>
              <a:t>descrição</a:t>
            </a:r>
            <a:r>
              <a:rPr lang="pt-BR" dirty="0"/>
              <a:t>, a </a:t>
            </a:r>
            <a:r>
              <a:rPr lang="pt-BR" dirty="0">
                <a:solidFill>
                  <a:srgbClr val="C00000"/>
                </a:solidFill>
              </a:rPr>
              <a:t>semântica</a:t>
            </a:r>
            <a:r>
              <a:rPr lang="pt-BR" dirty="0"/>
              <a:t> e as </a:t>
            </a:r>
            <a:r>
              <a:rPr lang="pt-BR" dirty="0">
                <a:solidFill>
                  <a:srgbClr val="C00000"/>
                </a:solidFill>
              </a:rPr>
              <a:t>restrições</a:t>
            </a:r>
            <a:r>
              <a:rPr lang="pt-BR" dirty="0"/>
              <a:t> de consistência dos dados. </a:t>
            </a:r>
          </a:p>
          <a:p>
            <a:r>
              <a:rPr lang="pt-BR" dirty="0"/>
              <a:t>Enfatiza quais </a:t>
            </a:r>
            <a:r>
              <a:rPr lang="pt-BR" dirty="0">
                <a:solidFill>
                  <a:srgbClr val="C00000"/>
                </a:solidFill>
              </a:rPr>
              <a:t>dados</a:t>
            </a:r>
            <a:r>
              <a:rPr lang="pt-BR" dirty="0"/>
              <a:t> são </a:t>
            </a:r>
            <a:r>
              <a:rPr lang="pt-BR" dirty="0">
                <a:solidFill>
                  <a:srgbClr val="C00000"/>
                </a:solidFill>
              </a:rPr>
              <a:t>necessários</a:t>
            </a:r>
            <a:r>
              <a:rPr lang="pt-BR" dirty="0"/>
              <a:t> e como eles devem ser </a:t>
            </a:r>
            <a:r>
              <a:rPr lang="pt-BR" dirty="0">
                <a:solidFill>
                  <a:srgbClr val="C00000"/>
                </a:solidFill>
              </a:rPr>
              <a:t>organizados</a:t>
            </a:r>
            <a:r>
              <a:rPr lang="pt-BR" dirty="0"/>
              <a:t>, em vez de quais operações serão executadas nos dados.</a:t>
            </a:r>
          </a:p>
          <a:p>
            <a:r>
              <a:rPr lang="pt-BR" dirty="0"/>
              <a:t> O Modelo de Dados é como o </a:t>
            </a:r>
            <a:r>
              <a:rPr lang="pt-BR" dirty="0">
                <a:solidFill>
                  <a:srgbClr val="C00000"/>
                </a:solidFill>
              </a:rPr>
              <a:t>plano de construção </a:t>
            </a:r>
            <a:r>
              <a:rPr lang="pt-BR" dirty="0"/>
              <a:t>de um arquiteto, que ajuda a </a:t>
            </a:r>
            <a:r>
              <a:rPr lang="pt-BR" dirty="0">
                <a:solidFill>
                  <a:srgbClr val="C00000"/>
                </a:solidFill>
              </a:rPr>
              <a:t>construir</a:t>
            </a:r>
            <a:r>
              <a:rPr lang="pt-BR" dirty="0"/>
              <a:t> modelos </a:t>
            </a:r>
            <a:r>
              <a:rPr lang="pt-BR" dirty="0">
                <a:solidFill>
                  <a:srgbClr val="C00000"/>
                </a:solidFill>
              </a:rPr>
              <a:t>conceituais</a:t>
            </a:r>
            <a:r>
              <a:rPr lang="pt-BR" dirty="0"/>
              <a:t> e estabelecer uma </a:t>
            </a:r>
            <a:r>
              <a:rPr lang="pt-BR" dirty="0">
                <a:solidFill>
                  <a:srgbClr val="C00000"/>
                </a:solidFill>
              </a:rPr>
              <a:t>relação</a:t>
            </a:r>
            <a:r>
              <a:rPr lang="pt-BR" dirty="0"/>
              <a:t> entre os </a:t>
            </a:r>
            <a:r>
              <a:rPr lang="pt-BR" dirty="0">
                <a:solidFill>
                  <a:srgbClr val="C00000"/>
                </a:solidFill>
              </a:rPr>
              <a:t>itens de dados</a:t>
            </a:r>
            <a:r>
              <a:rPr lang="pt-BR" dirty="0"/>
              <a:t>.</a:t>
            </a:r>
          </a:p>
          <a:p>
            <a:r>
              <a:rPr lang="pt-BR" dirty="0"/>
              <a:t>2 tipos de Técnicas de Modelagem: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Modelo de Relacionamento de Entidade (E-R)</a:t>
            </a:r>
          </a:p>
          <a:p>
            <a:pPr lvl="1"/>
            <a:r>
              <a:rPr lang="pt-BR" dirty="0"/>
              <a:t>UML (linguagem de modelagem unificada)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7</a:t>
            </a:fld>
            <a:endParaRPr lang="pt-BR"/>
          </a:p>
        </p:txBody>
      </p:sp>
      <p:pic>
        <p:nvPicPr>
          <p:cNvPr id="2" name="Imagem 1" descr="&lt;strong&gt;Plano&lt;/strong&gt; &lt;strong&gt;de&lt;/strong&gt; Rega - Cobertura do Parque &lt;strong&gt;de&lt;/strong&gt; Estacionamento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615" y="4585795"/>
            <a:ext cx="4801009" cy="21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1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Globo Terra &lt;strong&gt;Mundo&lt;/strong&gt; · Imagens grátis no Pixaba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17" y="3203896"/>
            <a:ext cx="3393455" cy="3393455"/>
          </a:xfrm>
          <a:prstGeom prst="rect">
            <a:avLst/>
          </a:prstGeom>
          <a:noFill/>
        </p:spPr>
      </p:pic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Dados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838200" y="1559049"/>
            <a:ext cx="10515600" cy="150991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dirty="0"/>
              <a:t>Existem basicamente 3 tipos diferentes de modelos de dados: </a:t>
            </a:r>
            <a:r>
              <a:rPr lang="pt-BR" dirty="0">
                <a:solidFill>
                  <a:srgbClr val="C00000"/>
                </a:solidFill>
              </a:rPr>
              <a:t>modelos de dados conceituais, modelos de dados lógicos e modelos de dados físicos</a:t>
            </a:r>
            <a:r>
              <a:rPr lang="pt-BR" dirty="0"/>
              <a:t>, cada com uma finalidade específica. 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8</a:t>
            </a:fld>
            <a:endParaRPr lang="pt-BR"/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991742456"/>
              </p:ext>
            </p:extLst>
          </p:nvPr>
        </p:nvGraphicFramePr>
        <p:xfrm>
          <a:off x="5393384" y="2923835"/>
          <a:ext cx="5400600" cy="38487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aixaDeTexto 9"/>
          <p:cNvSpPr txBox="1"/>
          <p:nvPr/>
        </p:nvSpPr>
        <p:spPr>
          <a:xfrm>
            <a:off x="757377" y="4051565"/>
            <a:ext cx="2813704" cy="1446550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Mundo</a:t>
            </a:r>
            <a:r>
              <a:rPr lang="pt-BR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pt-BR" sz="4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Observável</a:t>
            </a:r>
          </a:p>
        </p:txBody>
      </p:sp>
      <p:sp>
        <p:nvSpPr>
          <p:cNvPr id="3" name="Seta para a Direita 2"/>
          <p:cNvSpPr/>
          <p:nvPr/>
        </p:nvSpPr>
        <p:spPr>
          <a:xfrm>
            <a:off x="3856843" y="4397424"/>
            <a:ext cx="1710881" cy="9015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Modelagem</a:t>
            </a:r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46EA07BC-E8C9-4DAF-A2E2-9018686BDCDF}"/>
              </a:ext>
            </a:extLst>
          </p:cNvPr>
          <p:cNvSpPr/>
          <p:nvPr/>
        </p:nvSpPr>
        <p:spPr>
          <a:xfrm>
            <a:off x="10906903" y="3151788"/>
            <a:ext cx="1055440" cy="3645024"/>
          </a:xfrm>
          <a:prstGeom prst="downArrow">
            <a:avLst>
              <a:gd name="adj1" fmla="val 68565"/>
              <a:gd name="adj2" fmla="val 50000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pt-BR" sz="2800" dirty="0"/>
              <a:t>Nível de Detalhe</a:t>
            </a:r>
          </a:p>
        </p:txBody>
      </p:sp>
    </p:spTree>
    <p:extLst>
      <p:ext uri="{BB962C8B-B14F-4D97-AF65-F5344CB8AC3E}">
        <p14:creationId xmlns:p14="http://schemas.microsoft.com/office/powerpoint/2010/main" val="110023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Desenho Do BD</a:t>
            </a:r>
            <a:br>
              <a:rPr lang="pt-BR" dirty="0"/>
            </a:br>
            <a:r>
              <a:rPr lang="pt-BR" dirty="0"/>
              <a:t>Análise de Requisitos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014" y="2466265"/>
            <a:ext cx="7772400" cy="3086100"/>
          </a:xfrm>
        </p:spPr>
        <p:txBody>
          <a:bodyPr>
            <a:normAutofit fontScale="92500" lnSpcReduction="20000"/>
          </a:bodyPr>
          <a:lstStyle/>
          <a:p>
            <a:pPr marL="385763" indent="-385763">
              <a:buAutoNum type="arabicPeriod"/>
            </a:pPr>
            <a:r>
              <a:rPr lang="pt-BR" sz="2400" b="1" dirty="0"/>
              <a:t>Mundo observável: Análise de Requisitos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endParaRPr lang="pt-BR" sz="1500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pt-BR" dirty="0"/>
              <a:t>O que vai ser armazenado?</a:t>
            </a:r>
          </a:p>
          <a:p>
            <a:pPr>
              <a:lnSpc>
                <a:spcPct val="150000"/>
              </a:lnSpc>
            </a:pPr>
            <a:r>
              <a:rPr lang="pt-BR" dirty="0"/>
              <a:t>Como é que vai ser utilizado?</a:t>
            </a:r>
          </a:p>
          <a:p>
            <a:pPr>
              <a:lnSpc>
                <a:spcPct val="150000"/>
              </a:lnSpc>
            </a:pPr>
            <a:r>
              <a:rPr lang="pt-BR" dirty="0"/>
              <a:t>O que vamos fazer com os dados?</a:t>
            </a:r>
          </a:p>
          <a:p>
            <a:pPr>
              <a:lnSpc>
                <a:spcPct val="150000"/>
              </a:lnSpc>
            </a:pPr>
            <a:r>
              <a:rPr lang="pt-BR" dirty="0"/>
              <a:t>Quem deve acessar os dados?</a:t>
            </a:r>
          </a:p>
          <a:p>
            <a:pPr marL="728663" lvl="1" indent="-385763">
              <a:buAutoNum type="arabicPeriod"/>
            </a:pPr>
            <a:endParaRPr lang="pt-BR" dirty="0"/>
          </a:p>
          <a:p>
            <a:pPr marL="685800" lvl="1" indent="-385763">
              <a:buAutoNum type="arabicPeriod"/>
            </a:pPr>
            <a:endParaRPr lang="pt-BR" dirty="0"/>
          </a:p>
          <a:p>
            <a:pPr marL="385763" indent="-385763">
              <a:buAutoNum type="arabicPeriod"/>
            </a:pPr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9</a:t>
            </a:fld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6816080" y="5229200"/>
            <a:ext cx="2571750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PT" dirty="0">
                <a:solidFill>
                  <a:srgbClr val="000000"/>
                </a:solidFill>
                <a:latin typeface="+mj-lt"/>
              </a:rPr>
              <a:t>Pessoas técnicas e não técnicas estão envolvidas</a:t>
            </a:r>
          </a:p>
        </p:txBody>
      </p:sp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1859312637"/>
              </p:ext>
            </p:extLst>
          </p:nvPr>
        </p:nvGraphicFramePr>
        <p:xfrm>
          <a:off x="947014" y="1636618"/>
          <a:ext cx="10406786" cy="69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6240016" y="2860748"/>
            <a:ext cx="5184576" cy="2031325"/>
          </a:xfrm>
          <a:prstGeom prst="rect">
            <a:avLst/>
          </a:prstGeo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Encomenda</a:t>
            </a:r>
            <a:r>
              <a:rPr lang="pt-BR" dirty="0"/>
              <a:t>: O SENAC RIO deseja controlar a matrícula de seus alunos nas diversas </a:t>
            </a:r>
            <a:r>
              <a:rPr lang="pt-BR" dirty="0" err="1"/>
              <a:t>UCs</a:t>
            </a:r>
            <a:r>
              <a:rPr lang="pt-BR" dirty="0"/>
              <a:t> disponíveis para os períodos. </a:t>
            </a:r>
          </a:p>
          <a:p>
            <a:endParaRPr lang="pt-BR" dirty="0"/>
          </a:p>
          <a:p>
            <a:r>
              <a:rPr lang="pt-BR" dirty="0"/>
              <a:t>O sistema será utilizado durante o semestre letivo ....</a:t>
            </a:r>
          </a:p>
          <a:p>
            <a:endParaRPr lang="pt-BR" dirty="0"/>
          </a:p>
          <a:p>
            <a:r>
              <a:rPr lang="pt-BR" dirty="0"/>
              <a:t>A secretaria deverá acessar....</a:t>
            </a:r>
          </a:p>
        </p:txBody>
      </p:sp>
    </p:spTree>
    <p:extLst>
      <p:ext uri="{BB962C8B-B14F-4D97-AF65-F5344CB8AC3E}">
        <p14:creationId xmlns:p14="http://schemas.microsoft.com/office/powerpoint/2010/main" val="27275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Desenho do BD </a:t>
            </a:r>
            <a:br>
              <a:rPr lang="pt-BR" dirty="0"/>
            </a:br>
            <a:r>
              <a:rPr lang="pt-BR" dirty="0"/>
              <a:t>Modelo Conceitual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014" y="2348880"/>
            <a:ext cx="10621594" cy="1872208"/>
          </a:xfrm>
        </p:spPr>
        <p:txBody>
          <a:bodyPr>
            <a:noAutofit/>
          </a:bodyPr>
          <a:lstStyle/>
          <a:p>
            <a:r>
              <a:rPr lang="pt-BR" sz="2400" dirty="0"/>
              <a:t>Este Modelo de Dados define </a:t>
            </a:r>
            <a:r>
              <a:rPr lang="pt-BR" sz="2400" dirty="0">
                <a:solidFill>
                  <a:srgbClr val="C00000"/>
                </a:solidFill>
              </a:rPr>
              <a:t>O QUE </a:t>
            </a:r>
            <a:r>
              <a:rPr lang="pt-BR" sz="2400" dirty="0"/>
              <a:t>o sistema contém. </a:t>
            </a:r>
          </a:p>
          <a:p>
            <a:r>
              <a:rPr lang="pt-BR" sz="2400" dirty="0"/>
              <a:t>Esse modelo geralmente é </a:t>
            </a:r>
            <a:r>
              <a:rPr lang="pt-BR" sz="2400" dirty="0">
                <a:solidFill>
                  <a:srgbClr val="C00000"/>
                </a:solidFill>
              </a:rPr>
              <a:t>criado</a:t>
            </a:r>
            <a:r>
              <a:rPr lang="pt-BR" sz="2400" dirty="0"/>
              <a:t> por </a:t>
            </a:r>
            <a:r>
              <a:rPr lang="pt-BR" sz="2400" dirty="0">
                <a:solidFill>
                  <a:srgbClr val="C00000"/>
                </a:solidFill>
              </a:rPr>
              <a:t>partes interessadas </a:t>
            </a:r>
            <a:r>
              <a:rPr lang="pt-BR" sz="2400" dirty="0"/>
              <a:t>de negócios e </a:t>
            </a:r>
            <a:r>
              <a:rPr lang="pt-BR" sz="2400" dirty="0">
                <a:solidFill>
                  <a:srgbClr val="C00000"/>
                </a:solidFill>
              </a:rPr>
              <a:t>arquitetos de dados. </a:t>
            </a:r>
          </a:p>
          <a:p>
            <a:r>
              <a:rPr lang="pt-BR" sz="2400" dirty="0"/>
              <a:t>O objetivo é organizar, delimitar e definir </a:t>
            </a:r>
            <a:r>
              <a:rPr lang="pt-BR" sz="2400" dirty="0">
                <a:solidFill>
                  <a:srgbClr val="C00000"/>
                </a:solidFill>
              </a:rPr>
              <a:t>conceitos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C00000"/>
                </a:solidFill>
              </a:rPr>
              <a:t>regras de negócios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pPr lvl="1"/>
            <a:endParaRPr lang="pt-BR" sz="2000" dirty="0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10</a:t>
            </a:fld>
            <a:endParaRPr lang="pt-BR"/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694616121"/>
              </p:ext>
            </p:extLst>
          </p:nvPr>
        </p:nvGraphicFramePr>
        <p:xfrm>
          <a:off x="947014" y="1636618"/>
          <a:ext cx="10406786" cy="69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9FFA7FC5-2910-43D7-BFC6-73DC61D21DF7}"/>
              </a:ext>
            </a:extLst>
          </p:cNvPr>
          <p:cNvSpPr txBox="1"/>
          <p:nvPr/>
        </p:nvSpPr>
        <p:spPr>
          <a:xfrm>
            <a:off x="361381" y="4172719"/>
            <a:ext cx="4485331" cy="923330"/>
          </a:xfrm>
          <a:prstGeom prst="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 marL="285750" indent="-285750">
              <a:buFont typeface="Arial" panose="020B0604020202020204" pitchFamily="34" charset="0"/>
              <a:buChar char="•"/>
            </a:lvl1pPr>
          </a:lstStyle>
          <a:p>
            <a:r>
              <a:rPr lang="pt-BR" dirty="0"/>
              <a:t>“Um aluno assiste aulas em uma UC</a:t>
            </a:r>
          </a:p>
          <a:p>
            <a:r>
              <a:rPr lang="pt-BR" dirty="0"/>
              <a:t>Um aluno pode estar matriculado em varias </a:t>
            </a:r>
            <a:r>
              <a:rPr lang="pt-BR" dirty="0" err="1"/>
              <a:t>Ucs</a:t>
            </a:r>
            <a:r>
              <a:rPr lang="pt-BR" dirty="0"/>
              <a:t> e uma UC pode ter vários alunos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9508CC-05F1-4C9F-AEFE-35F99CEDABC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015880" y="4497427"/>
            <a:ext cx="6653049" cy="170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75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 txBox="1">
            <a:spLocks/>
          </p:cNvSpPr>
          <p:nvPr/>
        </p:nvSpPr>
        <p:spPr>
          <a:xfrm>
            <a:off x="947714" y="2455974"/>
            <a:ext cx="10406086" cy="270121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Define </a:t>
            </a:r>
            <a:r>
              <a:rPr lang="pt-BR" sz="2400" dirty="0">
                <a:solidFill>
                  <a:srgbClr val="C00000"/>
                </a:solidFill>
              </a:rPr>
              <a:t>COMO</a:t>
            </a:r>
            <a:r>
              <a:rPr lang="pt-BR" sz="2400" dirty="0"/>
              <a:t> o sistema deve ser implementado </a:t>
            </a:r>
            <a:r>
              <a:rPr lang="pt-BR" sz="2400" dirty="0">
                <a:solidFill>
                  <a:srgbClr val="C00000"/>
                </a:solidFill>
              </a:rPr>
              <a:t>independente do SGBD</a:t>
            </a:r>
            <a:r>
              <a:rPr lang="pt-BR" sz="2400" dirty="0"/>
              <a:t>. </a:t>
            </a:r>
          </a:p>
          <a:p>
            <a:r>
              <a:rPr lang="pt-BR" sz="2400" dirty="0"/>
              <a:t>Esse modelo é normalmente </a:t>
            </a:r>
            <a:r>
              <a:rPr lang="pt-BR" sz="2400" dirty="0">
                <a:solidFill>
                  <a:srgbClr val="C00000"/>
                </a:solidFill>
              </a:rPr>
              <a:t>criado</a:t>
            </a:r>
            <a:r>
              <a:rPr lang="pt-BR" sz="2400" dirty="0"/>
              <a:t> por </a:t>
            </a:r>
            <a:r>
              <a:rPr lang="pt-BR" sz="2400" dirty="0">
                <a:solidFill>
                  <a:srgbClr val="C00000"/>
                </a:solidFill>
              </a:rPr>
              <a:t>Arquitetos de Dados e Analistas de Negócios. </a:t>
            </a:r>
          </a:p>
          <a:p>
            <a:r>
              <a:rPr lang="pt-BR" sz="2400" dirty="0"/>
              <a:t>O objetivo é desenvolver mapa técnico de regras e estruturas de dados.</a:t>
            </a:r>
          </a:p>
          <a:p>
            <a:pPr lvl="1"/>
            <a:endParaRPr lang="pt-BR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Desenho do BD</a:t>
            </a:r>
            <a:br>
              <a:rPr lang="pt-BR" dirty="0"/>
            </a:br>
            <a:r>
              <a:rPr lang="pt-BR" dirty="0"/>
              <a:t>Modelo Lógico</a:t>
            </a:r>
            <a:endParaRPr lang="en-US" dirty="0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2123518" cy="365125"/>
          </a:xfrm>
        </p:spPr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10992544" y="6356350"/>
            <a:ext cx="361256" cy="365125"/>
          </a:xfrm>
        </p:spPr>
        <p:txBody>
          <a:bodyPr/>
          <a:lstStyle/>
          <a:p>
            <a:fld id="{DB30B5DD-9567-43DE-A578-1A8085956379}" type="slidenum">
              <a:rPr lang="pt-BR" smtClean="0"/>
              <a:t>11</a:t>
            </a:fld>
            <a:endParaRPr lang="pt-BR" dirty="0"/>
          </a:p>
        </p:txBody>
      </p:sp>
      <p:graphicFrame>
        <p:nvGraphicFramePr>
          <p:cNvPr id="10" name="Diagrama 9"/>
          <p:cNvGraphicFramePr/>
          <p:nvPr>
            <p:extLst>
              <p:ext uri="{D42A27DB-BD31-4B8C-83A1-F6EECF244321}">
                <p14:modId xmlns:p14="http://schemas.microsoft.com/office/powerpoint/2010/main" val="3487777145"/>
              </p:ext>
            </p:extLst>
          </p:nvPr>
        </p:nvGraphicFramePr>
        <p:xfrm>
          <a:off x="947014" y="1636618"/>
          <a:ext cx="10406786" cy="69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CaixaDeTexto 10"/>
          <p:cNvSpPr txBox="1"/>
          <p:nvPr/>
        </p:nvSpPr>
        <p:spPr>
          <a:xfrm>
            <a:off x="152507" y="4194075"/>
            <a:ext cx="4485331" cy="1477328"/>
          </a:xfrm>
          <a:prstGeom prst="rect">
            <a:avLst/>
          </a:prstGeom>
          <a:solidFill>
            <a:srgbClr val="2ED7A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“Um aluno assiste aulas em uma 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aluno tem matricula e nome, assim como a UC tem um código e um 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Um aluno pode estar matriculado em varias </a:t>
            </a:r>
            <a:r>
              <a:rPr lang="pt-BR" dirty="0" err="1"/>
              <a:t>Ucs</a:t>
            </a:r>
            <a:r>
              <a:rPr lang="pt-BR" dirty="0"/>
              <a:t> e uma UC pode ter vários alunos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783C15E-04B9-4E29-9011-EDF8AF80E21C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24035" y="4297409"/>
            <a:ext cx="6736485" cy="195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2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Desenho do BD</a:t>
            </a:r>
            <a:br>
              <a:rPr lang="pt-BR" dirty="0"/>
            </a:br>
            <a:r>
              <a:rPr lang="pt-BR" dirty="0"/>
              <a:t>Modelo Físico</a:t>
            </a:r>
            <a:endParaRPr lang="en-US" dirty="0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5361782" y="6479956"/>
            <a:ext cx="1841376" cy="365125"/>
          </a:xfrm>
        </p:spPr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>
          <a:xfrm>
            <a:off x="10992544" y="6356350"/>
            <a:ext cx="361256" cy="365125"/>
          </a:xfrm>
        </p:spPr>
        <p:txBody>
          <a:bodyPr/>
          <a:lstStyle/>
          <a:p>
            <a:fld id="{DB30B5DD-9567-43DE-A578-1A8085956379}" type="slidenum">
              <a:rPr lang="pt-BR" smtClean="0"/>
              <a:t>12</a:t>
            </a:fld>
            <a:endParaRPr lang="pt-BR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947014" y="2336471"/>
            <a:ext cx="10406786" cy="178599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400" dirty="0"/>
              <a:t>Este Modelo de Dados descreve </a:t>
            </a:r>
            <a:r>
              <a:rPr lang="pt-BR" sz="2400" dirty="0">
                <a:solidFill>
                  <a:srgbClr val="C00000"/>
                </a:solidFill>
              </a:rPr>
              <a:t>COMO</a:t>
            </a:r>
            <a:r>
              <a:rPr lang="pt-BR" sz="2400" dirty="0"/>
              <a:t> o </a:t>
            </a:r>
            <a:r>
              <a:rPr lang="pt-BR" sz="2400" dirty="0">
                <a:solidFill>
                  <a:srgbClr val="C00000"/>
                </a:solidFill>
              </a:rPr>
              <a:t>sistema</a:t>
            </a:r>
            <a:r>
              <a:rPr lang="pt-BR" sz="2400" dirty="0"/>
              <a:t> será </a:t>
            </a:r>
            <a:r>
              <a:rPr lang="pt-BR" sz="2400" dirty="0">
                <a:solidFill>
                  <a:srgbClr val="C00000"/>
                </a:solidFill>
              </a:rPr>
              <a:t>implementado</a:t>
            </a:r>
            <a:r>
              <a:rPr lang="pt-BR" sz="2400" dirty="0"/>
              <a:t> usando um </a:t>
            </a:r>
            <a:r>
              <a:rPr lang="pt-BR" sz="2400" dirty="0">
                <a:solidFill>
                  <a:srgbClr val="C00000"/>
                </a:solidFill>
              </a:rPr>
              <a:t>SGBD específico</a:t>
            </a:r>
            <a:r>
              <a:rPr lang="pt-BR" sz="2400" dirty="0"/>
              <a:t>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400" dirty="0"/>
              <a:t>Esse modelo normalmente é criado por </a:t>
            </a:r>
            <a:r>
              <a:rPr lang="pt-BR" sz="2400" dirty="0">
                <a:solidFill>
                  <a:srgbClr val="C00000"/>
                </a:solidFill>
              </a:rPr>
              <a:t>DBA</a:t>
            </a:r>
            <a:r>
              <a:rPr lang="pt-BR" sz="2400" dirty="0"/>
              <a:t> e </a:t>
            </a:r>
            <a:r>
              <a:rPr lang="pt-BR" sz="2400" dirty="0">
                <a:solidFill>
                  <a:srgbClr val="C00000"/>
                </a:solidFill>
              </a:rPr>
              <a:t>desenvolvedores</a:t>
            </a:r>
            <a:r>
              <a:rPr lang="pt-BR" sz="2400" dirty="0"/>
              <a:t>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400" dirty="0"/>
              <a:t>O objetivo é a implementação real do banco de dados</a:t>
            </a:r>
          </a:p>
        </p:txBody>
      </p:sp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4049713838"/>
              </p:ext>
            </p:extLst>
          </p:nvPr>
        </p:nvGraphicFramePr>
        <p:xfrm>
          <a:off x="947014" y="1636618"/>
          <a:ext cx="10406786" cy="6998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989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D54DC3-1D2F-40DC-9CAB-5AB9C7EA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pt-BR" sz="4000" dirty="0"/>
              <a:t>Visão geral das Caraterísticas dos Modelos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015A49A-3D81-4EDD-9AD9-111D8F01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>
                <a:solidFill>
                  <a:schemeClr val="tx1">
                    <a:lumMod val="50000"/>
                    <a:lumOff val="50000"/>
                  </a:schemeClr>
                </a:solidFill>
              </a:rPr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F136E1-3321-46C7-829F-F4974D31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7280" y="6356350"/>
            <a:ext cx="2633472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pt-BR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041924C5-5D2C-4E31-BBC0-885617DD7F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185328"/>
              </p:ext>
            </p:extLst>
          </p:nvPr>
        </p:nvGraphicFramePr>
        <p:xfrm>
          <a:off x="1593082" y="1737360"/>
          <a:ext cx="8996693" cy="45354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62695">
                  <a:extLst>
                    <a:ext uri="{9D8B030D-6E8A-4147-A177-3AD203B41FA5}">
                      <a16:colId xmlns:a16="http://schemas.microsoft.com/office/drawing/2014/main" val="337839638"/>
                    </a:ext>
                  </a:extLst>
                </a:gridCol>
                <a:gridCol w="1969132">
                  <a:extLst>
                    <a:ext uri="{9D8B030D-6E8A-4147-A177-3AD203B41FA5}">
                      <a16:colId xmlns:a16="http://schemas.microsoft.com/office/drawing/2014/main" val="3700466063"/>
                    </a:ext>
                  </a:extLst>
                </a:gridCol>
                <a:gridCol w="1708729">
                  <a:extLst>
                    <a:ext uri="{9D8B030D-6E8A-4147-A177-3AD203B41FA5}">
                      <a16:colId xmlns:a16="http://schemas.microsoft.com/office/drawing/2014/main" val="1824929220"/>
                    </a:ext>
                  </a:extLst>
                </a:gridCol>
                <a:gridCol w="1556137">
                  <a:extLst>
                    <a:ext uri="{9D8B030D-6E8A-4147-A177-3AD203B41FA5}">
                      <a16:colId xmlns:a16="http://schemas.microsoft.com/office/drawing/2014/main" val="2988983384"/>
                    </a:ext>
                  </a:extLst>
                </a:gridCol>
              </a:tblGrid>
              <a:tr h="465614">
                <a:tc>
                  <a:txBody>
                    <a:bodyPr/>
                    <a:lstStyle/>
                    <a:p>
                      <a:r>
                        <a:rPr lang="pt-BR" sz="2300" b="1" dirty="0">
                          <a:effectLst/>
                        </a:rPr>
                        <a:t>Característica</a:t>
                      </a:r>
                      <a:endParaRPr lang="pt-BR" sz="2300" dirty="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 b="1">
                          <a:effectLst/>
                        </a:rPr>
                        <a:t>Conceitual</a:t>
                      </a:r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 b="1">
                          <a:effectLst/>
                        </a:rPr>
                        <a:t>Lógico</a:t>
                      </a:r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 b="1">
                          <a:effectLst/>
                        </a:rPr>
                        <a:t>Físico</a:t>
                      </a:r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4284162575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Nomes de entidade</a:t>
                      </a:r>
                      <a:endParaRPr lang="pt-BR" sz="2300" b="0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2025346494"/>
                  </a:ext>
                </a:extLst>
              </a:tr>
              <a:tr h="810514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2300" b="0" u="none" strike="noStrike" kern="1200">
                          <a:solidFill>
                            <a:srgbClr val="000000"/>
                          </a:solidFill>
                          <a:effectLst/>
                        </a:rPr>
                        <a:t>Relacionamentos de Entidade</a:t>
                      </a:r>
                      <a:endParaRPr lang="pt-BR" sz="2300" b="0" i="0" u="none" strike="noStrike" kern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686976483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Atributos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3829444189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Primary Keys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3365667439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 dirty="0" err="1">
                          <a:effectLst/>
                        </a:rPr>
                        <a:t>Foreign</a:t>
                      </a:r>
                      <a:r>
                        <a:rPr lang="pt-BR" sz="2300" dirty="0">
                          <a:effectLst/>
                        </a:rPr>
                        <a:t> Keys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2985353107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Tabelas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590870309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Colunas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394791274"/>
                  </a:ext>
                </a:extLst>
              </a:tr>
              <a:tr h="465614">
                <a:tc>
                  <a:txBody>
                    <a:bodyPr/>
                    <a:lstStyle/>
                    <a:p>
                      <a:r>
                        <a:rPr lang="pt-BR" sz="2300">
                          <a:effectLst/>
                        </a:rPr>
                        <a:t>Tipos de Colunas</a:t>
                      </a: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endParaRPr lang="pt-BR" sz="2300">
                        <a:effectLst/>
                      </a:endParaRPr>
                    </a:p>
                  </a:txBody>
                  <a:tcPr marL="86225" marR="86225" marT="43112" marB="43112" anchor="ctr"/>
                </a:tc>
                <a:tc>
                  <a:txBody>
                    <a:bodyPr/>
                    <a:lstStyle/>
                    <a:p>
                      <a:r>
                        <a:rPr lang="pt-BR" sz="2300" dirty="0">
                          <a:effectLst/>
                        </a:rPr>
                        <a:t>✓</a:t>
                      </a:r>
                    </a:p>
                  </a:txBody>
                  <a:tcPr marL="86225" marR="86225" marT="43112" marB="43112" anchor="ctr"/>
                </a:tc>
                <a:extLst>
                  <a:ext uri="{0D108BD9-81ED-4DB2-BD59-A6C34878D82A}">
                    <a16:rowId xmlns:a16="http://schemas.microsoft.com/office/drawing/2014/main" val="2595380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327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Conceitual</a:t>
            </a:r>
            <a:br>
              <a:rPr lang="pt-BR" dirty="0"/>
            </a:br>
            <a:r>
              <a:rPr lang="pt-BR" dirty="0"/>
              <a:t>Modelo ER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rgbClr val="0070C0"/>
                </a:solidFill>
              </a:rPr>
              <a:t>Os Blocos de Construção </a:t>
            </a:r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3668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F1B00EA-A392-63CE-2A1C-87014F95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52B25735-E3D9-DB03-2610-1BE3E3728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>
                <a:solidFill>
                  <a:srgbClr val="C00000"/>
                </a:solidFill>
              </a:rPr>
              <a:t>O Senac deseja criar um sistema para controlar alunos, professores, UCs e notas.</a:t>
            </a:r>
          </a:p>
          <a:p>
            <a:endParaRPr lang="pt-BR" dirty="0"/>
          </a:p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Questões:</a:t>
            </a:r>
          </a:p>
          <a:p>
            <a:pPr lvl="1"/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Que informações precisamos guardar?</a:t>
            </a:r>
          </a:p>
          <a:p>
            <a:pPr lvl="1"/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O que é um aluno?</a:t>
            </a:r>
          </a:p>
          <a:p>
            <a:pPr lvl="1"/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O que distingue um aluno de outro?</a:t>
            </a:r>
          </a:p>
          <a:p>
            <a:pPr lvl="1"/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Como representar matrícula?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CDF44E-ECEA-B924-E249-439809DE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C49F56-E23A-E14E-ADAA-7C97FE6A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094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modelo Entidade Relacionamento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>
                <a:solidFill>
                  <a:srgbClr val="C00000"/>
                </a:solidFill>
              </a:rPr>
              <a:t>modelo Entidade Relacionamento (Modelagem ER) </a:t>
            </a:r>
            <a:r>
              <a:rPr lang="pt-BR" dirty="0"/>
              <a:t>é um modelo de dados conceitual para desenho de banco de dados. </a:t>
            </a:r>
          </a:p>
          <a:p>
            <a:r>
              <a:rPr lang="pt-BR" dirty="0"/>
              <a:t>É um </a:t>
            </a:r>
            <a:r>
              <a:rPr lang="pt-BR" dirty="0">
                <a:solidFill>
                  <a:srgbClr val="C00000"/>
                </a:solidFill>
              </a:rPr>
              <a:t>modelo de dados </a:t>
            </a:r>
            <a:r>
              <a:rPr lang="pt-BR" dirty="0"/>
              <a:t>de alto nível que define </a:t>
            </a:r>
            <a:r>
              <a:rPr lang="pt-BR" dirty="0">
                <a:solidFill>
                  <a:srgbClr val="C00000"/>
                </a:solidFill>
              </a:rPr>
              <a:t>elementos de dados </a:t>
            </a:r>
            <a:r>
              <a:rPr lang="pt-BR" dirty="0"/>
              <a:t>e seu </a:t>
            </a:r>
            <a:r>
              <a:rPr lang="pt-BR" dirty="0">
                <a:solidFill>
                  <a:srgbClr val="C00000"/>
                </a:solidFill>
              </a:rPr>
              <a:t>relacionamento</a:t>
            </a:r>
            <a:r>
              <a:rPr lang="pt-BR" dirty="0"/>
              <a:t> para um sistema de software específico. </a:t>
            </a:r>
          </a:p>
          <a:p>
            <a:r>
              <a:rPr lang="pt-BR" dirty="0"/>
              <a:t>O modelo ER é usado para </a:t>
            </a:r>
            <a:r>
              <a:rPr lang="pt-BR" dirty="0">
                <a:solidFill>
                  <a:srgbClr val="C00000"/>
                </a:solidFill>
              </a:rPr>
              <a:t>representar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objetos</a:t>
            </a:r>
            <a:r>
              <a:rPr lang="pt-BR" dirty="0"/>
              <a:t> do </a:t>
            </a:r>
            <a:r>
              <a:rPr lang="pt-BR" dirty="0">
                <a:solidFill>
                  <a:srgbClr val="C00000"/>
                </a:solidFill>
              </a:rPr>
              <a:t>mundo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real</a:t>
            </a:r>
            <a:r>
              <a:rPr lang="pt-BR" dirty="0"/>
              <a:t>.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16</a:t>
            </a:fld>
            <a:endParaRPr lang="pt-BR"/>
          </a:p>
        </p:txBody>
      </p:sp>
      <p:sp>
        <p:nvSpPr>
          <p:cNvPr id="8" name="TextBox 7"/>
          <p:cNvSpPr txBox="1"/>
          <p:nvPr/>
        </p:nvSpPr>
        <p:spPr>
          <a:xfrm>
            <a:off x="1055439" y="5469421"/>
            <a:ext cx="9681235" cy="738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100" dirty="0">
                <a:solidFill>
                  <a:srgbClr val="000000"/>
                </a:solidFill>
                <a:latin typeface="+mj-lt"/>
              </a:rPr>
              <a:t>O </a:t>
            </a:r>
            <a:r>
              <a:rPr lang="pt-BR" sz="2100" b="1" dirty="0">
                <a:solidFill>
                  <a:srgbClr val="000000"/>
                </a:solidFill>
                <a:latin typeface="+mj-lt"/>
              </a:rPr>
              <a:t>MER</a:t>
            </a:r>
            <a:r>
              <a:rPr lang="pt-BR" sz="2100" dirty="0">
                <a:solidFill>
                  <a:srgbClr val="000000"/>
                </a:solidFill>
                <a:latin typeface="+mj-lt"/>
              </a:rPr>
              <a:t> é uma sintaxe visual para um projeto de BD, que é precisa o suficiente para os pontos técnicos, mas abstrato o suficiente para pessoas não-técnicas</a:t>
            </a:r>
            <a:r>
              <a:rPr lang="en-US" sz="2100" dirty="0">
                <a:solidFill>
                  <a:srgbClr val="000000"/>
                </a:solidFill>
                <a:latin typeface="+mj-lt"/>
              </a:rPr>
              <a:t>.</a:t>
            </a:r>
            <a:endParaRPr lang="pt-BR" sz="21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1055440" y="4392153"/>
            <a:ext cx="9681234" cy="738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100" dirty="0">
                <a:solidFill>
                  <a:srgbClr val="000000"/>
                </a:solidFill>
                <a:latin typeface="+mj-lt"/>
              </a:rPr>
              <a:t>O modelo E/R  </a:t>
            </a:r>
            <a:r>
              <a:rPr lang="pt-BR" sz="2100" b="1" dirty="0">
                <a:solidFill>
                  <a:srgbClr val="000000"/>
                </a:solidFill>
                <a:latin typeface="+mj-lt"/>
              </a:rPr>
              <a:t>(MER) </a:t>
            </a:r>
            <a:r>
              <a:rPr lang="pt-BR" sz="2100" dirty="0">
                <a:solidFill>
                  <a:srgbClr val="000000"/>
                </a:solidFill>
                <a:latin typeface="+mj-lt"/>
              </a:rPr>
              <a:t>é uma das técnicas mais difundidas para construção de </a:t>
            </a:r>
            <a:r>
              <a:rPr lang="pt-BR" sz="2100" b="1" dirty="0">
                <a:solidFill>
                  <a:srgbClr val="C00000"/>
                </a:solidFill>
                <a:latin typeface="+mj-lt"/>
              </a:rPr>
              <a:t>modelos conceituais</a:t>
            </a:r>
          </a:p>
        </p:txBody>
      </p:sp>
    </p:spTree>
    <p:extLst>
      <p:ext uri="{BB962C8B-B14F-4D97-AF65-F5344CB8AC3E}">
        <p14:creationId xmlns:p14="http://schemas.microsoft.com/office/powerpoint/2010/main" val="1873804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Entidade Relacionamento</a:t>
            </a:r>
          </a:p>
        </p:txBody>
      </p:sp>
      <p:sp>
        <p:nvSpPr>
          <p:cNvPr id="7" name="Espaço Reservado para Conteúdo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59559"/>
          </a:xfrm>
        </p:spPr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dirty="0">
                <a:solidFill>
                  <a:srgbClr val="C00000"/>
                </a:solidFill>
              </a:rPr>
              <a:t>Diagrama Entidade Relacionamento (DER) </a:t>
            </a:r>
            <a:r>
              <a:rPr lang="pt-BR" dirty="0"/>
              <a:t>é uma representação gráfica dos elementos que compõe um banco de dados. </a:t>
            </a:r>
          </a:p>
          <a:p>
            <a:r>
              <a:rPr lang="pt-BR" dirty="0"/>
              <a:t>Em outras palavras, os diagramas ER ajudam a explicar a </a:t>
            </a:r>
            <a:r>
              <a:rPr lang="pt-BR" dirty="0">
                <a:solidFill>
                  <a:srgbClr val="C00000"/>
                </a:solidFill>
              </a:rPr>
              <a:t>estrutura</a:t>
            </a:r>
            <a:r>
              <a:rPr lang="pt-BR" dirty="0"/>
              <a:t> </a:t>
            </a:r>
            <a:r>
              <a:rPr lang="pt-BR" dirty="0">
                <a:solidFill>
                  <a:srgbClr val="C00000"/>
                </a:solidFill>
              </a:rPr>
              <a:t>lógica</a:t>
            </a:r>
            <a:r>
              <a:rPr lang="pt-BR" dirty="0"/>
              <a:t> dos bancos de dados. </a:t>
            </a:r>
          </a:p>
          <a:p>
            <a:r>
              <a:rPr lang="pt-BR" dirty="0"/>
              <a:t>Os diagramas ER são criados com base em três conceitos básicos: </a:t>
            </a:r>
            <a:r>
              <a:rPr lang="pt-BR" dirty="0">
                <a:solidFill>
                  <a:srgbClr val="C00000"/>
                </a:solidFill>
              </a:rPr>
              <a:t>entidades</a:t>
            </a:r>
            <a:r>
              <a:rPr lang="pt-BR" dirty="0"/>
              <a:t>, </a:t>
            </a:r>
            <a:r>
              <a:rPr lang="pt-BR" dirty="0">
                <a:solidFill>
                  <a:srgbClr val="C00000"/>
                </a:solidFill>
              </a:rPr>
              <a:t>atributos</a:t>
            </a:r>
            <a:r>
              <a:rPr lang="pt-BR" dirty="0"/>
              <a:t> e </a:t>
            </a:r>
            <a:r>
              <a:rPr lang="pt-BR" dirty="0">
                <a:solidFill>
                  <a:srgbClr val="C00000"/>
                </a:solidFill>
              </a:rPr>
              <a:t>relacionamentos</a:t>
            </a:r>
            <a:r>
              <a:rPr lang="pt-BR" dirty="0"/>
              <a:t>.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17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A6D8614-128D-4C32-9C17-AB1A865E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4535746"/>
            <a:ext cx="6601712" cy="176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02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Entidade Relacionamento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730408" cy="357874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Peter Chen </a:t>
            </a:r>
            <a:r>
              <a:rPr lang="pt-BR" dirty="0"/>
              <a:t>propôs o Diagrama ER em </a:t>
            </a:r>
            <a:r>
              <a:rPr lang="pt-BR" dirty="0">
                <a:solidFill>
                  <a:srgbClr val="C00000"/>
                </a:solidFill>
              </a:rPr>
              <a:t>1971 </a:t>
            </a:r>
            <a:r>
              <a:rPr lang="pt-BR" dirty="0"/>
              <a:t>para criar uma padrão uniforme que pode ser usada para bancos de dados e redes relacionais.</a:t>
            </a:r>
          </a:p>
          <a:p>
            <a:r>
              <a:rPr lang="pt-BR" dirty="0"/>
              <a:t>Símbolos e notações DER contém principalmente três símbolos básicos que são o </a:t>
            </a:r>
            <a:r>
              <a:rPr lang="pt-BR" dirty="0">
                <a:solidFill>
                  <a:srgbClr val="C00000"/>
                </a:solidFill>
              </a:rPr>
              <a:t>retângulo</a:t>
            </a:r>
            <a:r>
              <a:rPr lang="pt-BR" dirty="0"/>
              <a:t>, a </a:t>
            </a:r>
            <a:r>
              <a:rPr lang="pt-BR" dirty="0">
                <a:solidFill>
                  <a:srgbClr val="C00000"/>
                </a:solidFill>
              </a:rPr>
              <a:t>Elipse</a:t>
            </a:r>
            <a:r>
              <a:rPr lang="pt-BR" dirty="0"/>
              <a:t> e o </a:t>
            </a:r>
            <a:r>
              <a:rPr lang="pt-BR" dirty="0">
                <a:solidFill>
                  <a:srgbClr val="C00000"/>
                </a:solidFill>
              </a:rPr>
              <a:t>diamante</a:t>
            </a:r>
            <a:r>
              <a:rPr lang="pt-BR" dirty="0"/>
              <a:t> para representar </a:t>
            </a:r>
            <a:r>
              <a:rPr lang="pt-BR" dirty="0">
                <a:solidFill>
                  <a:srgbClr val="C00000"/>
                </a:solidFill>
              </a:rPr>
              <a:t>relacionamentos</a:t>
            </a:r>
            <a:r>
              <a:rPr lang="pt-BR" dirty="0"/>
              <a:t> entre elementos, </a:t>
            </a:r>
            <a:r>
              <a:rPr lang="pt-BR" dirty="0">
                <a:solidFill>
                  <a:srgbClr val="C00000"/>
                </a:solidFill>
              </a:rPr>
              <a:t>entidades</a:t>
            </a:r>
            <a:r>
              <a:rPr lang="pt-BR" dirty="0"/>
              <a:t> e </a:t>
            </a:r>
            <a:r>
              <a:rPr lang="pt-BR" dirty="0">
                <a:solidFill>
                  <a:srgbClr val="C00000"/>
                </a:solidFill>
              </a:rPr>
              <a:t>atributos</a:t>
            </a:r>
            <a:r>
              <a:rPr lang="pt-BR" dirty="0"/>
              <a:t>.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18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1394902" y="4252552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</a:t>
            </a:r>
          </a:p>
        </p:txBody>
      </p:sp>
      <p:sp>
        <p:nvSpPr>
          <p:cNvPr id="7" name="Fluxograma: Decisão 6"/>
          <p:cNvSpPr/>
          <p:nvPr/>
        </p:nvSpPr>
        <p:spPr>
          <a:xfrm>
            <a:off x="7032104" y="4077072"/>
            <a:ext cx="1872208" cy="1080120"/>
          </a:xfrm>
          <a:prstGeom prst="flowChartDecision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dk1"/>
                </a:solidFill>
              </a:rPr>
              <a:t>Relacionamento</a:t>
            </a:r>
          </a:p>
        </p:txBody>
      </p:sp>
      <p:sp>
        <p:nvSpPr>
          <p:cNvPr id="8" name="Elipse 7"/>
          <p:cNvSpPr/>
          <p:nvPr/>
        </p:nvSpPr>
        <p:spPr>
          <a:xfrm>
            <a:off x="4177499" y="4148585"/>
            <a:ext cx="1656184" cy="93709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Atributo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9203E87-FC06-4E8D-B581-4AA70957CFC0}"/>
              </a:ext>
            </a:extLst>
          </p:cNvPr>
          <p:cNvGrpSpPr/>
          <p:nvPr/>
        </p:nvGrpSpPr>
        <p:grpSpPr>
          <a:xfrm>
            <a:off x="1126137" y="5462838"/>
            <a:ext cx="6233864" cy="808483"/>
            <a:chOff x="1126137" y="5462838"/>
            <a:chExt cx="6233864" cy="808483"/>
          </a:xfrm>
        </p:grpSpPr>
        <p:pic>
          <p:nvPicPr>
            <p:cNvPr id="1026" name="Picture 2" descr="Login - BRMW">
              <a:hlinkClick r:id="rId2"/>
              <a:extLst>
                <a:ext uri="{FF2B5EF4-FFF2-40B4-BE49-F238E27FC236}">
                  <a16:creationId xmlns:a16="http://schemas.microsoft.com/office/drawing/2014/main" id="{AAD3AC19-B5F1-42BA-BA40-4352ED04F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6137" y="5462838"/>
              <a:ext cx="808483" cy="8084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797BBEF-7FC8-479C-8866-EBD5A2829309}"/>
                </a:ext>
              </a:extLst>
            </p:cNvPr>
            <p:cNvSpPr txBox="1"/>
            <p:nvPr/>
          </p:nvSpPr>
          <p:spPr>
            <a:xfrm>
              <a:off x="1991544" y="5462838"/>
              <a:ext cx="53684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 err="1"/>
                <a:t>BRModelo</a:t>
              </a:r>
              <a:r>
                <a:rPr lang="pt-BR" dirty="0"/>
                <a:t>:</a:t>
              </a:r>
            </a:p>
            <a:p>
              <a:r>
                <a:rPr lang="pt-BR" dirty="0">
                  <a:hlinkClick r:id="rId2"/>
                </a:rPr>
                <a:t>https://www.brmodeloweb.com/lang/pt-br/index.html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67803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Entidade Relacionamento -Símbolos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86876" y="1547729"/>
            <a:ext cx="10393699" cy="4267671"/>
          </a:xfrm>
        </p:spPr>
        <p:txBody>
          <a:bodyPr>
            <a:normAutofit/>
          </a:bodyPr>
          <a:lstStyle/>
          <a:p>
            <a:r>
              <a:rPr lang="pt-BR" dirty="0"/>
              <a:t>Os principais componentes e seus símbolos nos Diagramas ER são: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Retângulos</a:t>
            </a:r>
            <a:r>
              <a:rPr lang="pt-BR" dirty="0"/>
              <a:t>: Este símbolo de diagrama de relacionamento de entidade representa tipos de entidade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Elipses</a:t>
            </a:r>
            <a:r>
              <a:rPr lang="pt-BR" dirty="0"/>
              <a:t>: Símbolo representa atributos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Diamantes</a:t>
            </a:r>
            <a:r>
              <a:rPr lang="pt-BR" dirty="0"/>
              <a:t>: Este símbolo representa os tipos de relacionamento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Linhas</a:t>
            </a:r>
            <a:r>
              <a:rPr lang="pt-BR" dirty="0"/>
              <a:t>: vinculam atributos a tipos de entidade e tipos de entidade a outros tipos de relacionamento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Chave primária</a:t>
            </a:r>
            <a:r>
              <a:rPr lang="pt-BR" dirty="0"/>
              <a:t>: os atributos são sublinhados     </a:t>
            </a:r>
          </a:p>
          <a:p>
            <a:pPr lvl="1"/>
            <a:r>
              <a:rPr lang="pt-BR" dirty="0">
                <a:solidFill>
                  <a:srgbClr val="C00000"/>
                </a:solidFill>
              </a:rPr>
              <a:t>Elipses duplas</a:t>
            </a:r>
            <a:r>
              <a:rPr lang="pt-BR" dirty="0"/>
              <a:t>: representam atributos de vários valores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978230" y="6412566"/>
            <a:ext cx="2603745" cy="365125"/>
          </a:xfrm>
        </p:spPr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19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1352824" y="544941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</a:t>
            </a:r>
          </a:p>
        </p:txBody>
      </p:sp>
      <p:sp>
        <p:nvSpPr>
          <p:cNvPr id="7" name="Fluxograma: Decisão 6"/>
          <p:cNvSpPr/>
          <p:nvPr/>
        </p:nvSpPr>
        <p:spPr>
          <a:xfrm>
            <a:off x="4971381" y="5250166"/>
            <a:ext cx="1872208" cy="1080120"/>
          </a:xfrm>
          <a:prstGeom prst="flowChartDecision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dk1"/>
                </a:solidFill>
              </a:rPr>
              <a:t>Relacionamento</a:t>
            </a:r>
          </a:p>
        </p:txBody>
      </p:sp>
      <p:sp>
        <p:nvSpPr>
          <p:cNvPr id="8" name="Elipse 7"/>
          <p:cNvSpPr/>
          <p:nvPr/>
        </p:nvSpPr>
        <p:spPr>
          <a:xfrm>
            <a:off x="7142755" y="5331993"/>
            <a:ext cx="1412975" cy="799484"/>
          </a:xfrm>
          <a:prstGeom prst="ellips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Atributo</a:t>
            </a:r>
          </a:p>
        </p:txBody>
      </p:sp>
      <p:sp>
        <p:nvSpPr>
          <p:cNvPr id="9" name="Retângulo 8"/>
          <p:cNvSpPr/>
          <p:nvPr/>
        </p:nvSpPr>
        <p:spPr>
          <a:xfrm>
            <a:off x="3131003" y="5472062"/>
            <a:ext cx="1584176" cy="576064"/>
          </a:xfrm>
          <a:prstGeom prst="rect">
            <a:avLst/>
          </a:prstGeom>
          <a:noFill/>
          <a:ln w="5080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Entidade Fraca</a:t>
            </a:r>
          </a:p>
        </p:txBody>
      </p:sp>
      <p:sp>
        <p:nvSpPr>
          <p:cNvPr id="11" name="Elipse 10"/>
          <p:cNvSpPr/>
          <p:nvPr/>
        </p:nvSpPr>
        <p:spPr>
          <a:xfrm>
            <a:off x="8832304" y="5310271"/>
            <a:ext cx="1524841" cy="842927"/>
          </a:xfrm>
          <a:prstGeom prst="ellipse">
            <a:avLst/>
          </a:prstGeom>
          <a:noFill/>
          <a:ln w="5080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dk1"/>
                </a:solidFill>
              </a:rPr>
              <a:t>Atributo Multivalorado</a:t>
            </a:r>
          </a:p>
        </p:txBody>
      </p:sp>
    </p:spTree>
    <p:extLst>
      <p:ext uri="{BB962C8B-B14F-4D97-AF65-F5344CB8AC3E}">
        <p14:creationId xmlns:p14="http://schemas.microsoft.com/office/powerpoint/2010/main" val="2384522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675181"/>
            <a:ext cx="10945216" cy="2833939"/>
          </a:xfrm>
        </p:spPr>
        <p:txBody>
          <a:bodyPr>
            <a:noAutofit/>
          </a:bodyPr>
          <a:lstStyle/>
          <a:p>
            <a:r>
              <a:rPr lang="pt-BR" dirty="0"/>
              <a:t>Uma </a:t>
            </a:r>
            <a:r>
              <a:rPr lang="pt-BR" b="1" dirty="0">
                <a:solidFill>
                  <a:srgbClr val="C00000"/>
                </a:solidFill>
              </a:rPr>
              <a:t>entidade</a:t>
            </a:r>
            <a:r>
              <a:rPr lang="pt-BR" dirty="0"/>
              <a:t> representa um </a:t>
            </a:r>
            <a:r>
              <a:rPr lang="pt-BR" dirty="0">
                <a:solidFill>
                  <a:srgbClr val="C00000"/>
                </a:solidFill>
              </a:rPr>
              <a:t>objeto do mundo real </a:t>
            </a:r>
            <a:r>
              <a:rPr lang="pt-BR" dirty="0"/>
              <a:t>sobre o qual queremos </a:t>
            </a:r>
            <a:r>
              <a:rPr lang="pt-BR" dirty="0">
                <a:solidFill>
                  <a:srgbClr val="C00000"/>
                </a:solidFill>
              </a:rPr>
              <a:t>armazenar informações</a:t>
            </a:r>
            <a:r>
              <a:rPr lang="pt-BR" dirty="0"/>
              <a:t>. </a:t>
            </a:r>
          </a:p>
          <a:p>
            <a:r>
              <a:rPr lang="pt-BR" dirty="0"/>
              <a:t>Uma </a:t>
            </a:r>
            <a:r>
              <a:rPr lang="pt-BR" dirty="0">
                <a:solidFill>
                  <a:srgbClr val="C00000"/>
                </a:solidFill>
              </a:rPr>
              <a:t>entidade</a:t>
            </a:r>
            <a:r>
              <a:rPr lang="pt-BR" dirty="0"/>
              <a:t> pode ser um </a:t>
            </a:r>
            <a:r>
              <a:rPr lang="pt-BR" dirty="0">
                <a:solidFill>
                  <a:srgbClr val="C00000"/>
                </a:solidFill>
              </a:rPr>
              <a:t>lugar</a:t>
            </a:r>
            <a:r>
              <a:rPr lang="pt-BR" dirty="0"/>
              <a:t>, uma </a:t>
            </a:r>
            <a:r>
              <a:rPr lang="pt-BR" dirty="0">
                <a:solidFill>
                  <a:srgbClr val="C00000"/>
                </a:solidFill>
              </a:rPr>
              <a:t>pessoa</a:t>
            </a:r>
            <a:r>
              <a:rPr lang="pt-BR" dirty="0"/>
              <a:t>, um </a:t>
            </a:r>
            <a:r>
              <a:rPr lang="pt-BR" dirty="0">
                <a:solidFill>
                  <a:srgbClr val="C00000"/>
                </a:solidFill>
              </a:rPr>
              <a:t>objeto</a:t>
            </a:r>
            <a:r>
              <a:rPr lang="pt-BR" dirty="0"/>
              <a:t>, um </a:t>
            </a:r>
            <a:r>
              <a:rPr lang="pt-BR" dirty="0">
                <a:solidFill>
                  <a:srgbClr val="C00000"/>
                </a:solidFill>
              </a:rPr>
              <a:t>evento</a:t>
            </a:r>
            <a:r>
              <a:rPr lang="pt-BR" dirty="0"/>
              <a:t> ou um </a:t>
            </a:r>
            <a:r>
              <a:rPr lang="pt-BR" dirty="0">
                <a:solidFill>
                  <a:srgbClr val="C00000"/>
                </a:solidFill>
              </a:rPr>
              <a:t>conceito</a:t>
            </a:r>
            <a:r>
              <a:rPr lang="pt-BR" dirty="0"/>
              <a:t>, que armazena dados no banco de dados. </a:t>
            </a:r>
          </a:p>
          <a:p>
            <a:r>
              <a:rPr lang="pt-BR" dirty="0"/>
              <a:t>As características das entidades devem incluir </a:t>
            </a:r>
            <a:r>
              <a:rPr lang="pt-BR" dirty="0">
                <a:solidFill>
                  <a:srgbClr val="C00000"/>
                </a:solidFill>
              </a:rPr>
              <a:t>atributo(s) e uma chave única. </a:t>
            </a:r>
            <a:endParaRPr lang="pt-PT" sz="28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4CD00-30DF-8443-816B-88C3C65D8B9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78659" y="4508585"/>
            <a:ext cx="4824536" cy="16312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Pessoa</a:t>
            </a:r>
            <a:r>
              <a:rPr lang="pt-BR" sz="2000" dirty="0"/>
              <a:t>: Funcionário, Estudante, Paciente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Local</a:t>
            </a:r>
            <a:r>
              <a:rPr lang="pt-BR" sz="2000" dirty="0"/>
              <a:t>: Loja, Edifício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Objeto</a:t>
            </a:r>
            <a:r>
              <a:rPr lang="pt-BR" sz="2000" dirty="0"/>
              <a:t>: Máquina, produto e carro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Evento</a:t>
            </a:r>
            <a:r>
              <a:rPr lang="pt-BR" sz="2000" dirty="0"/>
              <a:t>: Venda, Inscrição, Renovação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/>
              <a:t>Conceito</a:t>
            </a:r>
            <a:r>
              <a:rPr lang="pt-BR" sz="2000" dirty="0"/>
              <a:t>: Conta, Curso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25901D-C5F7-4A3F-B1BA-122F65D964B0}"/>
              </a:ext>
            </a:extLst>
          </p:cNvPr>
          <p:cNvSpPr txBox="1"/>
          <p:nvPr/>
        </p:nvSpPr>
        <p:spPr>
          <a:xfrm>
            <a:off x="6500161" y="4535388"/>
            <a:ext cx="482453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b="1" dirty="0"/>
              <a:t>Dica Essencial: Identificando Entidades</a:t>
            </a:r>
          </a:p>
          <a:p>
            <a:r>
              <a:rPr lang="pt-BR" sz="2000" dirty="0"/>
              <a:t>Pergunte-se: "Sobre o que preciso guardar informações?" Se a resposta for um substantivo que pode ter várias instâncias (vários clientes, vários produtos), é </a:t>
            </a:r>
            <a:r>
              <a:rPr lang="pt-BR" sz="2000" b="1" dirty="0">
                <a:solidFill>
                  <a:srgbClr val="C00000"/>
                </a:solidFill>
              </a:rPr>
              <a:t>provavelmente uma entidade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494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0032B87F-7ADC-2236-04A4-0C967560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8816FB-FEE4-40C5-7AFA-00AAB754C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3156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dirty="0"/>
              <a:t>Num sistema da </a:t>
            </a:r>
            <a:r>
              <a:rPr lang="pt-BR" dirty="0">
                <a:solidFill>
                  <a:srgbClr val="C00000"/>
                </a:solidFill>
              </a:rPr>
              <a:t>Netflix</a:t>
            </a:r>
            <a:r>
              <a:rPr lang="pt-BR" dirty="0"/>
              <a:t>, sobre quais coisas precisamos guardar informações?"</a:t>
            </a:r>
          </a:p>
          <a:p>
            <a:pPr lvl="1">
              <a:lnSpc>
                <a:spcPct val="100000"/>
              </a:lnSpc>
            </a:pPr>
            <a:r>
              <a:rPr lang="pt-BR" sz="2800" dirty="0">
                <a:solidFill>
                  <a:schemeClr val="accent5">
                    <a:lumMod val="75000"/>
                  </a:schemeClr>
                </a:solidFill>
              </a:rPr>
              <a:t>Filme</a:t>
            </a:r>
          </a:p>
          <a:p>
            <a:pPr lvl="1">
              <a:lnSpc>
                <a:spcPct val="100000"/>
              </a:lnSpc>
            </a:pPr>
            <a:r>
              <a:rPr lang="pt-BR" sz="2800" dirty="0">
                <a:solidFill>
                  <a:schemeClr val="accent5">
                    <a:lumMod val="75000"/>
                  </a:schemeClr>
                </a:solidFill>
              </a:rPr>
              <a:t>Série</a:t>
            </a:r>
          </a:p>
          <a:p>
            <a:pPr lvl="1">
              <a:lnSpc>
                <a:spcPct val="100000"/>
              </a:lnSpc>
            </a:pPr>
            <a:r>
              <a:rPr lang="pt-BR" sz="2800" dirty="0">
                <a:solidFill>
                  <a:schemeClr val="accent5">
                    <a:lumMod val="75000"/>
                  </a:schemeClr>
                </a:solidFill>
              </a:rPr>
              <a:t>Usuário</a:t>
            </a:r>
          </a:p>
          <a:p>
            <a:pPr lvl="1">
              <a:lnSpc>
                <a:spcPct val="100000"/>
              </a:lnSpc>
            </a:pPr>
            <a:r>
              <a:rPr lang="pt-BR" sz="2800" dirty="0">
                <a:solidFill>
                  <a:schemeClr val="accent5">
                    <a:lumMod val="75000"/>
                  </a:schemeClr>
                </a:solidFill>
              </a:rPr>
              <a:t>Assinatura</a:t>
            </a:r>
          </a:p>
          <a:p>
            <a:pPr>
              <a:lnSpc>
                <a:spcPct val="100000"/>
              </a:lnSpc>
            </a:pPr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D7A0727-1AC4-9E54-4FC8-3D6857C9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0CE2BF-4179-54F8-B952-918B1D13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B30B5DD-9567-43DE-A578-1A8085956379}" type="slidenum">
              <a:rPr lang="pt-BR" smtClean="0"/>
              <a:pPr/>
              <a:t>21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F4A0900-9803-FB54-F4A9-D4BA88BA7437}"/>
              </a:ext>
            </a:extLst>
          </p:cNvPr>
          <p:cNvSpPr/>
          <p:nvPr/>
        </p:nvSpPr>
        <p:spPr>
          <a:xfrm>
            <a:off x="5159896" y="3284984"/>
            <a:ext cx="254781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ENTIDADES</a:t>
            </a:r>
          </a:p>
        </p:txBody>
      </p:sp>
    </p:spTree>
    <p:extLst>
      <p:ext uri="{BB962C8B-B14F-4D97-AF65-F5344CB8AC3E}">
        <p14:creationId xmlns:p14="http://schemas.microsoft.com/office/powerpoint/2010/main" val="664472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675181"/>
            <a:ext cx="10945216" cy="5046294"/>
          </a:xfrm>
        </p:spPr>
        <p:txBody>
          <a:bodyPr>
            <a:noAutofit/>
          </a:bodyPr>
          <a:lstStyle/>
          <a:p>
            <a:r>
              <a:rPr lang="pt-PT" sz="3200" dirty="0"/>
              <a:t>Nomeadas utilizando substantivos</a:t>
            </a:r>
          </a:p>
          <a:p>
            <a:r>
              <a:rPr lang="pt-PT" sz="3200" dirty="0"/>
              <a:t>São Representadas nos DER como </a:t>
            </a:r>
            <a:r>
              <a:rPr lang="pt-PT" sz="3200" dirty="0">
                <a:solidFill>
                  <a:srgbClr val="C00000"/>
                </a:solidFill>
              </a:rPr>
              <a:t>retângulos</a:t>
            </a:r>
          </a:p>
          <a:p>
            <a:pPr lvl="1"/>
            <a:endParaRPr lang="pt-PT" sz="2800" dirty="0">
              <a:solidFill>
                <a:srgbClr val="C00000"/>
              </a:solidFill>
            </a:endParaRPr>
          </a:p>
          <a:p>
            <a:pPr lvl="1"/>
            <a:endParaRPr lang="pt-PT" sz="2800" dirty="0">
              <a:solidFill>
                <a:srgbClr val="C00000"/>
              </a:solidFill>
            </a:endParaRPr>
          </a:p>
          <a:p>
            <a:pPr lvl="1"/>
            <a:endParaRPr lang="pt-PT" sz="2800" dirty="0">
              <a:solidFill>
                <a:srgbClr val="C00000"/>
              </a:solidFill>
            </a:endParaRPr>
          </a:p>
          <a:p>
            <a:r>
              <a:rPr lang="pt-PT" dirty="0"/>
              <a:t>Uma entidade pode ser </a:t>
            </a:r>
            <a:r>
              <a:rPr lang="pt-PT" dirty="0">
                <a:solidFill>
                  <a:srgbClr val="C00000"/>
                </a:solidFill>
              </a:rPr>
              <a:t>forte</a:t>
            </a:r>
            <a:r>
              <a:rPr lang="pt-PT" dirty="0"/>
              <a:t>, i.e., ela existe no mundo real ou conceitual</a:t>
            </a:r>
          </a:p>
          <a:p>
            <a:r>
              <a:rPr lang="pt-PT" dirty="0"/>
              <a:t>Quando uma entidade não está relacionada com o mundo real e só faz sentido quando ligada a outra entidade, ela é dita como </a:t>
            </a:r>
            <a:r>
              <a:rPr lang="pt-PT" dirty="0">
                <a:solidFill>
                  <a:srgbClr val="C00000"/>
                </a:solidFill>
              </a:rPr>
              <a:t>fraca</a:t>
            </a:r>
          </a:p>
          <a:p>
            <a:endParaRPr lang="pt-PT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4CD00-30DF-8443-816B-88C3C65D8B9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743499" y="315942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10" name="Retângulo 9"/>
          <p:cNvSpPr/>
          <p:nvPr/>
        </p:nvSpPr>
        <p:spPr>
          <a:xfrm>
            <a:off x="3975747" y="315942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6207995" y="315942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UC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8760296" y="2060848"/>
            <a:ext cx="3168352" cy="203132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Boas práticas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Começar  com letra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Substantivos no singular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Não usar espaços ou caracteres especiais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Nomes devem ser únicos no esquema</a:t>
            </a:r>
          </a:p>
        </p:txBody>
      </p:sp>
    </p:spTree>
    <p:extLst>
      <p:ext uri="{BB962C8B-B14F-4D97-AF65-F5344CB8AC3E}">
        <p14:creationId xmlns:p14="http://schemas.microsoft.com/office/powerpoint/2010/main" val="2677910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Instância de Entidades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99319"/>
          </a:xfrm>
        </p:spPr>
        <p:txBody>
          <a:bodyPr/>
          <a:lstStyle/>
          <a:p>
            <a:r>
              <a:rPr lang="pt-PT" dirty="0"/>
              <a:t>O conjunto de Entidades é o </a:t>
            </a:r>
            <a:r>
              <a:rPr lang="pt-PT" dirty="0">
                <a:solidFill>
                  <a:srgbClr val="C00000"/>
                </a:solidFill>
              </a:rPr>
              <a:t>arcabouço</a:t>
            </a:r>
            <a:r>
              <a:rPr lang="pt-PT" dirty="0"/>
              <a:t>, enquanto a Entidade é uma </a:t>
            </a:r>
            <a:r>
              <a:rPr lang="pt-PT" dirty="0">
                <a:solidFill>
                  <a:srgbClr val="C00000"/>
                </a:solidFill>
              </a:rPr>
              <a:t>instância</a:t>
            </a:r>
            <a:r>
              <a:rPr lang="pt-PT" dirty="0"/>
              <a:t> ou </a:t>
            </a:r>
            <a:r>
              <a:rPr lang="pt-PT" dirty="0">
                <a:solidFill>
                  <a:srgbClr val="C00000"/>
                </a:solidFill>
              </a:rPr>
              <a:t>ocorrência</a:t>
            </a:r>
            <a:endParaRPr lang="pt-PT" dirty="0"/>
          </a:p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2" name="Retângulo 11"/>
          <p:cNvSpPr/>
          <p:nvPr/>
        </p:nvSpPr>
        <p:spPr>
          <a:xfrm>
            <a:off x="1559496" y="364502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Aluno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4543618" y="263025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Roberto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543618" y="3576477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Paulo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4543618" y="4522701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Ari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1790629" y="3125431"/>
            <a:ext cx="11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pt-BR" dirty="0"/>
              <a:t>Entidades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4783599" y="2204864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instâncias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1559496" y="5583541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UC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4583832" y="6068318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Banco de Dados 1</a:t>
            </a:r>
          </a:p>
        </p:txBody>
      </p:sp>
      <p:sp>
        <p:nvSpPr>
          <p:cNvPr id="7" name="Chave Esquerda 6">
            <a:extLst>
              <a:ext uri="{FF2B5EF4-FFF2-40B4-BE49-F238E27FC236}">
                <a16:creationId xmlns:a16="http://schemas.microsoft.com/office/drawing/2014/main" id="{C2D341E2-FCD4-403A-8520-4FB840A90B73}"/>
              </a:ext>
            </a:extLst>
          </p:cNvPr>
          <p:cNvSpPr/>
          <p:nvPr/>
        </p:nvSpPr>
        <p:spPr>
          <a:xfrm>
            <a:off x="3967554" y="2637325"/>
            <a:ext cx="344931" cy="210376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3B6035D-C658-3D3B-793A-F4ADA6E1FA62}"/>
              </a:ext>
            </a:extLst>
          </p:cNvPr>
          <p:cNvSpPr/>
          <p:nvPr/>
        </p:nvSpPr>
        <p:spPr>
          <a:xfrm>
            <a:off x="4583832" y="5295509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Programação 1</a:t>
            </a:r>
          </a:p>
        </p:txBody>
      </p:sp>
      <p:sp>
        <p:nvSpPr>
          <p:cNvPr id="9" name="Chave Esquerda 8">
            <a:extLst>
              <a:ext uri="{FF2B5EF4-FFF2-40B4-BE49-F238E27FC236}">
                <a16:creationId xmlns:a16="http://schemas.microsoft.com/office/drawing/2014/main" id="{F9A125EE-9AC9-0AB1-DB89-D56B2795829B}"/>
              </a:ext>
            </a:extLst>
          </p:cNvPr>
          <p:cNvSpPr/>
          <p:nvPr/>
        </p:nvSpPr>
        <p:spPr>
          <a:xfrm>
            <a:off x="3967553" y="5552794"/>
            <a:ext cx="344931" cy="81642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926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3C381-6F06-9E12-FA29-DE785B67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5E24C-CE71-39CA-972C-C1D54D7E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Entidade Forte x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2143D4-A90F-F842-7F5A-CF8F2BDDD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0738"/>
            <a:ext cx="10515600" cy="3137697"/>
          </a:xfrm>
        </p:spPr>
        <p:txBody>
          <a:bodyPr>
            <a:normAutofit/>
          </a:bodyPr>
          <a:lstStyle/>
          <a:p>
            <a:r>
              <a:rPr lang="pt-BR" sz="2400" dirty="0"/>
              <a:t>Uma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entidade forte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(ou Entidade Regular) </a:t>
            </a:r>
            <a:r>
              <a:rPr lang="pt-BR" sz="2400" dirty="0"/>
              <a:t>é aquela que possui sua própria </a:t>
            </a:r>
            <a:r>
              <a:rPr lang="pt-BR" sz="2400" dirty="0">
                <a:solidFill>
                  <a:srgbClr val="C00000"/>
                </a:solidFill>
              </a:rPr>
              <a:t>chave primária </a:t>
            </a:r>
            <a:r>
              <a:rPr lang="pt-BR" sz="2400" dirty="0"/>
              <a:t>e pode ser </a:t>
            </a:r>
            <a:r>
              <a:rPr lang="pt-BR" sz="2400" dirty="0">
                <a:solidFill>
                  <a:srgbClr val="C00000"/>
                </a:solidFill>
              </a:rPr>
              <a:t>identificada</a:t>
            </a:r>
            <a:r>
              <a:rPr lang="pt-BR" sz="2400" dirty="0"/>
              <a:t> de forma única e independente, </a:t>
            </a:r>
            <a:r>
              <a:rPr lang="pt-BR" sz="2400" dirty="0">
                <a:solidFill>
                  <a:srgbClr val="C00000"/>
                </a:solidFill>
              </a:rPr>
              <a:t>sem a necessidade de outra entidade</a:t>
            </a:r>
            <a:r>
              <a:rPr lang="pt-BR" sz="2400" dirty="0"/>
              <a:t>. </a:t>
            </a:r>
          </a:p>
          <a:p>
            <a:r>
              <a:rPr lang="pt-BR" sz="2400" dirty="0"/>
              <a:t>Sua existência não depende de nenhuma outra entidade no modelo.</a:t>
            </a:r>
          </a:p>
          <a:p>
            <a:pPr lvl="1"/>
            <a:r>
              <a:rPr lang="pt-BR" sz="2000" b="1" dirty="0"/>
              <a:t>Identificação:</a:t>
            </a:r>
            <a:r>
              <a:rPr lang="pt-BR" sz="2000" dirty="0"/>
              <a:t> Possui um ou mais atributos que, juntos, formam uma </a:t>
            </a:r>
            <a:r>
              <a:rPr lang="pt-BR" sz="2000" b="1" dirty="0"/>
              <a:t>chave primária (PK)</a:t>
            </a:r>
            <a:r>
              <a:rPr lang="pt-BR" sz="2000" dirty="0"/>
              <a:t> que a identifica de forma única.</a:t>
            </a:r>
          </a:p>
          <a:p>
            <a:pPr lvl="1"/>
            <a:r>
              <a:rPr lang="pt-BR" sz="2000" b="1" dirty="0"/>
              <a:t>Existência:</a:t>
            </a:r>
            <a:r>
              <a:rPr lang="pt-BR" sz="2000" dirty="0"/>
              <a:t> Pode existir por conta própria. Se você excluir outra entidade com a qual ela se relaciona, a entidade forte permanece.</a:t>
            </a:r>
          </a:p>
          <a:p>
            <a:pPr lvl="1"/>
            <a:r>
              <a:rPr lang="pt-BR" sz="2000" b="1" dirty="0"/>
              <a:t>Representação no DER:</a:t>
            </a:r>
            <a:r>
              <a:rPr lang="pt-BR" sz="2000" dirty="0"/>
              <a:t> Um único retângulo.</a:t>
            </a:r>
          </a:p>
          <a:p>
            <a:endParaRPr lang="pt-BR" sz="24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523F80-1411-E3F5-A10D-D9381489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24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7167DA9-F3FF-C42B-061E-9E33C71449B9}"/>
              </a:ext>
            </a:extLst>
          </p:cNvPr>
          <p:cNvSpPr/>
          <p:nvPr/>
        </p:nvSpPr>
        <p:spPr>
          <a:xfrm>
            <a:off x="3287688" y="5912002"/>
            <a:ext cx="1584176" cy="576064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Funcionário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DC299E6-6D5A-7D2B-CF1D-765979E7FA1A}"/>
              </a:ext>
            </a:extLst>
          </p:cNvPr>
          <p:cNvSpPr/>
          <p:nvPr/>
        </p:nvSpPr>
        <p:spPr>
          <a:xfrm>
            <a:off x="4295800" y="4967351"/>
            <a:ext cx="13681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Nome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4D0823D-3B6B-407A-1F5C-6064EBE274B3}"/>
              </a:ext>
            </a:extLst>
          </p:cNvPr>
          <p:cNvSpPr/>
          <p:nvPr/>
        </p:nvSpPr>
        <p:spPr>
          <a:xfrm>
            <a:off x="2603612" y="4972226"/>
            <a:ext cx="1440160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u="sng" dirty="0">
                <a:solidFill>
                  <a:srgbClr val="C00000"/>
                </a:solidFill>
              </a:rPr>
              <a:t>Matricula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48E6ACD-EF21-9272-CFDD-F69E68D2F9EB}"/>
              </a:ext>
            </a:extLst>
          </p:cNvPr>
          <p:cNvCxnSpPr>
            <a:stCxn id="10" idx="4"/>
          </p:cNvCxnSpPr>
          <p:nvPr/>
        </p:nvCxnSpPr>
        <p:spPr>
          <a:xfrm>
            <a:off x="3323692" y="5543704"/>
            <a:ext cx="396044" cy="368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F63A131D-8C41-3696-A3CC-BB18F6AB3E72}"/>
              </a:ext>
            </a:extLst>
          </p:cNvPr>
          <p:cNvCxnSpPr>
            <a:stCxn id="9" idx="4"/>
          </p:cNvCxnSpPr>
          <p:nvPr/>
        </p:nvCxnSpPr>
        <p:spPr>
          <a:xfrm flipH="1">
            <a:off x="4295800" y="5538829"/>
            <a:ext cx="684076" cy="3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4BA9E2-F709-B0BE-788C-2DEA2AB373B0}"/>
              </a:ext>
            </a:extLst>
          </p:cNvPr>
          <p:cNvSpPr/>
          <p:nvPr/>
        </p:nvSpPr>
        <p:spPr>
          <a:xfrm>
            <a:off x="8256240" y="5916811"/>
            <a:ext cx="1584176" cy="576064"/>
          </a:xfrm>
          <a:prstGeom prst="rect">
            <a:avLst/>
          </a:prstGeom>
          <a:noFill/>
          <a:ln w="50800"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Dependente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67DA304-1F2C-B88E-117C-F81621D866E9}"/>
              </a:ext>
            </a:extLst>
          </p:cNvPr>
          <p:cNvSpPr/>
          <p:nvPr/>
        </p:nvSpPr>
        <p:spPr>
          <a:xfrm>
            <a:off x="9264352" y="4967351"/>
            <a:ext cx="1440160" cy="57628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dk1"/>
                </a:solidFill>
              </a:rPr>
              <a:t>Parentesco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7603C1A-B75C-3F1C-F5F4-F4AB6DBB7AD5}"/>
              </a:ext>
            </a:extLst>
          </p:cNvPr>
          <p:cNvSpPr/>
          <p:nvPr/>
        </p:nvSpPr>
        <p:spPr>
          <a:xfrm>
            <a:off x="7572164" y="4977035"/>
            <a:ext cx="13681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Nome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80D8DBF9-1475-2DA2-390E-29730DB66FD5}"/>
              </a:ext>
            </a:extLst>
          </p:cNvPr>
          <p:cNvCxnSpPr>
            <a:stCxn id="15" idx="4"/>
          </p:cNvCxnSpPr>
          <p:nvPr/>
        </p:nvCxnSpPr>
        <p:spPr>
          <a:xfrm>
            <a:off x="8256240" y="5548513"/>
            <a:ext cx="432048" cy="368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C3FA657-A80A-0B14-E694-856471CD9547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9264352" y="5543638"/>
            <a:ext cx="720080" cy="3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uxograma: Decisão 18">
            <a:extLst>
              <a:ext uri="{FF2B5EF4-FFF2-40B4-BE49-F238E27FC236}">
                <a16:creationId xmlns:a16="http://schemas.microsoft.com/office/drawing/2014/main" id="{10B2062D-145C-EB4E-45AE-16CB3465A082}"/>
              </a:ext>
            </a:extLst>
          </p:cNvPr>
          <p:cNvSpPr/>
          <p:nvPr/>
        </p:nvSpPr>
        <p:spPr>
          <a:xfrm>
            <a:off x="5771964" y="5765164"/>
            <a:ext cx="1584176" cy="913948"/>
          </a:xfrm>
          <a:prstGeom prst="flowChartDecision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Possui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F89DEE1-D2D6-9DC0-D3DC-E1B471780714}"/>
              </a:ext>
            </a:extLst>
          </p:cNvPr>
          <p:cNvCxnSpPr>
            <a:stCxn id="8" idx="3"/>
            <a:endCxn id="19" idx="1"/>
          </p:cNvCxnSpPr>
          <p:nvPr/>
        </p:nvCxnSpPr>
        <p:spPr>
          <a:xfrm>
            <a:off x="4871864" y="6200034"/>
            <a:ext cx="900100" cy="22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93AA9D0-5122-D572-BA32-8810B38B5576}"/>
              </a:ext>
            </a:extLst>
          </p:cNvPr>
          <p:cNvCxnSpPr>
            <a:stCxn id="19" idx="3"/>
            <a:endCxn id="13" idx="1"/>
          </p:cNvCxnSpPr>
          <p:nvPr/>
        </p:nvCxnSpPr>
        <p:spPr>
          <a:xfrm flipV="1">
            <a:off x="7356140" y="6204843"/>
            <a:ext cx="900100" cy="17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14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EDDE-1B29-1E38-45EF-CF849B6E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23FFD-6E1B-0DE0-9342-93A71A39D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038"/>
            <a:ext cx="10515600" cy="1325563"/>
          </a:xfrm>
        </p:spPr>
        <p:txBody>
          <a:bodyPr/>
          <a:lstStyle/>
          <a:p>
            <a:r>
              <a:rPr lang="pt-BR" dirty="0"/>
              <a:t>Entidade Forte x Fraca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A5FBB-81ED-ED43-5591-5921AF616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84" y="1115200"/>
            <a:ext cx="10802416" cy="3264847"/>
          </a:xfrm>
        </p:spPr>
        <p:txBody>
          <a:bodyPr>
            <a:normAutofit/>
          </a:bodyPr>
          <a:lstStyle/>
          <a:p>
            <a:r>
              <a:rPr lang="pt-BR" sz="2400" dirty="0"/>
              <a:t>Uma </a:t>
            </a:r>
            <a:r>
              <a:rPr lang="pt-BR" sz="2400" b="1" dirty="0">
                <a:solidFill>
                  <a:schemeClr val="accent5"/>
                </a:solidFill>
              </a:rPr>
              <a:t>entidade fraca</a:t>
            </a:r>
            <a:r>
              <a:rPr lang="pt-BR" sz="2400" dirty="0">
                <a:solidFill>
                  <a:schemeClr val="accent5"/>
                </a:solidFill>
              </a:rPr>
              <a:t> </a:t>
            </a:r>
            <a:r>
              <a:rPr lang="pt-BR" sz="2400" dirty="0"/>
              <a:t>é aquela que </a:t>
            </a:r>
            <a:r>
              <a:rPr lang="pt-BR" sz="2400" b="1" dirty="0">
                <a:solidFill>
                  <a:schemeClr val="accent5"/>
                </a:solidFill>
              </a:rPr>
              <a:t>não pode ser identificada de forma única apenas por seus próprios atributos</a:t>
            </a:r>
            <a:r>
              <a:rPr lang="pt-BR" sz="2400" dirty="0"/>
              <a:t>. Sua existência e identificação </a:t>
            </a:r>
            <a:r>
              <a:rPr lang="pt-BR" sz="2400" dirty="0">
                <a:solidFill>
                  <a:srgbClr val="C00000"/>
                </a:solidFill>
              </a:rPr>
              <a:t>dependem de uma outra entidade</a:t>
            </a:r>
            <a:r>
              <a:rPr lang="pt-BR" sz="2400" dirty="0"/>
              <a:t>, que é a </a:t>
            </a:r>
            <a:r>
              <a:rPr lang="pt-BR" sz="2400" dirty="0">
                <a:solidFill>
                  <a:srgbClr val="C00000"/>
                </a:solidFill>
              </a:rPr>
              <a:t>entidade "proprietária" ou "forte". </a:t>
            </a:r>
          </a:p>
          <a:p>
            <a:r>
              <a:rPr lang="pt-BR" sz="2400" dirty="0"/>
              <a:t>O relacionamento entre uma entidade fraca e sua entidade forte é chamado de </a:t>
            </a:r>
            <a:r>
              <a:rPr lang="pt-BR" sz="2400" b="1" dirty="0">
                <a:solidFill>
                  <a:srgbClr val="C00000"/>
                </a:solidFill>
              </a:rPr>
              <a:t>relacionamento de identificação</a:t>
            </a:r>
            <a:r>
              <a:rPr lang="pt-BR" sz="2400" dirty="0"/>
              <a:t>.</a:t>
            </a:r>
          </a:p>
          <a:p>
            <a:r>
              <a:rPr lang="pt-BR" sz="2400" b="1" dirty="0"/>
              <a:t>Identificação:</a:t>
            </a:r>
            <a:r>
              <a:rPr lang="pt-BR" sz="2400" dirty="0"/>
              <a:t> Não tem uma chave primária própria. Em vez disso, ela tem uma </a:t>
            </a:r>
            <a:r>
              <a:rPr lang="pt-BR" sz="2400" b="1" dirty="0">
                <a:solidFill>
                  <a:srgbClr val="C00000"/>
                </a:solidFill>
              </a:rPr>
              <a:t>chave parcial</a:t>
            </a:r>
            <a:r>
              <a:rPr lang="pt-BR" sz="2400" dirty="0">
                <a:solidFill>
                  <a:srgbClr val="C00000"/>
                </a:solidFill>
              </a:rPr>
              <a:t> (ou discriminador) </a:t>
            </a:r>
            <a:r>
              <a:rPr lang="pt-BR" sz="2400" dirty="0"/>
              <a:t>que só é única no contexto da entidade forte. </a:t>
            </a:r>
          </a:p>
          <a:p>
            <a:pPr lvl="1"/>
            <a:r>
              <a:rPr lang="pt-BR" sz="2000" dirty="0"/>
              <a:t>A chave primária completa da entidade fraca é a </a:t>
            </a:r>
            <a:r>
              <a:rPr lang="pt-BR" sz="2000" b="1" dirty="0"/>
              <a:t>combinação da chave parcial com a chave primária da entidade forte</a:t>
            </a:r>
            <a:r>
              <a:rPr lang="pt-BR" sz="2000" dirty="0"/>
              <a:t>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B5516F-C1A4-17C5-AA6C-413FDA83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25</a:t>
            </a:fld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B6179C0-66F8-BD02-5A63-44EEFD90CD6F}"/>
              </a:ext>
            </a:extLst>
          </p:cNvPr>
          <p:cNvSpPr/>
          <p:nvPr/>
        </p:nvSpPr>
        <p:spPr>
          <a:xfrm>
            <a:off x="1343472" y="6063509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Funcionário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BD27CB0-C3D4-8FA0-4066-C7CD3A11C4E5}"/>
              </a:ext>
            </a:extLst>
          </p:cNvPr>
          <p:cNvSpPr/>
          <p:nvPr/>
        </p:nvSpPr>
        <p:spPr>
          <a:xfrm>
            <a:off x="2351584" y="5118858"/>
            <a:ext cx="13681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Nome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5A89A60-595C-2623-E082-3652AD17FC54}"/>
              </a:ext>
            </a:extLst>
          </p:cNvPr>
          <p:cNvSpPr/>
          <p:nvPr/>
        </p:nvSpPr>
        <p:spPr>
          <a:xfrm>
            <a:off x="659396" y="5123733"/>
            <a:ext cx="1440160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u="sng" dirty="0">
                <a:solidFill>
                  <a:schemeClr val="dk1"/>
                </a:solidFill>
              </a:rPr>
              <a:t>Matricula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7E063C4-048F-2AFF-926C-E4677DE0BD3A}"/>
              </a:ext>
            </a:extLst>
          </p:cNvPr>
          <p:cNvCxnSpPr>
            <a:stCxn id="10" idx="4"/>
          </p:cNvCxnSpPr>
          <p:nvPr/>
        </p:nvCxnSpPr>
        <p:spPr>
          <a:xfrm>
            <a:off x="1379476" y="5695211"/>
            <a:ext cx="396044" cy="368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C58567D-CAD5-EDC3-44E2-EF4466132D99}"/>
              </a:ext>
            </a:extLst>
          </p:cNvPr>
          <p:cNvCxnSpPr>
            <a:stCxn id="9" idx="4"/>
          </p:cNvCxnSpPr>
          <p:nvPr/>
        </p:nvCxnSpPr>
        <p:spPr>
          <a:xfrm flipH="1">
            <a:off x="2351584" y="5690336"/>
            <a:ext cx="684076" cy="3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B65D02C2-9A14-D049-C3F7-12D136AB655F}"/>
              </a:ext>
            </a:extLst>
          </p:cNvPr>
          <p:cNvSpPr/>
          <p:nvPr/>
        </p:nvSpPr>
        <p:spPr>
          <a:xfrm>
            <a:off x="6312024" y="6068318"/>
            <a:ext cx="1584176" cy="576064"/>
          </a:xfrm>
          <a:prstGeom prst="rect">
            <a:avLst/>
          </a:prstGeom>
          <a:noFill/>
          <a:ln w="50800"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Dependente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23554A7-70C8-7EE1-7304-5A210D4B3C2B}"/>
              </a:ext>
            </a:extLst>
          </p:cNvPr>
          <p:cNvSpPr/>
          <p:nvPr/>
        </p:nvSpPr>
        <p:spPr>
          <a:xfrm>
            <a:off x="7320136" y="5118858"/>
            <a:ext cx="1470992" cy="57628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dk1"/>
                </a:solidFill>
              </a:rPr>
              <a:t>Parentesco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11B24A38-22DD-70E7-7191-7058FA128AFF}"/>
              </a:ext>
            </a:extLst>
          </p:cNvPr>
          <p:cNvSpPr/>
          <p:nvPr/>
        </p:nvSpPr>
        <p:spPr>
          <a:xfrm>
            <a:off x="5972572" y="5118858"/>
            <a:ext cx="11109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Nome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6CCC4DD3-A3A7-13B3-DCC1-742B141D4D82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6528048" y="5690336"/>
            <a:ext cx="560648" cy="3682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A8C5E52-B0CE-60E0-FEC7-A8ECA822C8FE}"/>
              </a:ext>
            </a:extLst>
          </p:cNvPr>
          <p:cNvCxnSpPr>
            <a:cxnSpLocks/>
            <a:stCxn id="14" idx="4"/>
          </p:cNvCxnSpPr>
          <p:nvPr/>
        </p:nvCxnSpPr>
        <p:spPr>
          <a:xfrm flipH="1">
            <a:off x="7320136" y="5695145"/>
            <a:ext cx="735496" cy="373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uxograma: Decisão 18">
            <a:extLst>
              <a:ext uri="{FF2B5EF4-FFF2-40B4-BE49-F238E27FC236}">
                <a16:creationId xmlns:a16="http://schemas.microsoft.com/office/drawing/2014/main" id="{7EDDE746-743B-D921-E620-CF9025EFB732}"/>
              </a:ext>
            </a:extLst>
          </p:cNvPr>
          <p:cNvSpPr/>
          <p:nvPr/>
        </p:nvSpPr>
        <p:spPr>
          <a:xfrm>
            <a:off x="3827748" y="5916671"/>
            <a:ext cx="1584176" cy="913948"/>
          </a:xfrm>
          <a:prstGeom prst="flowChartDecision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Possui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2E6CDE5-C007-7977-20E4-85689DE5938C}"/>
              </a:ext>
            </a:extLst>
          </p:cNvPr>
          <p:cNvCxnSpPr>
            <a:stCxn id="8" idx="3"/>
            <a:endCxn id="19" idx="1"/>
          </p:cNvCxnSpPr>
          <p:nvPr/>
        </p:nvCxnSpPr>
        <p:spPr>
          <a:xfrm>
            <a:off x="2927648" y="6351541"/>
            <a:ext cx="900100" cy="221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A640AE7-89F9-4EC1-3C22-E8918345F21F}"/>
              </a:ext>
            </a:extLst>
          </p:cNvPr>
          <p:cNvCxnSpPr>
            <a:stCxn id="19" idx="3"/>
            <a:endCxn id="13" idx="1"/>
          </p:cNvCxnSpPr>
          <p:nvPr/>
        </p:nvCxnSpPr>
        <p:spPr>
          <a:xfrm flipV="1">
            <a:off x="5411924" y="6356350"/>
            <a:ext cx="900100" cy="17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C9C2720-F0B2-0095-9A49-BC6485DC68CE}"/>
              </a:ext>
            </a:extLst>
          </p:cNvPr>
          <p:cNvSpPr txBox="1"/>
          <p:nvPr/>
        </p:nvSpPr>
        <p:spPr>
          <a:xfrm>
            <a:off x="5180745" y="4308678"/>
            <a:ext cx="2484276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Nome age como atributo </a:t>
            </a:r>
            <a:r>
              <a:rPr lang="pt-BR" b="1" dirty="0">
                <a:solidFill>
                  <a:srgbClr val="FF0000"/>
                </a:solidFill>
              </a:rPr>
              <a:t>discriminatório</a:t>
            </a:r>
            <a:r>
              <a:rPr lang="pt-BR" dirty="0"/>
              <a:t>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5BFEE97-E0B3-9FAD-2F06-6D88E75775DA}"/>
              </a:ext>
            </a:extLst>
          </p:cNvPr>
          <p:cNvSpPr txBox="1"/>
          <p:nvPr/>
        </p:nvSpPr>
        <p:spPr>
          <a:xfrm>
            <a:off x="9203718" y="4430633"/>
            <a:ext cx="2864482" cy="23083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Entidade Forte</a:t>
            </a:r>
            <a:r>
              <a:rPr lang="pt-BR" dirty="0"/>
              <a:t>: Funcionário (com a chave primária </a:t>
            </a:r>
            <a:r>
              <a:rPr lang="pt-BR" dirty="0" err="1"/>
              <a:t>cpf</a:t>
            </a:r>
            <a:r>
              <a:rPr lang="pt-BR" dirty="0"/>
              <a:t>)</a:t>
            </a:r>
          </a:p>
          <a:p>
            <a:r>
              <a:rPr lang="pt-BR" dirty="0">
                <a:solidFill>
                  <a:srgbClr val="C00000"/>
                </a:solidFill>
              </a:rPr>
              <a:t>Entidade Fraca</a:t>
            </a:r>
            <a:r>
              <a:rPr lang="pt-BR" dirty="0"/>
              <a:t>: Dependente (com a chave parcial </a:t>
            </a:r>
            <a:r>
              <a:rPr lang="pt-BR" dirty="0" err="1"/>
              <a:t>nome_dependente</a:t>
            </a:r>
            <a:r>
              <a:rPr lang="pt-BR" dirty="0"/>
              <a:t>)</a:t>
            </a:r>
          </a:p>
          <a:p>
            <a:r>
              <a:rPr lang="pt-BR" dirty="0">
                <a:solidFill>
                  <a:srgbClr val="C00000"/>
                </a:solidFill>
              </a:rPr>
              <a:t>Chave Primária de Dependente</a:t>
            </a:r>
            <a:r>
              <a:rPr lang="pt-BR" dirty="0"/>
              <a:t>: (</a:t>
            </a:r>
            <a:r>
              <a:rPr lang="pt-BR" dirty="0" err="1"/>
              <a:t>cpf</a:t>
            </a:r>
            <a:r>
              <a:rPr lang="pt-BR" dirty="0"/>
              <a:t>, nome dependente)</a:t>
            </a:r>
          </a:p>
        </p:txBody>
      </p:sp>
    </p:spTree>
    <p:extLst>
      <p:ext uri="{BB962C8B-B14F-4D97-AF65-F5344CB8AC3E}">
        <p14:creationId xmlns:p14="http://schemas.microsoft.com/office/powerpoint/2010/main" val="168377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Atributos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30394"/>
            <a:ext cx="10363200" cy="2169412"/>
          </a:xfrm>
        </p:spPr>
        <p:txBody>
          <a:bodyPr>
            <a:noAutofit/>
          </a:bodyPr>
          <a:lstStyle/>
          <a:p>
            <a:r>
              <a:rPr lang="pt-BR" dirty="0"/>
              <a:t>Uma </a:t>
            </a:r>
            <a:r>
              <a:rPr lang="pt-BR" dirty="0">
                <a:solidFill>
                  <a:srgbClr val="C00000"/>
                </a:solidFill>
              </a:rPr>
              <a:t>Entidade</a:t>
            </a:r>
            <a:r>
              <a:rPr lang="pt-BR" dirty="0"/>
              <a:t> é caracterizada por um conjunto de propriedades chamados </a:t>
            </a:r>
            <a:r>
              <a:rPr lang="pt-BR" dirty="0">
                <a:solidFill>
                  <a:srgbClr val="C00000"/>
                </a:solidFill>
              </a:rPr>
              <a:t>Atributos</a:t>
            </a:r>
          </a:p>
          <a:p>
            <a:pPr lvl="1"/>
            <a:r>
              <a:rPr lang="pt-BR" dirty="0">
                <a:solidFill>
                  <a:srgbClr val="222222"/>
                </a:solidFill>
                <a:latin typeface="Roboto" panose="02000000000000000000" pitchFamily="2" charset="0"/>
              </a:rPr>
              <a:t>É fundamental entender que não existem entidades sem atributos, pois são estes que os definem.</a:t>
            </a:r>
            <a:endParaRPr lang="pt-BR" dirty="0"/>
          </a:p>
          <a:p>
            <a:r>
              <a:rPr lang="pt-BR" dirty="0"/>
              <a:t>Atributos são representados por </a:t>
            </a:r>
            <a:r>
              <a:rPr lang="pt-BR" dirty="0">
                <a:solidFill>
                  <a:srgbClr val="C00000"/>
                </a:solidFill>
              </a:rPr>
              <a:t>círculos</a:t>
            </a:r>
            <a:r>
              <a:rPr lang="pt-BR" dirty="0"/>
              <a:t> ligados a uma Entidade (notação E-R) 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2E7D134-DD85-4937-8676-A778A5020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4384356"/>
            <a:ext cx="6372885" cy="1852956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5326B193-ABEF-42A7-B8E5-1DF70C049155}"/>
              </a:ext>
            </a:extLst>
          </p:cNvPr>
          <p:cNvSpPr txBox="1"/>
          <p:nvPr/>
        </p:nvSpPr>
        <p:spPr>
          <a:xfrm>
            <a:off x="7968208" y="3699806"/>
            <a:ext cx="3959308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/>
              <a:t>Os atributos são acompanhados por dois valores entre parênteses: o primeiro informa se o atributo é opcional (valor 0) ou obrigatório (valor 1); o segundo diz respeito ao fato de ser mono (valor 1) ou multivalorado (valor N &gt; 1).</a:t>
            </a:r>
          </a:p>
          <a:p>
            <a:r>
              <a:rPr lang="pt-BR" sz="2000" dirty="0"/>
              <a:t>Por padrão os atributos são obrigatórios e </a:t>
            </a:r>
            <a:r>
              <a:rPr lang="pt-BR" sz="2000" dirty="0" err="1"/>
              <a:t>monovalorados</a:t>
            </a:r>
            <a:endParaRPr lang="pt-BR" sz="20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0F13E09-FB7E-401A-BFB6-BB98F474F0A3}"/>
              </a:ext>
            </a:extLst>
          </p:cNvPr>
          <p:cNvSpPr txBox="1"/>
          <p:nvPr/>
        </p:nvSpPr>
        <p:spPr>
          <a:xfrm>
            <a:off x="7824192" y="5229200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585219F-71C6-0833-0C8A-AF89770950B1}"/>
              </a:ext>
            </a:extLst>
          </p:cNvPr>
          <p:cNvSpPr txBox="1"/>
          <p:nvPr/>
        </p:nvSpPr>
        <p:spPr>
          <a:xfrm>
            <a:off x="252362" y="6365688"/>
            <a:ext cx="7848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Textual: </a:t>
            </a:r>
            <a:r>
              <a:rPr lang="pt-BR" sz="1600" dirty="0">
                <a:solidFill>
                  <a:srgbClr val="C00000"/>
                </a:solidFill>
              </a:rPr>
              <a:t> Medico(</a:t>
            </a:r>
            <a:r>
              <a:rPr lang="pt-BR" sz="1600" u="sng" dirty="0">
                <a:solidFill>
                  <a:srgbClr val="C00000"/>
                </a:solidFill>
              </a:rPr>
              <a:t>CPF</a:t>
            </a:r>
            <a:r>
              <a:rPr lang="pt-BR" sz="1600" dirty="0">
                <a:solidFill>
                  <a:srgbClr val="C00000"/>
                </a:solidFill>
              </a:rPr>
              <a:t>, nome, cidade, estado)      </a:t>
            </a:r>
            <a:r>
              <a:rPr lang="pt-BR" sz="1600" dirty="0" err="1">
                <a:solidFill>
                  <a:srgbClr val="C00000"/>
                </a:solidFill>
              </a:rPr>
              <a:t>Ambulatorio</a:t>
            </a:r>
            <a:r>
              <a:rPr lang="pt-BR" sz="1600" dirty="0">
                <a:solidFill>
                  <a:srgbClr val="C00000"/>
                </a:solidFill>
              </a:rPr>
              <a:t>: (</a:t>
            </a:r>
            <a:r>
              <a:rPr lang="pt-BR" sz="1600" dirty="0" err="1">
                <a:solidFill>
                  <a:srgbClr val="C00000"/>
                </a:solidFill>
              </a:rPr>
              <a:t>Amb_id</a:t>
            </a:r>
            <a:r>
              <a:rPr lang="pt-BR" sz="1600" dirty="0">
                <a:solidFill>
                  <a:srgbClr val="C00000"/>
                </a:solidFill>
              </a:rPr>
              <a:t>, Andar, Capacidade)</a:t>
            </a:r>
          </a:p>
        </p:txBody>
      </p:sp>
    </p:spTree>
    <p:extLst>
      <p:ext uri="{BB962C8B-B14F-4D97-AF65-F5344CB8AC3E}">
        <p14:creationId xmlns:p14="http://schemas.microsoft.com/office/powerpoint/2010/main" val="189385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30A94-86CA-06F9-F138-6AD77110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BBC5B4-6712-6764-F2C9-F978F1D67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6F20368-2095-CB01-3824-234B8879A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DB276D9-5681-5878-CC3F-51D03EC26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201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Simples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Compostos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 err="1"/>
              <a:t>Monovalorado</a:t>
            </a:r>
            <a:r>
              <a:rPr lang="pt-BR" sz="2400" dirty="0"/>
              <a:t> x Multivalorados</a:t>
            </a:r>
          </a:p>
          <a:p>
            <a:endParaRPr lang="pt-BR" sz="2400" dirty="0"/>
          </a:p>
        </p:txBody>
      </p:sp>
      <p:sp>
        <p:nvSpPr>
          <p:cNvPr id="32" name="Espaço Reservado para Conteúdo 31"/>
          <p:cNvSpPr>
            <a:spLocks noGrp="1"/>
          </p:cNvSpPr>
          <p:nvPr>
            <p:ph sz="half" idx="2"/>
          </p:nvPr>
        </p:nvSpPr>
        <p:spPr>
          <a:xfrm>
            <a:off x="6850633" y="1825624"/>
            <a:ext cx="5181600" cy="4351338"/>
          </a:xfrm>
        </p:spPr>
        <p:txBody>
          <a:bodyPr>
            <a:normAutofit/>
          </a:bodyPr>
          <a:lstStyle/>
          <a:p>
            <a:r>
              <a:rPr lang="pt-BR" sz="2400" dirty="0"/>
              <a:t>Derivado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Identificador ou Chave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Discriminador</a:t>
            </a:r>
          </a:p>
          <a:p>
            <a:pPr marL="457200" lvl="1" indent="0">
              <a:buNone/>
            </a:pPr>
            <a:endParaRPr lang="pt-BR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28</a:t>
            </a:fld>
            <a:endParaRPr lang="en-US" dirty="0"/>
          </a:p>
        </p:txBody>
      </p:sp>
      <p:grpSp>
        <p:nvGrpSpPr>
          <p:cNvPr id="11" name="Agrupar 10"/>
          <p:cNvGrpSpPr/>
          <p:nvPr/>
        </p:nvGrpSpPr>
        <p:grpSpPr>
          <a:xfrm>
            <a:off x="2279576" y="2132856"/>
            <a:ext cx="3888432" cy="576064"/>
            <a:chOff x="2279576" y="2132856"/>
            <a:chExt cx="3888432" cy="576064"/>
          </a:xfrm>
        </p:grpSpPr>
        <p:sp>
          <p:nvSpPr>
            <p:cNvPr id="8" name="Retângulo 7"/>
            <p:cNvSpPr/>
            <p:nvPr/>
          </p:nvSpPr>
          <p:spPr>
            <a:xfrm>
              <a:off x="2279576" y="2132856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medico</a:t>
              </a:r>
            </a:p>
          </p:txBody>
        </p:sp>
        <p:sp>
          <p:nvSpPr>
            <p:cNvPr id="7" name="Elipse 6"/>
            <p:cNvSpPr/>
            <p:nvPr/>
          </p:nvSpPr>
          <p:spPr>
            <a:xfrm>
              <a:off x="4799856" y="2132856"/>
              <a:ext cx="1368152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Nome</a:t>
              </a:r>
            </a:p>
          </p:txBody>
        </p:sp>
        <p:cxnSp>
          <p:nvCxnSpPr>
            <p:cNvPr id="10" name="Conector reto 9"/>
            <p:cNvCxnSpPr>
              <a:stCxn id="8" idx="3"/>
              <a:endCxn id="7" idx="2"/>
            </p:cNvCxnSpPr>
            <p:nvPr/>
          </p:nvCxnSpPr>
          <p:spPr>
            <a:xfrm flipV="1">
              <a:off x="3863752" y="2418595"/>
              <a:ext cx="936104" cy="229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aixaDeTexto 36"/>
          <p:cNvSpPr txBox="1"/>
          <p:nvPr/>
        </p:nvSpPr>
        <p:spPr>
          <a:xfrm>
            <a:off x="7104562" y="5592187"/>
            <a:ext cx="2991072" cy="5847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600" dirty="0"/>
              <a:t>Identifica uma instância especifica numa entidade Fraca</a:t>
            </a:r>
          </a:p>
        </p:txBody>
      </p:sp>
      <p:grpSp>
        <p:nvGrpSpPr>
          <p:cNvPr id="9" name="Agrupar 8"/>
          <p:cNvGrpSpPr/>
          <p:nvPr/>
        </p:nvGrpSpPr>
        <p:grpSpPr>
          <a:xfrm>
            <a:off x="915593" y="3140968"/>
            <a:ext cx="5252415" cy="1888596"/>
            <a:chOff x="915593" y="3140968"/>
            <a:chExt cx="5252415" cy="1888596"/>
          </a:xfrm>
        </p:grpSpPr>
        <p:sp>
          <p:nvSpPr>
            <p:cNvPr id="12" name="Retângulo 11"/>
            <p:cNvSpPr/>
            <p:nvPr/>
          </p:nvSpPr>
          <p:spPr>
            <a:xfrm>
              <a:off x="915593" y="3776331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medico</a:t>
              </a:r>
            </a:p>
          </p:txBody>
        </p:sp>
        <p:sp>
          <p:nvSpPr>
            <p:cNvPr id="13" name="Elipse 12"/>
            <p:cNvSpPr/>
            <p:nvPr/>
          </p:nvSpPr>
          <p:spPr>
            <a:xfrm>
              <a:off x="4799856" y="3140968"/>
              <a:ext cx="1368152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rua</a:t>
              </a:r>
            </a:p>
          </p:txBody>
        </p:sp>
        <p:sp>
          <p:nvSpPr>
            <p:cNvPr id="14" name="Elipse 13"/>
            <p:cNvSpPr/>
            <p:nvPr/>
          </p:nvSpPr>
          <p:spPr>
            <a:xfrm>
              <a:off x="4799856" y="3799527"/>
              <a:ext cx="1368152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numero</a:t>
              </a:r>
            </a:p>
          </p:txBody>
        </p:sp>
        <p:sp>
          <p:nvSpPr>
            <p:cNvPr id="15" name="Elipse 14"/>
            <p:cNvSpPr/>
            <p:nvPr/>
          </p:nvSpPr>
          <p:spPr>
            <a:xfrm>
              <a:off x="4832048" y="4458086"/>
              <a:ext cx="1335960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bairro</a:t>
              </a:r>
            </a:p>
          </p:txBody>
        </p:sp>
        <p:cxnSp>
          <p:nvCxnSpPr>
            <p:cNvPr id="16" name="Conector reto 15"/>
            <p:cNvCxnSpPr>
              <a:endCxn id="13" idx="2"/>
            </p:cNvCxnSpPr>
            <p:nvPr/>
          </p:nvCxnSpPr>
          <p:spPr>
            <a:xfrm flipV="1">
              <a:off x="3647728" y="3426707"/>
              <a:ext cx="1152128" cy="69924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>
              <a:endCxn id="14" idx="2"/>
            </p:cNvCxnSpPr>
            <p:nvPr/>
          </p:nvCxnSpPr>
          <p:spPr>
            <a:xfrm flipV="1">
              <a:off x="3668726" y="4085266"/>
              <a:ext cx="1131130" cy="1662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>
              <a:endCxn id="15" idx="2"/>
            </p:cNvCxnSpPr>
            <p:nvPr/>
          </p:nvCxnSpPr>
          <p:spPr>
            <a:xfrm>
              <a:off x="3668726" y="4137989"/>
              <a:ext cx="1163322" cy="6058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Elipse 24"/>
            <p:cNvSpPr/>
            <p:nvPr/>
          </p:nvSpPr>
          <p:spPr>
            <a:xfrm>
              <a:off x="2888977" y="3834199"/>
              <a:ext cx="1563178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endereço</a:t>
              </a:r>
            </a:p>
          </p:txBody>
        </p:sp>
        <p:cxnSp>
          <p:nvCxnSpPr>
            <p:cNvPr id="29" name="Conector reto 28"/>
            <p:cNvCxnSpPr>
              <a:endCxn id="25" idx="2"/>
            </p:cNvCxnSpPr>
            <p:nvPr/>
          </p:nvCxnSpPr>
          <p:spPr>
            <a:xfrm flipV="1">
              <a:off x="2503961" y="4119938"/>
              <a:ext cx="385016" cy="861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aixaDeTexto 30"/>
          <p:cNvSpPr txBox="1"/>
          <p:nvPr/>
        </p:nvSpPr>
        <p:spPr>
          <a:xfrm>
            <a:off x="7115064" y="4321891"/>
            <a:ext cx="2991072" cy="58477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600" dirty="0"/>
              <a:t>Identifica uma instância especifica numa entidade Forte</a:t>
            </a:r>
          </a:p>
        </p:txBody>
      </p:sp>
      <p:grpSp>
        <p:nvGrpSpPr>
          <p:cNvPr id="22" name="Agrupar 21"/>
          <p:cNvGrpSpPr/>
          <p:nvPr/>
        </p:nvGrpSpPr>
        <p:grpSpPr>
          <a:xfrm>
            <a:off x="2063552" y="5517232"/>
            <a:ext cx="4274112" cy="1293851"/>
            <a:chOff x="2063552" y="5517232"/>
            <a:chExt cx="4274112" cy="1293851"/>
          </a:xfrm>
        </p:grpSpPr>
        <p:sp>
          <p:nvSpPr>
            <p:cNvPr id="26" name="Retângulo 25"/>
            <p:cNvSpPr/>
            <p:nvPr/>
          </p:nvSpPr>
          <p:spPr>
            <a:xfrm>
              <a:off x="2063552" y="5517232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Paciente</a:t>
              </a:r>
            </a:p>
          </p:txBody>
        </p:sp>
        <p:sp>
          <p:nvSpPr>
            <p:cNvPr id="27" name="Elipse 26"/>
            <p:cNvSpPr/>
            <p:nvPr/>
          </p:nvSpPr>
          <p:spPr>
            <a:xfrm>
              <a:off x="4753488" y="5517232"/>
              <a:ext cx="1584176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50800" cmpd="db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*</a:t>
              </a:r>
              <a:r>
                <a:rPr lang="pt-BR" dirty="0" err="1">
                  <a:solidFill>
                    <a:schemeClr val="dk1"/>
                  </a:solidFill>
                </a:rPr>
                <a:t>Doenca</a:t>
              </a:r>
              <a:endParaRPr lang="pt-BR" dirty="0">
                <a:solidFill>
                  <a:schemeClr val="dk1"/>
                </a:solidFill>
              </a:endParaRPr>
            </a:p>
          </p:txBody>
        </p:sp>
        <p:cxnSp>
          <p:nvCxnSpPr>
            <p:cNvPr id="28" name="Conector reto 27"/>
            <p:cNvCxnSpPr>
              <a:stCxn id="26" idx="3"/>
              <a:endCxn id="27" idx="2"/>
            </p:cNvCxnSpPr>
            <p:nvPr/>
          </p:nvCxnSpPr>
          <p:spPr>
            <a:xfrm flipV="1">
              <a:off x="3647728" y="5802971"/>
              <a:ext cx="1105760" cy="2293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Elipse 38"/>
            <p:cNvSpPr/>
            <p:nvPr/>
          </p:nvSpPr>
          <p:spPr>
            <a:xfrm>
              <a:off x="4861500" y="6239605"/>
              <a:ext cx="1368152" cy="57147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dk1"/>
                  </a:solidFill>
                </a:rPr>
                <a:t>Nome</a:t>
              </a:r>
            </a:p>
          </p:txBody>
        </p:sp>
        <p:cxnSp>
          <p:nvCxnSpPr>
            <p:cNvPr id="40" name="Conector reto 39"/>
            <p:cNvCxnSpPr>
              <a:endCxn id="39" idx="2"/>
            </p:cNvCxnSpPr>
            <p:nvPr/>
          </p:nvCxnSpPr>
          <p:spPr>
            <a:xfrm>
              <a:off x="3668726" y="5990720"/>
              <a:ext cx="1192774" cy="53462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tângulo 41"/>
          <p:cNvSpPr/>
          <p:nvPr/>
        </p:nvSpPr>
        <p:spPr>
          <a:xfrm>
            <a:off x="7429636" y="2478697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43" name="Elipse 42"/>
          <p:cNvSpPr/>
          <p:nvPr/>
        </p:nvSpPr>
        <p:spPr>
          <a:xfrm>
            <a:off x="9981456" y="3121914"/>
            <a:ext cx="1368152" cy="57147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Nome</a:t>
            </a:r>
          </a:p>
        </p:txBody>
      </p:sp>
      <p:cxnSp>
        <p:nvCxnSpPr>
          <p:cNvPr id="44" name="Conector reto 43"/>
          <p:cNvCxnSpPr>
            <a:stCxn id="42" idx="3"/>
            <a:endCxn id="43" idx="2"/>
          </p:cNvCxnSpPr>
          <p:nvPr/>
        </p:nvCxnSpPr>
        <p:spPr>
          <a:xfrm>
            <a:off x="9013812" y="2766729"/>
            <a:ext cx="967644" cy="64092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/>
          <p:cNvSpPr/>
          <p:nvPr/>
        </p:nvSpPr>
        <p:spPr>
          <a:xfrm>
            <a:off x="10019710" y="2294138"/>
            <a:ext cx="1368152" cy="571478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dk1"/>
                </a:solidFill>
              </a:rPr>
              <a:t>Nascim</a:t>
            </a:r>
            <a:endParaRPr lang="pt-BR" dirty="0">
              <a:solidFill>
                <a:schemeClr val="dk1"/>
              </a:solidFill>
            </a:endParaRPr>
          </a:p>
        </p:txBody>
      </p:sp>
      <p:cxnSp>
        <p:nvCxnSpPr>
          <p:cNvPr id="46" name="Conector reto 45"/>
          <p:cNvCxnSpPr>
            <a:stCxn id="42" idx="3"/>
            <a:endCxn id="45" idx="2"/>
          </p:cNvCxnSpPr>
          <p:nvPr/>
        </p:nvCxnSpPr>
        <p:spPr>
          <a:xfrm flipV="1">
            <a:off x="9013812" y="2579877"/>
            <a:ext cx="1005898" cy="18685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/>
          <p:cNvSpPr/>
          <p:nvPr/>
        </p:nvSpPr>
        <p:spPr>
          <a:xfrm>
            <a:off x="9981456" y="1512769"/>
            <a:ext cx="1368152" cy="5714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dk1"/>
                </a:solidFill>
              </a:rPr>
              <a:t>Idade</a:t>
            </a:r>
          </a:p>
        </p:txBody>
      </p:sp>
      <p:cxnSp>
        <p:nvCxnSpPr>
          <p:cNvPr id="48" name="Conector reto 47"/>
          <p:cNvCxnSpPr>
            <a:stCxn id="42" idx="3"/>
            <a:endCxn id="47" idx="2"/>
          </p:cNvCxnSpPr>
          <p:nvPr/>
        </p:nvCxnSpPr>
        <p:spPr>
          <a:xfrm flipV="1">
            <a:off x="9013812" y="1798508"/>
            <a:ext cx="967644" cy="96822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71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2" grpId="0" uiExpand="1" build="p"/>
      <p:bldP spid="37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95118"/>
            <a:ext cx="10363200" cy="791472"/>
          </a:xfrm>
        </p:spPr>
        <p:txBody>
          <a:bodyPr>
            <a:noAutofit/>
          </a:bodyPr>
          <a:lstStyle/>
          <a:p>
            <a:r>
              <a:rPr lang="pt-BR" dirty="0"/>
              <a:t>A </a:t>
            </a:r>
            <a:r>
              <a:rPr lang="pt-BR" dirty="0">
                <a:solidFill>
                  <a:srgbClr val="C00000"/>
                </a:solidFill>
              </a:rPr>
              <a:t>chave</a:t>
            </a:r>
            <a:r>
              <a:rPr lang="pt-BR" dirty="0"/>
              <a:t> é um </a:t>
            </a:r>
            <a:r>
              <a:rPr lang="pt-BR" dirty="0">
                <a:solidFill>
                  <a:srgbClr val="C00000"/>
                </a:solidFill>
              </a:rPr>
              <a:t>conjunto mínimo </a:t>
            </a:r>
            <a:r>
              <a:rPr lang="pt-BR" dirty="0"/>
              <a:t>de atributos que </a:t>
            </a:r>
            <a:r>
              <a:rPr lang="pt-BR" dirty="0">
                <a:solidFill>
                  <a:srgbClr val="C00000"/>
                </a:solidFill>
              </a:rPr>
              <a:t>identifica</a:t>
            </a:r>
            <a:r>
              <a:rPr lang="pt-BR" dirty="0"/>
              <a:t> uma entidade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4CD00-30DF-8443-816B-88C3C65D8B9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120946" y="2173544"/>
            <a:ext cx="3384376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1800" dirty="0">
                <a:solidFill>
                  <a:schemeClr val="tx1"/>
                </a:solidFill>
              </a:rPr>
              <a:t>Denota-se os elementos da </a:t>
            </a:r>
            <a:r>
              <a:rPr lang="pt-BR" sz="1800" b="1" dirty="0">
                <a:solidFill>
                  <a:schemeClr val="tx1"/>
                </a:solidFill>
              </a:rPr>
              <a:t>chave primária </a:t>
            </a:r>
            <a:r>
              <a:rPr lang="pt-BR" sz="1800" dirty="0">
                <a:solidFill>
                  <a:schemeClr val="tx1"/>
                </a:solidFill>
              </a:rPr>
              <a:t>com circulo preto ou </a:t>
            </a:r>
            <a:r>
              <a:rPr lang="pt-BR" sz="1800" b="1" u="sng" dirty="0">
                <a:solidFill>
                  <a:schemeClr val="tx1"/>
                </a:solidFill>
              </a:rPr>
              <a:t>sublinhado</a:t>
            </a:r>
            <a:r>
              <a:rPr lang="pt-BR" sz="1800" dirty="0">
                <a:solidFill>
                  <a:schemeClr val="tx1"/>
                </a:solidFill>
              </a:rPr>
              <a:t>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9456" y="5988993"/>
            <a:ext cx="692149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+mj-lt"/>
              </a:rPr>
              <a:t>O modelo E/R nos obriga a designar uma única chave primária, embora possa haver várias chaves candidatas</a:t>
            </a:r>
            <a:endParaRPr lang="en-US" sz="2000" dirty="0">
              <a:latin typeface="+mj-lt"/>
            </a:endParaRPr>
          </a:p>
        </p:txBody>
      </p:sp>
      <p:sp>
        <p:nvSpPr>
          <p:cNvPr id="20" name="TextBox 12"/>
          <p:cNvSpPr txBox="1"/>
          <p:nvPr/>
        </p:nvSpPr>
        <p:spPr>
          <a:xfrm>
            <a:off x="1199456" y="3963084"/>
            <a:ext cx="3960440" cy="132343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2000" dirty="0"/>
              <a:t>Em </a:t>
            </a:r>
            <a:r>
              <a:rPr lang="pt-BR" sz="2000" b="1" dirty="0"/>
              <a:t>entidades fracas </a:t>
            </a:r>
            <a:r>
              <a:rPr lang="pt-BR" sz="2000" dirty="0"/>
              <a:t>o atributo chave é chamado de </a:t>
            </a:r>
            <a:r>
              <a:rPr lang="pt-BR" sz="2000" b="1" dirty="0"/>
              <a:t>discriminador</a:t>
            </a:r>
            <a:r>
              <a:rPr lang="pt-BR" sz="2000" dirty="0"/>
              <a:t>, porque ele sozinho não é capaz de identificar unicamente a entidade </a:t>
            </a:r>
            <a:endParaRPr lang="en-US" sz="2000" dirty="0"/>
          </a:p>
        </p:txBody>
      </p:sp>
      <p:sp>
        <p:nvSpPr>
          <p:cNvPr id="21" name="TextBox 12"/>
          <p:cNvSpPr txBox="1"/>
          <p:nvPr/>
        </p:nvSpPr>
        <p:spPr>
          <a:xfrm>
            <a:off x="1199455" y="2618086"/>
            <a:ext cx="3676955" cy="7078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2000" dirty="0"/>
              <a:t>Em </a:t>
            </a:r>
            <a:r>
              <a:rPr lang="pt-BR" sz="2000" b="1" dirty="0"/>
              <a:t>entidades</a:t>
            </a:r>
            <a:r>
              <a:rPr lang="pt-BR" sz="2000" dirty="0"/>
              <a:t> </a:t>
            </a:r>
            <a:r>
              <a:rPr lang="pt-BR" sz="2000" b="1" dirty="0"/>
              <a:t>fortes</a:t>
            </a:r>
            <a:r>
              <a:rPr lang="pt-BR" sz="2000" dirty="0"/>
              <a:t>, a </a:t>
            </a:r>
            <a:r>
              <a:rPr lang="pt-BR" sz="2000" b="1" dirty="0"/>
              <a:t>chave primária </a:t>
            </a:r>
            <a:r>
              <a:rPr lang="pt-BR" sz="2000" dirty="0"/>
              <a:t>identifica uma entidade.</a:t>
            </a:r>
            <a:endParaRPr lang="en-US" sz="2000" dirty="0"/>
          </a:p>
        </p:txBody>
      </p:sp>
      <p:sp>
        <p:nvSpPr>
          <p:cNvPr id="5" name="Seta Dobrada 4"/>
          <p:cNvSpPr/>
          <p:nvPr/>
        </p:nvSpPr>
        <p:spPr>
          <a:xfrm rot="16200000" flipH="1">
            <a:off x="6544081" y="1684774"/>
            <a:ext cx="548749" cy="1732944"/>
          </a:xfrm>
          <a:prstGeom prst="bentArrow">
            <a:avLst/>
          </a:prstGeom>
          <a:solidFill>
            <a:srgbClr val="8CA1D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8144479" y="4900636"/>
            <a:ext cx="3767960" cy="92333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O discriminador de uma entidade fraca é um conjunto de atributos que permite que a distinção entre </a:t>
            </a:r>
            <a:r>
              <a:rPr lang="pt-BR" dirty="0" err="1"/>
              <a:t>tuplas</a:t>
            </a: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20FBF59-48D8-47B6-B162-6F05D816E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2345" y="2825832"/>
            <a:ext cx="2558461" cy="236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94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20" grpId="0" animBg="1"/>
      <p:bldP spid="21" grpId="0" animBg="1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40B9B-FA3B-04BB-21D9-E98C1486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Entidades e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986DD-DC69-2E6B-A73A-392B5C390A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Imagine um sistema de controle de funcionários para uma empresa.</a:t>
            </a:r>
          </a:p>
          <a:p>
            <a:endParaRPr lang="pt-BR" dirty="0"/>
          </a:p>
          <a:p>
            <a:r>
              <a:rPr lang="pt-BR" b="1" dirty="0"/>
              <a:t>Entidades</a:t>
            </a:r>
            <a:r>
              <a:rPr lang="pt-BR" dirty="0"/>
              <a:t>: </a:t>
            </a:r>
            <a:r>
              <a:rPr lang="pt-BR" dirty="0" err="1"/>
              <a:t>Funcionario</a:t>
            </a:r>
            <a:r>
              <a:rPr lang="pt-BR" dirty="0"/>
              <a:t>, Departamento, Projeto.</a:t>
            </a:r>
          </a:p>
          <a:p>
            <a:r>
              <a:rPr lang="pt-BR" b="1" dirty="0"/>
              <a:t>Atributos de </a:t>
            </a:r>
            <a:r>
              <a:rPr lang="pt-BR" b="1" dirty="0" err="1"/>
              <a:t>Funcionario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cpf</a:t>
            </a:r>
            <a:r>
              <a:rPr lang="pt-BR" dirty="0"/>
              <a:t> (PK - Chave Primária)</a:t>
            </a:r>
          </a:p>
          <a:p>
            <a:pPr lvl="1"/>
            <a:r>
              <a:rPr lang="pt-BR" dirty="0"/>
              <a:t>nome</a:t>
            </a:r>
          </a:p>
          <a:p>
            <a:pPr lvl="1"/>
            <a:r>
              <a:rPr lang="pt-BR" dirty="0" err="1"/>
              <a:t>data_contratacao</a:t>
            </a:r>
            <a:endParaRPr lang="pt-BR" dirty="0"/>
          </a:p>
          <a:p>
            <a:pPr lvl="1"/>
            <a:r>
              <a:rPr lang="pt-BR" dirty="0"/>
              <a:t>salario</a:t>
            </a:r>
          </a:p>
          <a:p>
            <a:pPr lvl="1"/>
            <a:r>
              <a:rPr lang="pt-BR" dirty="0" err="1"/>
              <a:t>email</a:t>
            </a:r>
            <a:endParaRPr lang="pt-BR" dirty="0"/>
          </a:p>
          <a:p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A0DBD4-ADA6-2704-8C07-0D460ED66C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Atributos de Departamento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codigo_depto</a:t>
            </a:r>
            <a:r>
              <a:rPr lang="pt-BR" dirty="0"/>
              <a:t> (PK)</a:t>
            </a:r>
          </a:p>
          <a:p>
            <a:pPr lvl="1"/>
            <a:r>
              <a:rPr lang="pt-BR" dirty="0" err="1"/>
              <a:t>nome_depto</a:t>
            </a:r>
            <a:endParaRPr lang="pt-BR" dirty="0"/>
          </a:p>
          <a:p>
            <a:pPr lvl="1"/>
            <a:r>
              <a:rPr lang="pt-BR" dirty="0" err="1"/>
              <a:t>localizacao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Atributos de Projeto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id_projeto</a:t>
            </a:r>
            <a:r>
              <a:rPr lang="pt-BR" dirty="0"/>
              <a:t> (PK)</a:t>
            </a:r>
          </a:p>
          <a:p>
            <a:pPr lvl="1"/>
            <a:r>
              <a:rPr lang="pt-BR" dirty="0" err="1"/>
              <a:t>nome_projeto</a:t>
            </a:r>
            <a:endParaRPr lang="pt-BR" dirty="0"/>
          </a:p>
          <a:p>
            <a:pPr lvl="1"/>
            <a:r>
              <a:rPr lang="pt-BR" dirty="0" err="1"/>
              <a:t>data_inicio</a:t>
            </a:r>
            <a:endParaRPr lang="pt-BR" dirty="0"/>
          </a:p>
          <a:p>
            <a:pPr lvl="1"/>
            <a:r>
              <a:rPr lang="pt-BR" dirty="0" err="1"/>
              <a:t>data_fim_prevista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DAC68F-9196-337F-E915-306833D3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C28DE7-3E53-54FE-072E-BD5267EF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340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“R” no E/R: Relacionamento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298" y="1484784"/>
            <a:ext cx="10666301" cy="4050792"/>
          </a:xfrm>
        </p:spPr>
        <p:txBody>
          <a:bodyPr>
            <a:normAutofit/>
          </a:bodyPr>
          <a:lstStyle/>
          <a:p>
            <a:r>
              <a:rPr lang="pt-BR" dirty="0"/>
              <a:t>O conceito de Entidades é insuficiente para representar as regras e processos no mundo real – Há </a:t>
            </a:r>
            <a:r>
              <a:rPr lang="pt-BR" sz="2800" dirty="0"/>
              <a:t>interação entre elas!</a:t>
            </a:r>
          </a:p>
          <a:p>
            <a:r>
              <a:rPr lang="pt-BR" dirty="0">
                <a:solidFill>
                  <a:srgbClr val="C00000"/>
                </a:solidFill>
              </a:rPr>
              <a:t>Relacionamentos representam as associações existentes entre as entidades</a:t>
            </a:r>
          </a:p>
          <a:p>
            <a:r>
              <a:rPr lang="pt-BR" dirty="0"/>
              <a:t>No modelo E-R estas interações são representadas através de </a:t>
            </a:r>
            <a:r>
              <a:rPr lang="pt-BR" dirty="0">
                <a:solidFill>
                  <a:srgbClr val="C00000"/>
                </a:solidFill>
              </a:rPr>
              <a:t>Relações</a:t>
            </a:r>
          </a:p>
          <a:p>
            <a:r>
              <a:rPr lang="pt-BR" dirty="0"/>
              <a:t>No DER é representado como um losango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32304" y="6350763"/>
            <a:ext cx="2743200" cy="365125"/>
          </a:xfrm>
        </p:spPr>
        <p:txBody>
          <a:bodyPr/>
          <a:lstStyle/>
          <a:p>
            <a:fld id="{C3D4CD00-30DF-8443-816B-88C3C65D8B99}" type="slidenum">
              <a:rPr lang="pt-BR" smtClean="0"/>
              <a:pPr/>
              <a:t>31</a:t>
            </a:fld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2366653" y="552790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9" name="Retângulo 8"/>
          <p:cNvSpPr/>
          <p:nvPr/>
        </p:nvSpPr>
        <p:spPr>
          <a:xfrm>
            <a:off x="7420613" y="5555358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950829" y="5270643"/>
            <a:ext cx="3441315" cy="1080120"/>
            <a:chOff x="3950829" y="5270643"/>
            <a:chExt cx="3441315" cy="1080120"/>
          </a:xfrm>
        </p:grpSpPr>
        <p:sp>
          <p:nvSpPr>
            <p:cNvPr id="7" name="Fluxograma: Decisão 6"/>
            <p:cNvSpPr/>
            <p:nvPr/>
          </p:nvSpPr>
          <p:spPr>
            <a:xfrm>
              <a:off x="4511824" y="5270643"/>
              <a:ext cx="1872208" cy="1080120"/>
            </a:xfrm>
            <a:prstGeom prst="flowChartDecisio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Atende</a:t>
              </a:r>
            </a:p>
            <a:p>
              <a:pPr algn="ctr"/>
              <a:r>
                <a:rPr lang="pt-BR" dirty="0"/>
                <a:t>em</a:t>
              </a:r>
            </a:p>
          </p:txBody>
        </p:sp>
        <p:cxnSp>
          <p:nvCxnSpPr>
            <p:cNvPr id="11" name="Conector reto 10"/>
            <p:cNvCxnSpPr>
              <a:stCxn id="6" idx="3"/>
              <a:endCxn id="7" idx="1"/>
            </p:cNvCxnSpPr>
            <p:nvPr/>
          </p:nvCxnSpPr>
          <p:spPr>
            <a:xfrm flipV="1">
              <a:off x="3950829" y="5810703"/>
              <a:ext cx="560995" cy="52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>
              <a:stCxn id="7" idx="3"/>
            </p:cNvCxnSpPr>
            <p:nvPr/>
          </p:nvCxnSpPr>
          <p:spPr>
            <a:xfrm>
              <a:off x="6384032" y="5810703"/>
              <a:ext cx="100811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aixaDeTexto 4"/>
          <p:cNvSpPr txBox="1"/>
          <p:nvPr/>
        </p:nvSpPr>
        <p:spPr>
          <a:xfrm>
            <a:off x="2855640" y="4425194"/>
            <a:ext cx="5544616" cy="7078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dirty="0"/>
              <a:t>“...Um </a:t>
            </a:r>
            <a:r>
              <a:rPr lang="pt-BR" sz="2000" dirty="0">
                <a:solidFill>
                  <a:srgbClr val="C00000"/>
                </a:solidFill>
              </a:rPr>
              <a:t>medico</a:t>
            </a:r>
            <a:r>
              <a:rPr lang="pt-BR" sz="2000" dirty="0"/>
              <a:t> </a:t>
            </a:r>
            <a:r>
              <a:rPr lang="pt-BR" sz="2000" b="1" dirty="0">
                <a:solidFill>
                  <a:srgbClr val="0070C0"/>
                </a:solidFill>
              </a:rPr>
              <a:t>atende em</a:t>
            </a:r>
            <a:r>
              <a:rPr lang="pt-BR" sz="2000" dirty="0"/>
              <a:t> um </a:t>
            </a:r>
            <a:r>
              <a:rPr lang="pt-BR" sz="2000" dirty="0">
                <a:solidFill>
                  <a:srgbClr val="C00000"/>
                </a:solidFill>
              </a:rPr>
              <a:t>ambulatório... </a:t>
            </a:r>
            <a:r>
              <a:rPr lang="pt-BR" sz="2000" dirty="0"/>
              <a:t>Um ambulatório </a:t>
            </a:r>
            <a:r>
              <a:rPr lang="pt-BR" sz="2000" b="1" dirty="0">
                <a:solidFill>
                  <a:srgbClr val="0070C0"/>
                </a:solidFill>
              </a:rPr>
              <a:t>é utilizado</a:t>
            </a:r>
            <a:r>
              <a:rPr lang="pt-BR" sz="2000" dirty="0"/>
              <a:t> por diversos médicos... </a:t>
            </a:r>
          </a:p>
        </p:txBody>
      </p:sp>
    </p:spTree>
    <p:extLst>
      <p:ext uri="{BB962C8B-B14F-4D97-AF65-F5344CB8AC3E}">
        <p14:creationId xmlns:p14="http://schemas.microsoft.com/office/powerpoint/2010/main" val="228406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Grau de um Relacionamento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Define o número de entidades que participam do relacionamento</a:t>
            </a:r>
          </a:p>
          <a:p>
            <a:r>
              <a:rPr lang="pt-BR" dirty="0"/>
              <a:t>Unário (recursivo)</a:t>
            </a:r>
          </a:p>
          <a:p>
            <a:pPr lvl="1"/>
            <a:endParaRPr lang="pt-BR" sz="2800" dirty="0"/>
          </a:p>
          <a:p>
            <a:pPr lvl="1"/>
            <a:endParaRPr lang="pt-BR" sz="2800" dirty="0"/>
          </a:p>
          <a:p>
            <a:r>
              <a:rPr lang="pt-BR" dirty="0"/>
              <a:t>Binário (mais comuns)</a:t>
            </a:r>
          </a:p>
          <a:p>
            <a:pPr lvl="1"/>
            <a:endParaRPr lang="pt-BR" sz="2800" dirty="0"/>
          </a:p>
          <a:p>
            <a:pPr lvl="1"/>
            <a:endParaRPr lang="pt-BR" sz="2800" dirty="0"/>
          </a:p>
          <a:p>
            <a:pPr lvl="1"/>
            <a:endParaRPr lang="pt-BR" sz="2800" dirty="0"/>
          </a:p>
          <a:p>
            <a:r>
              <a:rPr lang="pt-BR" dirty="0"/>
              <a:t>Ternário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</a:t>
            </a:r>
            <a:r>
              <a:rPr lang="pt-BR" dirty="0" err="1"/>
              <a:t>Harkovsky</a:t>
            </a:r>
            <a:r>
              <a:rPr lang="pt-BR" dirty="0"/>
              <a:t>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32</a:t>
            </a:fld>
            <a:endParaRPr lang="pt-BR"/>
          </a:p>
        </p:txBody>
      </p:sp>
      <p:grpSp>
        <p:nvGrpSpPr>
          <p:cNvPr id="8" name="Agrupar 7"/>
          <p:cNvGrpSpPr/>
          <p:nvPr/>
        </p:nvGrpSpPr>
        <p:grpSpPr>
          <a:xfrm>
            <a:off x="6456040" y="2374145"/>
            <a:ext cx="3425476" cy="1784644"/>
            <a:chOff x="6456040" y="2374145"/>
            <a:chExt cx="3425476" cy="1784644"/>
          </a:xfrm>
        </p:grpSpPr>
        <p:sp>
          <p:nvSpPr>
            <p:cNvPr id="6" name="Retângulo 5"/>
            <p:cNvSpPr/>
            <p:nvPr/>
          </p:nvSpPr>
          <p:spPr>
            <a:xfrm>
              <a:off x="6456040" y="2374145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empregado</a:t>
              </a:r>
            </a:p>
          </p:txBody>
        </p:sp>
        <p:sp>
          <p:nvSpPr>
            <p:cNvPr id="7" name="Losango 6"/>
            <p:cNvSpPr/>
            <p:nvPr/>
          </p:nvSpPr>
          <p:spPr>
            <a:xfrm>
              <a:off x="7865292" y="3150677"/>
              <a:ext cx="2016224" cy="1008112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gerencia</a:t>
              </a:r>
            </a:p>
          </p:txBody>
        </p:sp>
        <p:cxnSp>
          <p:nvCxnSpPr>
            <p:cNvPr id="9" name="Conector Angulado 8"/>
            <p:cNvCxnSpPr>
              <a:stCxn id="6" idx="3"/>
              <a:endCxn id="7" idx="0"/>
            </p:cNvCxnSpPr>
            <p:nvPr/>
          </p:nvCxnSpPr>
          <p:spPr>
            <a:xfrm>
              <a:off x="8040216" y="2662177"/>
              <a:ext cx="833188" cy="488500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Angulado 10"/>
            <p:cNvCxnSpPr>
              <a:stCxn id="6" idx="2"/>
              <a:endCxn id="7" idx="1"/>
            </p:cNvCxnSpPr>
            <p:nvPr/>
          </p:nvCxnSpPr>
          <p:spPr>
            <a:xfrm rot="16200000" flipH="1">
              <a:off x="7204448" y="2993889"/>
              <a:ext cx="704524" cy="61716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Agrupar 9"/>
          <p:cNvGrpSpPr/>
          <p:nvPr/>
        </p:nvGrpSpPr>
        <p:grpSpPr>
          <a:xfrm>
            <a:off x="3142456" y="4272488"/>
            <a:ext cx="6479369" cy="1008112"/>
            <a:chOff x="3142456" y="4272488"/>
            <a:chExt cx="6479369" cy="1008112"/>
          </a:xfrm>
        </p:grpSpPr>
        <p:sp>
          <p:nvSpPr>
            <p:cNvPr id="14" name="Retângulo 13"/>
            <p:cNvSpPr/>
            <p:nvPr/>
          </p:nvSpPr>
          <p:spPr>
            <a:xfrm>
              <a:off x="3142456" y="4488512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medico</a:t>
              </a:r>
            </a:p>
          </p:txBody>
        </p:sp>
        <p:sp>
          <p:nvSpPr>
            <p:cNvPr id="15" name="Losango 14"/>
            <p:cNvSpPr/>
            <p:nvPr/>
          </p:nvSpPr>
          <p:spPr>
            <a:xfrm>
              <a:off x="5447928" y="4272488"/>
              <a:ext cx="2016224" cy="1008112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consulta</a:t>
              </a:r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8037649" y="4488512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paciente</a:t>
              </a:r>
            </a:p>
          </p:txBody>
        </p:sp>
        <p:cxnSp>
          <p:nvCxnSpPr>
            <p:cNvPr id="18" name="Conector Angulado 17"/>
            <p:cNvCxnSpPr>
              <a:stCxn id="14" idx="3"/>
              <a:endCxn id="15" idx="1"/>
            </p:cNvCxnSpPr>
            <p:nvPr/>
          </p:nvCxnSpPr>
          <p:spPr>
            <a:xfrm>
              <a:off x="4726632" y="4776544"/>
              <a:ext cx="721296" cy="127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Angulado 19"/>
            <p:cNvCxnSpPr>
              <a:stCxn id="15" idx="3"/>
              <a:endCxn id="16" idx="1"/>
            </p:cNvCxnSpPr>
            <p:nvPr/>
          </p:nvCxnSpPr>
          <p:spPr>
            <a:xfrm>
              <a:off x="7464152" y="4776544"/>
              <a:ext cx="573497" cy="127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Agrupar 11"/>
          <p:cNvGrpSpPr/>
          <p:nvPr/>
        </p:nvGrpSpPr>
        <p:grpSpPr>
          <a:xfrm>
            <a:off x="3070448" y="5227092"/>
            <a:ext cx="6479369" cy="1494383"/>
            <a:chOff x="3070448" y="5227092"/>
            <a:chExt cx="6479369" cy="1494383"/>
          </a:xfrm>
        </p:grpSpPr>
        <p:sp>
          <p:nvSpPr>
            <p:cNvPr id="21" name="Retângulo 20"/>
            <p:cNvSpPr/>
            <p:nvPr/>
          </p:nvSpPr>
          <p:spPr>
            <a:xfrm>
              <a:off x="3070448" y="5929387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automóvel</a:t>
              </a:r>
            </a:p>
          </p:txBody>
        </p:sp>
        <p:sp>
          <p:nvSpPr>
            <p:cNvPr id="22" name="Losango 21"/>
            <p:cNvSpPr/>
            <p:nvPr/>
          </p:nvSpPr>
          <p:spPr>
            <a:xfrm>
              <a:off x="5375920" y="5713363"/>
              <a:ext cx="2016224" cy="1008112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vende</a:t>
              </a:r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7965641" y="5929387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consumidor</a:t>
              </a:r>
            </a:p>
          </p:txBody>
        </p:sp>
        <p:cxnSp>
          <p:nvCxnSpPr>
            <p:cNvPr id="24" name="Conector Angulado 23"/>
            <p:cNvCxnSpPr>
              <a:stCxn id="21" idx="3"/>
              <a:endCxn id="22" idx="1"/>
            </p:cNvCxnSpPr>
            <p:nvPr/>
          </p:nvCxnSpPr>
          <p:spPr>
            <a:xfrm>
              <a:off x="4654624" y="6217419"/>
              <a:ext cx="721296" cy="127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Angulado 24"/>
            <p:cNvCxnSpPr>
              <a:stCxn id="22" idx="3"/>
              <a:endCxn id="23" idx="1"/>
            </p:cNvCxnSpPr>
            <p:nvPr/>
          </p:nvCxnSpPr>
          <p:spPr>
            <a:xfrm>
              <a:off x="7392144" y="6217419"/>
              <a:ext cx="573497" cy="127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tângulo 25"/>
            <p:cNvSpPr/>
            <p:nvPr/>
          </p:nvSpPr>
          <p:spPr>
            <a:xfrm>
              <a:off x="7965641" y="5227092"/>
              <a:ext cx="1584176" cy="576064"/>
            </a:xfrm>
            <a:prstGeom prst="rect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Concessionaria</a:t>
              </a:r>
            </a:p>
          </p:txBody>
        </p:sp>
        <p:cxnSp>
          <p:nvCxnSpPr>
            <p:cNvPr id="28" name="Conector Angulado 27"/>
            <p:cNvCxnSpPr>
              <a:endCxn id="26" idx="1"/>
            </p:cNvCxnSpPr>
            <p:nvPr/>
          </p:nvCxnSpPr>
          <p:spPr>
            <a:xfrm flipV="1">
              <a:off x="6384032" y="5515124"/>
              <a:ext cx="1581609" cy="198239"/>
            </a:xfrm>
            <a:prstGeom prst="bentConnector3">
              <a:avLst>
                <a:gd name="adj1" fmla="val 281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812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75801" y="1489457"/>
            <a:ext cx="10515600" cy="1891407"/>
          </a:xfrm>
        </p:spPr>
        <p:txBody>
          <a:bodyPr>
            <a:noAutofit/>
          </a:bodyPr>
          <a:lstStyle/>
          <a:p>
            <a:r>
              <a:rPr lang="pt-BR" dirty="0"/>
              <a:t>Relacionamentos são descritos adicionalmente por meio de cardinalidades mínimas e máximas.</a:t>
            </a:r>
          </a:p>
          <a:p>
            <a:r>
              <a:rPr lang="pt-BR" dirty="0"/>
              <a:t>Máxima e mínima </a:t>
            </a:r>
          </a:p>
          <a:p>
            <a:pPr lvl="1"/>
            <a:r>
              <a:rPr lang="pt-BR" dirty="0"/>
              <a:t>0 a muitos (“N”)</a:t>
            </a:r>
          </a:p>
          <a:p>
            <a:r>
              <a:rPr lang="pt-BR" dirty="0"/>
              <a:t>Simbologia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33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3072188" y="563453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</a:t>
            </a:r>
          </a:p>
        </p:txBody>
      </p:sp>
      <p:cxnSp>
        <p:nvCxnSpPr>
          <p:cNvPr id="7" name="Conector reto 6"/>
          <p:cNvCxnSpPr/>
          <p:nvPr/>
        </p:nvCxnSpPr>
        <p:spPr>
          <a:xfrm>
            <a:off x="2158819" y="5877593"/>
            <a:ext cx="884900" cy="122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2490607" y="5449868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575389" y="4777724"/>
            <a:ext cx="788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Máxima</a:t>
            </a:r>
          </a:p>
        </p:txBody>
      </p:sp>
      <p:cxnSp>
        <p:nvCxnSpPr>
          <p:cNvPr id="11" name="Conector de Seta Reta 10"/>
          <p:cNvCxnSpPr>
            <a:stCxn id="9" idx="2"/>
          </p:cNvCxnSpPr>
          <p:nvPr/>
        </p:nvCxnSpPr>
        <p:spPr>
          <a:xfrm flipH="1">
            <a:off x="2712148" y="5085501"/>
            <a:ext cx="257708" cy="38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/>
          <p:cNvSpPr txBox="1"/>
          <p:nvPr/>
        </p:nvSpPr>
        <p:spPr>
          <a:xfrm>
            <a:off x="5087888" y="3503255"/>
            <a:ext cx="18167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solidFill>
                  <a:srgbClr val="C00000"/>
                </a:solidFill>
              </a:rPr>
              <a:t>Peter Chen</a:t>
            </a:r>
          </a:p>
        </p:txBody>
      </p:sp>
      <p:sp>
        <p:nvSpPr>
          <p:cNvPr id="46" name="Retângulo 45"/>
          <p:cNvSpPr/>
          <p:nvPr/>
        </p:nvSpPr>
        <p:spPr>
          <a:xfrm>
            <a:off x="9831649" y="5589240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entidade</a:t>
            </a:r>
          </a:p>
        </p:txBody>
      </p:sp>
      <p:cxnSp>
        <p:nvCxnSpPr>
          <p:cNvPr id="48" name="Conector reto 47"/>
          <p:cNvCxnSpPr/>
          <p:nvPr/>
        </p:nvCxnSpPr>
        <p:spPr>
          <a:xfrm flipV="1">
            <a:off x="8974355" y="5844585"/>
            <a:ext cx="828825" cy="31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/>
          <p:cNvSpPr txBox="1"/>
          <p:nvPr/>
        </p:nvSpPr>
        <p:spPr>
          <a:xfrm>
            <a:off x="8974355" y="540457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(M,N)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9334850" y="4732430"/>
            <a:ext cx="788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Máxima</a:t>
            </a:r>
          </a:p>
        </p:txBody>
      </p:sp>
      <p:cxnSp>
        <p:nvCxnSpPr>
          <p:cNvPr id="66" name="Conector de Seta Reta 65"/>
          <p:cNvCxnSpPr>
            <a:stCxn id="65" idx="2"/>
          </p:cNvCxnSpPr>
          <p:nvPr/>
        </p:nvCxnSpPr>
        <p:spPr>
          <a:xfrm flipH="1">
            <a:off x="9471609" y="5040207"/>
            <a:ext cx="257708" cy="38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/>
          <p:cNvSpPr txBox="1"/>
          <p:nvPr/>
        </p:nvSpPr>
        <p:spPr>
          <a:xfrm>
            <a:off x="8385724" y="4732430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Mínima</a:t>
            </a:r>
          </a:p>
        </p:txBody>
      </p:sp>
      <p:cxnSp>
        <p:nvCxnSpPr>
          <p:cNvPr id="68" name="Conector de Seta Reta 67"/>
          <p:cNvCxnSpPr>
            <a:stCxn id="67" idx="2"/>
          </p:cNvCxnSpPr>
          <p:nvPr/>
        </p:nvCxnSpPr>
        <p:spPr>
          <a:xfrm>
            <a:off x="8766598" y="5040207"/>
            <a:ext cx="380873" cy="359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640739" y="4187016"/>
            <a:ext cx="1985853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b="1" dirty="0"/>
              <a:t>Notação clássica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8272245" y="4201042"/>
            <a:ext cx="2233044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000" b="1" dirty="0"/>
              <a:t>Notação Min-Max</a:t>
            </a:r>
          </a:p>
        </p:txBody>
      </p:sp>
    </p:spTree>
    <p:extLst>
      <p:ext uri="{BB962C8B-B14F-4D97-AF65-F5344CB8AC3E}">
        <p14:creationId xmlns:p14="http://schemas.microsoft.com/office/powerpoint/2010/main" val="3893588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5"/>
            <a:ext cx="10842339" cy="1171327"/>
          </a:xfrm>
        </p:spPr>
        <p:txBody>
          <a:bodyPr>
            <a:noAutofit/>
          </a:bodyPr>
          <a:lstStyle/>
          <a:p>
            <a:r>
              <a:rPr lang="pt-BR" dirty="0"/>
              <a:t>Exemplo: Quantas instâncias de ambulatórios se relacionam a médicos?</a:t>
            </a:r>
          </a:p>
          <a:p>
            <a:pPr lvl="1"/>
            <a:r>
              <a:rPr lang="pt-BR" dirty="0"/>
              <a:t>Dado 1 médico, em quantos ambulatórios ele poderá atender? </a:t>
            </a:r>
            <a:r>
              <a:rPr lang="pt-BR" dirty="0">
                <a:solidFill>
                  <a:srgbClr val="C00000"/>
                </a:solidFill>
              </a:rPr>
              <a:t>Somente 1</a:t>
            </a:r>
          </a:p>
          <a:p>
            <a:pPr lvl="1"/>
            <a:r>
              <a:rPr lang="pt-BR" dirty="0"/>
              <a:t>Dado 1 ambulatório, quantos médicos poderão usá-lo? </a:t>
            </a:r>
            <a:r>
              <a:rPr lang="pt-BR" dirty="0">
                <a:solidFill>
                  <a:srgbClr val="C00000"/>
                </a:solidFill>
              </a:rPr>
              <a:t>1 a N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34</a:t>
            </a:fld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2307352" y="356384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8" name="Retângulo 7"/>
          <p:cNvSpPr/>
          <p:nvPr/>
        </p:nvSpPr>
        <p:spPr>
          <a:xfrm>
            <a:off x="7361312" y="3560527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6703125" y="345177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(1,1)</a:t>
            </a:r>
          </a:p>
        </p:txBody>
      </p:sp>
      <p:sp>
        <p:nvSpPr>
          <p:cNvPr id="14" name="Fluxograma: Decisão 13"/>
          <p:cNvSpPr/>
          <p:nvPr/>
        </p:nvSpPr>
        <p:spPr>
          <a:xfrm>
            <a:off x="4690316" y="3308499"/>
            <a:ext cx="1872208" cy="108012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Atende</a:t>
            </a:r>
          </a:p>
          <a:p>
            <a:pPr algn="ctr"/>
            <a:r>
              <a:rPr lang="pt-BR" dirty="0"/>
              <a:t>em</a:t>
            </a:r>
          </a:p>
        </p:txBody>
      </p:sp>
      <p:cxnSp>
        <p:nvCxnSpPr>
          <p:cNvPr id="16" name="Conector reto 15"/>
          <p:cNvCxnSpPr>
            <a:stCxn id="6" idx="3"/>
            <a:endCxn id="14" idx="1"/>
          </p:cNvCxnSpPr>
          <p:nvPr/>
        </p:nvCxnSpPr>
        <p:spPr>
          <a:xfrm flipV="1">
            <a:off x="3891528" y="3848559"/>
            <a:ext cx="798788" cy="3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>
            <a:stCxn id="14" idx="3"/>
            <a:endCxn id="8" idx="1"/>
          </p:cNvCxnSpPr>
          <p:nvPr/>
        </p:nvCxnSpPr>
        <p:spPr>
          <a:xfrm>
            <a:off x="6562524" y="3848559"/>
            <a:ext cx="7987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3919163" y="3465743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(1,N)</a:t>
            </a:r>
          </a:p>
        </p:txBody>
      </p:sp>
      <p:sp>
        <p:nvSpPr>
          <p:cNvPr id="29" name="Retângulo 28"/>
          <p:cNvSpPr/>
          <p:nvPr/>
        </p:nvSpPr>
        <p:spPr>
          <a:xfrm>
            <a:off x="2307352" y="4790842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30" name="Retângulo 29"/>
          <p:cNvSpPr/>
          <p:nvPr/>
        </p:nvSpPr>
        <p:spPr>
          <a:xfrm>
            <a:off x="7361312" y="4787525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6703125" y="46787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32" name="Fluxograma: Decisão 31"/>
          <p:cNvSpPr/>
          <p:nvPr/>
        </p:nvSpPr>
        <p:spPr>
          <a:xfrm>
            <a:off x="4690316" y="4535497"/>
            <a:ext cx="1872208" cy="108012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Atende</a:t>
            </a:r>
          </a:p>
          <a:p>
            <a:pPr algn="ctr"/>
            <a:r>
              <a:rPr lang="pt-BR" dirty="0"/>
              <a:t>em</a:t>
            </a:r>
          </a:p>
        </p:txBody>
      </p:sp>
      <p:cxnSp>
        <p:nvCxnSpPr>
          <p:cNvPr id="33" name="Conector reto 32"/>
          <p:cNvCxnSpPr>
            <a:stCxn id="29" idx="3"/>
            <a:endCxn id="32" idx="1"/>
          </p:cNvCxnSpPr>
          <p:nvPr/>
        </p:nvCxnSpPr>
        <p:spPr>
          <a:xfrm flipV="1">
            <a:off x="3891528" y="5075557"/>
            <a:ext cx="798788" cy="3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32" idx="3"/>
            <a:endCxn id="30" idx="1"/>
          </p:cNvCxnSpPr>
          <p:nvPr/>
        </p:nvCxnSpPr>
        <p:spPr>
          <a:xfrm>
            <a:off x="6562524" y="5075557"/>
            <a:ext cx="7987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/>
          <p:cNvSpPr txBox="1"/>
          <p:nvPr/>
        </p:nvSpPr>
        <p:spPr>
          <a:xfrm>
            <a:off x="3919163" y="469274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10" name="Chave Direita 9"/>
          <p:cNvSpPr/>
          <p:nvPr/>
        </p:nvSpPr>
        <p:spPr>
          <a:xfrm>
            <a:off x="9480376" y="3560527"/>
            <a:ext cx="432048" cy="18572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10056439" y="4065453"/>
            <a:ext cx="16240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5"/>
                </a:solidFill>
              </a:rPr>
              <a:t>Diferentes</a:t>
            </a:r>
          </a:p>
          <a:p>
            <a:r>
              <a:rPr lang="pt-BR" dirty="0">
                <a:solidFill>
                  <a:schemeClr val="accent5"/>
                </a:solidFill>
              </a:rPr>
              <a:t>representações</a:t>
            </a:r>
          </a:p>
        </p:txBody>
      </p:sp>
    </p:spTree>
    <p:extLst>
      <p:ext uri="{BB962C8B-B14F-4D97-AF65-F5344CB8AC3E}">
        <p14:creationId xmlns:p14="http://schemas.microsoft.com/office/powerpoint/2010/main" val="425168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31" grpId="0"/>
      <p:bldP spid="3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68094" y="1823696"/>
            <a:ext cx="5181600" cy="593313"/>
          </a:xfrm>
        </p:spPr>
        <p:txBody>
          <a:bodyPr/>
          <a:lstStyle/>
          <a:p>
            <a:r>
              <a:rPr lang="pt-BR" dirty="0"/>
              <a:t>Relacionamento 1 para 1</a:t>
            </a:r>
          </a:p>
        </p:txBody>
      </p:sp>
      <p:sp>
        <p:nvSpPr>
          <p:cNvPr id="31" name="Espaço Reservado para Conteúdo 30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95263"/>
          </a:xfrm>
        </p:spPr>
        <p:txBody>
          <a:bodyPr/>
          <a:lstStyle/>
          <a:p>
            <a:r>
              <a:rPr lang="pt-BR" dirty="0"/>
              <a:t>Relacionamento 1 para N</a:t>
            </a:r>
          </a:p>
          <a:p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35</a:t>
            </a:fld>
            <a:endParaRPr lang="pt-BR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721695" y="4668726"/>
            <a:ext cx="429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M1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721695" y="5226674"/>
            <a:ext cx="429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M2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9408421" y="4847812"/>
            <a:ext cx="4587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101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9380682" y="5601309"/>
            <a:ext cx="45878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202</a:t>
            </a:r>
          </a:p>
        </p:txBody>
      </p:sp>
      <p:sp>
        <p:nvSpPr>
          <p:cNvPr id="14" name="Oval 12"/>
          <p:cNvSpPr>
            <a:spLocks noChangeArrowheads="1"/>
          </p:cNvSpPr>
          <p:nvPr/>
        </p:nvSpPr>
        <p:spPr bwMode="auto">
          <a:xfrm>
            <a:off x="7464152" y="4358382"/>
            <a:ext cx="914400" cy="170647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15" name="Oval 13"/>
          <p:cNvSpPr>
            <a:spLocks noChangeArrowheads="1"/>
          </p:cNvSpPr>
          <p:nvPr/>
        </p:nvSpPr>
        <p:spPr bwMode="auto">
          <a:xfrm>
            <a:off x="9140552" y="4358382"/>
            <a:ext cx="914400" cy="170993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000000"/>
              </a:solidFill>
            </a:endParaRPr>
          </a:p>
        </p:txBody>
      </p:sp>
      <p:cxnSp>
        <p:nvCxnSpPr>
          <p:cNvPr id="18" name="Straight Connector 2"/>
          <p:cNvCxnSpPr>
            <a:stCxn id="7" idx="3"/>
            <a:endCxn id="10" idx="1"/>
          </p:cNvCxnSpPr>
          <p:nvPr/>
        </p:nvCxnSpPr>
        <p:spPr bwMode="auto">
          <a:xfrm>
            <a:off x="8151621" y="4822615"/>
            <a:ext cx="1256800" cy="179086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4"/>
          <p:cNvCxnSpPr>
            <a:stCxn id="8" idx="3"/>
            <a:endCxn id="10" idx="1"/>
          </p:cNvCxnSpPr>
          <p:nvPr/>
        </p:nvCxnSpPr>
        <p:spPr bwMode="auto">
          <a:xfrm flipV="1">
            <a:off x="8151621" y="5001701"/>
            <a:ext cx="1256800" cy="378862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7721695" y="5635586"/>
            <a:ext cx="42992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M3</a:t>
            </a:r>
          </a:p>
        </p:txBody>
      </p:sp>
      <p:cxnSp>
        <p:nvCxnSpPr>
          <p:cNvPr id="25" name="Straight Connector 44"/>
          <p:cNvCxnSpPr>
            <a:stCxn id="24" idx="3"/>
            <a:endCxn id="13" idx="1"/>
          </p:cNvCxnSpPr>
          <p:nvPr/>
        </p:nvCxnSpPr>
        <p:spPr bwMode="auto">
          <a:xfrm flipV="1">
            <a:off x="8151621" y="5755198"/>
            <a:ext cx="1229061" cy="34277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3" name="Retângulo 62"/>
          <p:cNvSpPr/>
          <p:nvPr/>
        </p:nvSpPr>
        <p:spPr>
          <a:xfrm>
            <a:off x="889900" y="2966875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Professor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4583832" y="2966875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Escaninho</a:t>
            </a:r>
          </a:p>
        </p:txBody>
      </p:sp>
      <p:sp>
        <p:nvSpPr>
          <p:cNvPr id="38" name="Fluxograma: Decisão 37"/>
          <p:cNvSpPr/>
          <p:nvPr/>
        </p:nvSpPr>
        <p:spPr>
          <a:xfrm>
            <a:off x="2918641" y="2891404"/>
            <a:ext cx="1233143" cy="69991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usa</a:t>
            </a:r>
          </a:p>
        </p:txBody>
      </p:sp>
      <p:cxnSp>
        <p:nvCxnSpPr>
          <p:cNvPr id="6" name="Conector reto 5"/>
          <p:cNvCxnSpPr>
            <a:stCxn id="63" idx="3"/>
            <a:endCxn id="38" idx="1"/>
          </p:cNvCxnSpPr>
          <p:nvPr/>
        </p:nvCxnSpPr>
        <p:spPr>
          <a:xfrm flipV="1">
            <a:off x="2474076" y="3241361"/>
            <a:ext cx="444565" cy="1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38" idx="3"/>
            <a:endCxn id="64" idx="1"/>
          </p:cNvCxnSpPr>
          <p:nvPr/>
        </p:nvCxnSpPr>
        <p:spPr>
          <a:xfrm>
            <a:off x="4151784" y="3241361"/>
            <a:ext cx="432048" cy="1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2441598" y="294366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(1,1)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080953" y="2938297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(1,1)</a:t>
            </a:r>
          </a:p>
        </p:txBody>
      </p:sp>
      <p:sp>
        <p:nvSpPr>
          <p:cNvPr id="45" name="Retângulo 44"/>
          <p:cNvSpPr/>
          <p:nvPr/>
        </p:nvSpPr>
        <p:spPr>
          <a:xfrm>
            <a:off x="6603238" y="294857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Medico</a:t>
            </a:r>
          </a:p>
        </p:txBody>
      </p:sp>
      <p:sp>
        <p:nvSpPr>
          <p:cNvPr id="60" name="Retângulo 59"/>
          <p:cNvSpPr/>
          <p:nvPr/>
        </p:nvSpPr>
        <p:spPr>
          <a:xfrm>
            <a:off x="10297170" y="2948573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ambulatório</a:t>
            </a:r>
          </a:p>
        </p:txBody>
      </p:sp>
      <p:sp>
        <p:nvSpPr>
          <p:cNvPr id="61" name="Fluxograma: Decisão 60"/>
          <p:cNvSpPr/>
          <p:nvPr/>
        </p:nvSpPr>
        <p:spPr>
          <a:xfrm>
            <a:off x="8631979" y="2873102"/>
            <a:ext cx="1233143" cy="69991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usa</a:t>
            </a:r>
          </a:p>
        </p:txBody>
      </p:sp>
      <p:cxnSp>
        <p:nvCxnSpPr>
          <p:cNvPr id="62" name="Conector reto 61"/>
          <p:cNvCxnSpPr/>
          <p:nvPr/>
        </p:nvCxnSpPr>
        <p:spPr>
          <a:xfrm flipV="1">
            <a:off x="8195572" y="3222149"/>
            <a:ext cx="444565" cy="1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61" idx="3"/>
            <a:endCxn id="60" idx="1"/>
          </p:cNvCxnSpPr>
          <p:nvPr/>
        </p:nvCxnSpPr>
        <p:spPr>
          <a:xfrm>
            <a:off x="9865122" y="3223059"/>
            <a:ext cx="432048" cy="13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/>
          <p:cNvSpPr txBox="1"/>
          <p:nvPr/>
        </p:nvSpPr>
        <p:spPr>
          <a:xfrm>
            <a:off x="8154936" y="292536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(1,n)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9794291" y="2919995"/>
            <a:ext cx="5212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(1,1)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2444895" y="4524849"/>
            <a:ext cx="3690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P1</a:t>
            </a:r>
          </a:p>
        </p:txBody>
      </p: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2444895" y="4941168"/>
            <a:ext cx="3690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P2</a:t>
            </a:r>
          </a:p>
        </p:txBody>
      </p:sp>
      <p:sp>
        <p:nvSpPr>
          <p:cNvPr id="71" name="Text Box 8"/>
          <p:cNvSpPr txBox="1">
            <a:spLocks noChangeArrowheads="1"/>
          </p:cNvSpPr>
          <p:nvPr/>
        </p:nvSpPr>
        <p:spPr bwMode="auto">
          <a:xfrm>
            <a:off x="4139674" y="4546077"/>
            <a:ext cx="364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E1</a:t>
            </a:r>
          </a:p>
        </p:txBody>
      </p:sp>
      <p:sp>
        <p:nvSpPr>
          <p:cNvPr id="73" name="Oval 12"/>
          <p:cNvSpPr>
            <a:spLocks noChangeArrowheads="1"/>
          </p:cNvSpPr>
          <p:nvPr/>
        </p:nvSpPr>
        <p:spPr bwMode="auto">
          <a:xfrm>
            <a:off x="2187352" y="4214505"/>
            <a:ext cx="914400" cy="170647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000000"/>
              </a:solidFill>
            </a:endParaRPr>
          </a:p>
        </p:txBody>
      </p:sp>
      <p:sp>
        <p:nvSpPr>
          <p:cNvPr id="74" name="Oval 13"/>
          <p:cNvSpPr>
            <a:spLocks noChangeArrowheads="1"/>
          </p:cNvSpPr>
          <p:nvPr/>
        </p:nvSpPr>
        <p:spPr bwMode="auto">
          <a:xfrm>
            <a:off x="3863752" y="4214505"/>
            <a:ext cx="914400" cy="1709936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400">
              <a:solidFill>
                <a:srgbClr val="000000"/>
              </a:solidFill>
            </a:endParaRPr>
          </a:p>
        </p:txBody>
      </p:sp>
      <p:cxnSp>
        <p:nvCxnSpPr>
          <p:cNvPr id="75" name="Straight Connector 2"/>
          <p:cNvCxnSpPr>
            <a:stCxn id="69" idx="3"/>
            <a:endCxn id="71" idx="1"/>
          </p:cNvCxnSpPr>
          <p:nvPr/>
        </p:nvCxnSpPr>
        <p:spPr bwMode="auto">
          <a:xfrm>
            <a:off x="2813907" y="4678738"/>
            <a:ext cx="1325767" cy="21228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34"/>
          <p:cNvCxnSpPr>
            <a:stCxn id="70" idx="3"/>
            <a:endCxn id="79" idx="1"/>
          </p:cNvCxnSpPr>
          <p:nvPr/>
        </p:nvCxnSpPr>
        <p:spPr bwMode="auto">
          <a:xfrm>
            <a:off x="2813907" y="5095057"/>
            <a:ext cx="1325767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7" name="Text Box 7"/>
          <p:cNvSpPr txBox="1">
            <a:spLocks noChangeArrowheads="1"/>
          </p:cNvSpPr>
          <p:nvPr/>
        </p:nvSpPr>
        <p:spPr bwMode="auto">
          <a:xfrm>
            <a:off x="2444895" y="5342609"/>
            <a:ext cx="3690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P3</a:t>
            </a:r>
          </a:p>
        </p:txBody>
      </p:sp>
      <p:cxnSp>
        <p:nvCxnSpPr>
          <p:cNvPr id="78" name="Straight Connector 44"/>
          <p:cNvCxnSpPr>
            <a:stCxn id="77" idx="3"/>
          </p:cNvCxnSpPr>
          <p:nvPr/>
        </p:nvCxnSpPr>
        <p:spPr bwMode="auto">
          <a:xfrm flipV="1">
            <a:off x="2813907" y="5462222"/>
            <a:ext cx="1289975" cy="34276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9" name="Text Box 8"/>
          <p:cNvSpPr txBox="1">
            <a:spLocks noChangeArrowheads="1"/>
          </p:cNvSpPr>
          <p:nvPr/>
        </p:nvSpPr>
        <p:spPr bwMode="auto">
          <a:xfrm>
            <a:off x="4139674" y="4941168"/>
            <a:ext cx="364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E2</a:t>
            </a:r>
          </a:p>
        </p:txBody>
      </p:sp>
      <p:sp>
        <p:nvSpPr>
          <p:cNvPr id="80" name="Text Box 8"/>
          <p:cNvSpPr txBox="1">
            <a:spLocks noChangeArrowheads="1"/>
          </p:cNvSpPr>
          <p:nvPr/>
        </p:nvSpPr>
        <p:spPr bwMode="auto">
          <a:xfrm>
            <a:off x="4139674" y="5301208"/>
            <a:ext cx="3642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</a:rPr>
              <a:t>E3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2558339" y="263198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4151784" y="26386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</a:t>
            </a:r>
          </a:p>
        </p:txBody>
      </p:sp>
      <p:sp>
        <p:nvSpPr>
          <p:cNvPr id="47" name="CaixaDeTexto 46"/>
          <p:cNvSpPr txBox="1"/>
          <p:nvPr/>
        </p:nvSpPr>
        <p:spPr>
          <a:xfrm>
            <a:off x="9869607" y="2638661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1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8271678" y="2591456"/>
            <a:ext cx="303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61963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67" grpId="0"/>
      <p:bldP spid="68" grpId="0"/>
      <p:bldP spid="42" grpId="0"/>
      <p:bldP spid="46" grpId="0"/>
      <p:bldP spid="47" grpId="0"/>
      <p:bldP spid="4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0344"/>
          </a:xfrm>
        </p:spPr>
        <p:txBody>
          <a:bodyPr/>
          <a:lstStyle/>
          <a:p>
            <a:r>
              <a:rPr lang="pt-BR" dirty="0"/>
              <a:t>Relacionamento M para N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3950529" y="2548185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Autor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8154707" y="2524709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Livro</a:t>
            </a:r>
          </a:p>
        </p:txBody>
      </p:sp>
      <p:sp>
        <p:nvSpPr>
          <p:cNvPr id="38" name="Fluxograma: Decisão 37"/>
          <p:cNvSpPr/>
          <p:nvPr/>
        </p:nvSpPr>
        <p:spPr>
          <a:xfrm>
            <a:off x="5979270" y="2434246"/>
            <a:ext cx="1700906" cy="766154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dirty="0"/>
              <a:t>escreve</a:t>
            </a:r>
          </a:p>
        </p:txBody>
      </p:sp>
      <p:cxnSp>
        <p:nvCxnSpPr>
          <p:cNvPr id="6" name="Conector reto 5"/>
          <p:cNvCxnSpPr>
            <a:stCxn id="63" idx="3"/>
            <a:endCxn id="38" idx="1"/>
          </p:cNvCxnSpPr>
          <p:nvPr/>
        </p:nvCxnSpPr>
        <p:spPr>
          <a:xfrm flipV="1">
            <a:off x="5534705" y="2817323"/>
            <a:ext cx="444565" cy="18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38" idx="3"/>
            <a:endCxn id="64" idx="1"/>
          </p:cNvCxnSpPr>
          <p:nvPr/>
        </p:nvCxnSpPr>
        <p:spPr>
          <a:xfrm flipV="1">
            <a:off x="7680176" y="2812741"/>
            <a:ext cx="474531" cy="4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/>
          <p:cNvSpPr txBox="1"/>
          <p:nvPr/>
        </p:nvSpPr>
        <p:spPr>
          <a:xfrm>
            <a:off x="5502227" y="2524977"/>
            <a:ext cx="3385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M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7813942" y="2528440"/>
            <a:ext cx="300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N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2564068" y="5984171"/>
            <a:ext cx="851766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Relações M:N não são implementáveis diretamente num BD relacional!!!!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AB1C108-62D8-4AFC-7B77-1503DAB1EFB0}"/>
              </a:ext>
            </a:extLst>
          </p:cNvPr>
          <p:cNvGrpSpPr/>
          <p:nvPr/>
        </p:nvGrpSpPr>
        <p:grpSpPr>
          <a:xfrm>
            <a:off x="5315335" y="3719118"/>
            <a:ext cx="2590800" cy="1709936"/>
            <a:chOff x="5576314" y="302197"/>
            <a:chExt cx="2590800" cy="1709936"/>
          </a:xfrm>
        </p:grpSpPr>
        <p:sp>
          <p:nvSpPr>
            <p:cNvPr id="28" name="Text Box 5"/>
            <p:cNvSpPr txBox="1">
              <a:spLocks noChangeArrowheads="1"/>
            </p:cNvSpPr>
            <p:nvPr/>
          </p:nvSpPr>
          <p:spPr bwMode="auto">
            <a:xfrm>
              <a:off x="5833857" y="612541"/>
              <a:ext cx="38023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A1</a:t>
              </a:r>
            </a:p>
          </p:txBody>
        </p:sp>
        <p:sp>
          <p:nvSpPr>
            <p:cNvPr id="29" name="Text Box 6"/>
            <p:cNvSpPr txBox="1">
              <a:spLocks noChangeArrowheads="1"/>
            </p:cNvSpPr>
            <p:nvPr/>
          </p:nvSpPr>
          <p:spPr bwMode="auto">
            <a:xfrm>
              <a:off x="5833857" y="1170489"/>
              <a:ext cx="38023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A2</a:t>
              </a:r>
            </a:p>
          </p:txBody>
        </p:sp>
        <p:sp>
          <p:nvSpPr>
            <p:cNvPr id="31" name="Text Box 8"/>
            <p:cNvSpPr txBox="1">
              <a:spLocks noChangeArrowheads="1"/>
            </p:cNvSpPr>
            <p:nvPr/>
          </p:nvSpPr>
          <p:spPr bwMode="auto">
            <a:xfrm>
              <a:off x="7537894" y="641849"/>
              <a:ext cx="35137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L1</a:t>
              </a:r>
            </a:p>
          </p:txBody>
        </p:sp>
        <p:sp>
          <p:nvSpPr>
            <p:cNvPr id="32" name="Text Box 11"/>
            <p:cNvSpPr txBox="1">
              <a:spLocks noChangeArrowheads="1"/>
            </p:cNvSpPr>
            <p:nvPr/>
          </p:nvSpPr>
          <p:spPr bwMode="auto">
            <a:xfrm>
              <a:off x="7542216" y="956821"/>
              <a:ext cx="35137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L2</a:t>
              </a:r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5576314" y="302197"/>
              <a:ext cx="914400" cy="170647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34" name="Oval 13"/>
            <p:cNvSpPr>
              <a:spLocks noChangeArrowheads="1"/>
            </p:cNvSpPr>
            <p:nvPr/>
          </p:nvSpPr>
          <p:spPr bwMode="auto">
            <a:xfrm>
              <a:off x="7252714" y="302197"/>
              <a:ext cx="914400" cy="17099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1400">
                <a:solidFill>
                  <a:srgbClr val="000000"/>
                </a:solidFill>
              </a:endParaRPr>
            </a:p>
          </p:txBody>
        </p:sp>
        <p:cxnSp>
          <p:nvCxnSpPr>
            <p:cNvPr id="35" name="Straight Connector 2"/>
            <p:cNvCxnSpPr>
              <a:stCxn id="28" idx="3"/>
              <a:endCxn id="31" idx="1"/>
            </p:cNvCxnSpPr>
            <p:nvPr/>
          </p:nvCxnSpPr>
          <p:spPr bwMode="auto">
            <a:xfrm>
              <a:off x="6214089" y="766430"/>
              <a:ext cx="1323805" cy="29308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4"/>
            <p:cNvCxnSpPr>
              <a:stCxn id="29" idx="3"/>
              <a:endCxn id="31" idx="1"/>
            </p:cNvCxnSpPr>
            <p:nvPr/>
          </p:nvCxnSpPr>
          <p:spPr bwMode="auto">
            <a:xfrm flipV="1">
              <a:off x="6214089" y="795738"/>
              <a:ext cx="1323805" cy="528640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 Box 7"/>
            <p:cNvSpPr txBox="1">
              <a:spLocks noChangeArrowheads="1"/>
            </p:cNvSpPr>
            <p:nvPr/>
          </p:nvSpPr>
          <p:spPr bwMode="auto">
            <a:xfrm>
              <a:off x="5833857" y="1579401"/>
              <a:ext cx="38023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A3</a:t>
              </a:r>
            </a:p>
          </p:txBody>
        </p:sp>
        <p:cxnSp>
          <p:nvCxnSpPr>
            <p:cNvPr id="39" name="Straight Connector 44"/>
            <p:cNvCxnSpPr>
              <a:stCxn id="29" idx="3"/>
              <a:endCxn id="32" idx="1"/>
            </p:cNvCxnSpPr>
            <p:nvPr/>
          </p:nvCxnSpPr>
          <p:spPr bwMode="auto">
            <a:xfrm flipV="1">
              <a:off x="6214089" y="1110710"/>
              <a:ext cx="1328127" cy="213668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4"/>
            <p:cNvCxnSpPr>
              <a:stCxn id="29" idx="3"/>
              <a:endCxn id="50" idx="1"/>
            </p:cNvCxnSpPr>
            <p:nvPr/>
          </p:nvCxnSpPr>
          <p:spPr bwMode="auto">
            <a:xfrm>
              <a:off x="6214089" y="1324378"/>
              <a:ext cx="1332449" cy="103951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 Box 11"/>
            <p:cNvSpPr txBox="1">
              <a:spLocks noChangeArrowheads="1"/>
            </p:cNvSpPr>
            <p:nvPr/>
          </p:nvSpPr>
          <p:spPr bwMode="auto">
            <a:xfrm>
              <a:off x="7546538" y="1274440"/>
              <a:ext cx="35137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L3</a:t>
              </a:r>
            </a:p>
          </p:txBody>
        </p:sp>
        <p:sp>
          <p:nvSpPr>
            <p:cNvPr id="57" name="Text Box 11"/>
            <p:cNvSpPr txBox="1">
              <a:spLocks noChangeArrowheads="1"/>
            </p:cNvSpPr>
            <p:nvPr/>
          </p:nvSpPr>
          <p:spPr bwMode="auto">
            <a:xfrm>
              <a:off x="7566063" y="1552900"/>
              <a:ext cx="35137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rgbClr val="000000"/>
                  </a:solidFill>
                </a:rPr>
                <a:t>L4</a:t>
              </a:r>
            </a:p>
          </p:txBody>
        </p:sp>
        <p:cxnSp>
          <p:nvCxnSpPr>
            <p:cNvPr id="58" name="Straight Connector 44"/>
            <p:cNvCxnSpPr>
              <a:stCxn id="37" idx="3"/>
              <a:endCxn id="57" idx="1"/>
            </p:cNvCxnSpPr>
            <p:nvPr/>
          </p:nvCxnSpPr>
          <p:spPr bwMode="auto">
            <a:xfrm flipV="1">
              <a:off x="6214089" y="1706789"/>
              <a:ext cx="1351974" cy="26501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4"/>
            <p:cNvCxnSpPr>
              <a:stCxn id="37" idx="3"/>
              <a:endCxn id="50" idx="1"/>
            </p:cNvCxnSpPr>
            <p:nvPr/>
          </p:nvCxnSpPr>
          <p:spPr bwMode="auto">
            <a:xfrm flipV="1">
              <a:off x="6214089" y="1428329"/>
              <a:ext cx="1332449" cy="304961"/>
            </a:xfrm>
            <a:prstGeom prst="line">
              <a:avLst/>
            </a:prstGeom>
            <a:ln w="57150"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438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dirty="0"/>
              <a:t>Simbologia “notação pé de galinha” </a:t>
            </a:r>
            <a:br>
              <a:rPr lang="pt-BR" dirty="0"/>
            </a:br>
            <a:r>
              <a:rPr lang="pt-BR" dirty="0"/>
              <a:t>(“Crow </a:t>
            </a:r>
            <a:r>
              <a:rPr lang="pt-BR" dirty="0" err="1"/>
              <a:t>foot</a:t>
            </a:r>
            <a:r>
              <a:rPr lang="pt-BR" dirty="0"/>
              <a:t> model”)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3CCE08D-43CF-8A96-283D-7C64902DA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/>
              <a:t>A notação </a:t>
            </a:r>
            <a:r>
              <a:rPr lang="pt-BR" sz="2400" dirty="0" err="1"/>
              <a:t>Crow's</a:t>
            </a:r>
            <a:r>
              <a:rPr lang="pt-BR" sz="2400" dirty="0"/>
              <a:t> </a:t>
            </a:r>
            <a:r>
              <a:rPr lang="pt-BR" sz="2400" dirty="0" err="1"/>
              <a:t>Foot</a:t>
            </a:r>
            <a:r>
              <a:rPr lang="pt-BR" sz="2400" dirty="0"/>
              <a:t> é </a:t>
            </a:r>
            <a:r>
              <a:rPr lang="pt-BR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é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uma notação gráfica </a:t>
            </a:r>
            <a:r>
              <a:rPr lang="pt-BR" sz="2400" dirty="0"/>
              <a:t>utilizada predominantemente no </a:t>
            </a:r>
            <a:r>
              <a:rPr lang="pt-BR" sz="2400" b="1" dirty="0">
                <a:solidFill>
                  <a:srgbClr val="0070C0"/>
                </a:solidFill>
              </a:rPr>
              <a:t>Modelo Lógico</a:t>
            </a:r>
            <a:r>
              <a:rPr lang="pt-BR" sz="2400" dirty="0">
                <a:solidFill>
                  <a:srgbClr val="0070C0"/>
                </a:solidFill>
              </a:rPr>
              <a:t> </a:t>
            </a:r>
            <a:r>
              <a:rPr lang="pt-BR" sz="2400" dirty="0"/>
              <a:t>e no </a:t>
            </a:r>
            <a:r>
              <a:rPr lang="pt-BR" sz="2400" b="1" dirty="0">
                <a:solidFill>
                  <a:srgbClr val="0070C0"/>
                </a:solidFill>
              </a:rPr>
              <a:t>Modelo Físico</a:t>
            </a:r>
            <a:r>
              <a:rPr lang="pt-BR" sz="2400" dirty="0"/>
              <a:t>.</a:t>
            </a:r>
          </a:p>
          <a:p>
            <a:pPr lvl="1"/>
            <a:r>
              <a:rPr lang="pt-BR" b="1" dirty="0"/>
              <a:t>No Modelo Conceitual:</a:t>
            </a:r>
            <a:r>
              <a:rPr lang="pt-BR" dirty="0"/>
              <a:t> Geralmente usa-se a notação de Chen (entidades em retângulos e relacionamentos em losangos).</a:t>
            </a:r>
          </a:p>
          <a:p>
            <a:pPr lvl="1"/>
            <a:r>
              <a:rPr lang="pt-BR" b="1" dirty="0"/>
              <a:t>No Modelo Lógico (MySQL Workbench):</a:t>
            </a:r>
            <a:r>
              <a:rPr lang="pt-BR" dirty="0"/>
              <a:t> É o padrão de mercado. Ela é ideal aqui porque permite visualizar rapidamente como as Chaves Estrangeiras (FK) conectam as tabelas, sendo mais compacta e técnica que a notação de Chen.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Ela usa símbolos simples para mostrar cardinalidade e tipo de relacionamento nas conexões entre entidades.</a:t>
            </a:r>
          </a:p>
          <a:p>
            <a:pPr marL="228600" indent="-228600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Símbolos principais:</a:t>
            </a: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Linha vertical (|): 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cardinalidade Um.</a:t>
            </a: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Círculo (o): 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cardinalidade Zero (opcional).</a:t>
            </a:r>
          </a:p>
          <a:p>
            <a:pPr marL="685800" indent="-228600" algn="l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rgbClr val="0070C0"/>
                </a:solidFill>
                <a:effectLst/>
                <a:latin typeface="Calibri" panose="020F0502020204030204" pitchFamily="34" charset="0"/>
              </a:rPr>
              <a:t>Pés de galinha (&lt; ou &lt;|): </a:t>
            </a:r>
            <a:r>
              <a:rPr lang="pt-BR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cardinalidade Muitos.</a:t>
            </a:r>
            <a:endParaRPr lang="pt-BR" sz="2400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fld id="{DB30B5DD-9567-43DE-A578-1A8085956379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31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90600" y="338328"/>
            <a:ext cx="10210800" cy="10789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Cardinalidade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90600" y="1419083"/>
            <a:ext cx="10210800" cy="52842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marL="0" indent="0" algn="ctr">
              <a:buNone/>
            </a:pPr>
            <a:r>
              <a:rPr lang="pt-BR" sz="3200"/>
              <a:t>Simbologia “n</a:t>
            </a:r>
            <a:r>
              <a:rPr lang="pt-BR" sz="3200" b="0" i="0">
                <a:effectLst/>
              </a:rPr>
              <a:t>otação pé de galinha</a:t>
            </a:r>
            <a:r>
              <a:rPr lang="pt-BR" sz="3200"/>
              <a:t>” (“</a:t>
            </a:r>
            <a:r>
              <a:rPr lang="pt-BR" sz="3200" i="1"/>
              <a:t>Crow foot model</a:t>
            </a:r>
            <a:r>
              <a:rPr lang="pt-BR" sz="3200"/>
              <a:t>”)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70BDD0CE-06A4-404B-8A13-580229C1C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41750"/>
            <a:ext cx="12192000" cy="471625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EE9899FA-8881-472C-AA59-D08A89CA8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D33E42F-1E76-47D9-8A79-9F55AB92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62" y="2742397"/>
            <a:ext cx="4220307" cy="3291840"/>
          </a:xfrm>
          <a:prstGeom prst="rect">
            <a:avLst/>
          </a:prstGeom>
        </p:spPr>
      </p:pic>
      <p:sp>
        <p:nvSpPr>
          <p:cNvPr id="21" name="Rounded Rectangle 16">
            <a:extLst>
              <a:ext uri="{FF2B5EF4-FFF2-40B4-BE49-F238E27FC236}">
                <a16:creationId xmlns:a16="http://schemas.microsoft.com/office/drawing/2014/main" id="{080B7D90-3DF1-4514-B26D-616BE3555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Diagrama&#10;&#10;Descrição gerada automaticamente">
            <a:extLst>
              <a:ext uri="{FF2B5EF4-FFF2-40B4-BE49-F238E27FC236}">
                <a16:creationId xmlns:a16="http://schemas.microsoft.com/office/drawing/2014/main" id="{703B9672-8613-4D2A-B6E6-4E4C1EF4E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16" y="3084888"/>
            <a:ext cx="4974336" cy="2611526"/>
          </a:xfrm>
          <a:prstGeom prst="rect">
            <a:avLst/>
          </a:prstGeom>
        </p:spPr>
      </p:pic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898989"/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>
                <a:solidFill>
                  <a:srgbClr val="898989"/>
                </a:solidFill>
              </a:rPr>
              <a:pPr>
                <a:spcAft>
                  <a:spcPts val="600"/>
                </a:spcAft>
              </a:pPr>
              <a:t>38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845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3617-35F9-6E6E-44DF-6F9FF2E39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9E1B2-9FFC-79A3-E38B-0C7F971C5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Entidades e Atributos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1D0B21-A36D-2071-4847-EB52A79C8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5726"/>
            <a:ext cx="10515599" cy="420624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pt-BR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Simbologia “notação pé de galinha” (“Crow foot model”)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FC85654-F26A-75E5-A0DF-EF37B451C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060848"/>
            <a:ext cx="10515599" cy="2260852"/>
          </a:xfrm>
          <a:prstGeom prst="rect">
            <a:avLst/>
          </a:prstGeom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D52954-CF00-0846-6C22-55F9B41A5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C2A5DA-DD87-FE79-37FC-43D20402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F08E1015-5F2F-4DE1-C11E-7830A8B93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09" y="4298199"/>
            <a:ext cx="2784934" cy="146982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05D02DF4-2761-315A-53E2-F8AFBD91F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236" y="4298199"/>
            <a:ext cx="2952328" cy="23558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5046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Atributos de Relacionamentos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modelagem ER permite atributos também para relacionamentos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B968836-6B14-4635-BE20-BCC77BEE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3812177"/>
            <a:ext cx="10881115" cy="1976640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1E99B3D-4822-7499-00F5-0B5457EAA071}"/>
              </a:ext>
            </a:extLst>
          </p:cNvPr>
          <p:cNvSpPr/>
          <p:nvPr/>
        </p:nvSpPr>
        <p:spPr>
          <a:xfrm>
            <a:off x="4767805" y="3561283"/>
            <a:ext cx="3168352" cy="96650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663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00671-5A64-46EF-A0D1-70577DE93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– Modelando um Hospital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F583D-B6D1-4E97-996B-4A63E86F0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824"/>
            <a:ext cx="10515600" cy="4351338"/>
          </a:xfrm>
        </p:spPr>
        <p:txBody>
          <a:bodyPr/>
          <a:lstStyle/>
          <a:p>
            <a:r>
              <a:rPr lang="pt-BR" dirty="0"/>
              <a:t>Um hospital tem médicos e ambulatórios usados por estes médicos para consultar Pacientes</a:t>
            </a:r>
          </a:p>
          <a:p>
            <a:r>
              <a:rPr lang="pt-BR" dirty="0"/>
              <a:t>Um médico </a:t>
            </a:r>
            <a:r>
              <a:rPr lang="pt-BR" dirty="0">
                <a:solidFill>
                  <a:srgbClr val="C00000"/>
                </a:solidFill>
              </a:rPr>
              <a:t>atende</a:t>
            </a:r>
            <a:r>
              <a:rPr lang="pt-BR" dirty="0"/>
              <a:t> sempre no mesmo ambulatório, mas um ambulatório pode ser usado por </a:t>
            </a:r>
            <a:r>
              <a:rPr lang="pt-BR" dirty="0">
                <a:solidFill>
                  <a:srgbClr val="FF0000"/>
                </a:solidFill>
              </a:rPr>
              <a:t>diversos</a:t>
            </a:r>
            <a:r>
              <a:rPr lang="pt-BR" dirty="0"/>
              <a:t> médicos</a:t>
            </a:r>
          </a:p>
          <a:p>
            <a:r>
              <a:rPr lang="pt-BR" dirty="0"/>
              <a:t>Quaisquer Pacientes podem marcar  consultas, data e hora,  com quaisquer Médicos.</a:t>
            </a:r>
          </a:p>
          <a:p>
            <a:r>
              <a:rPr lang="pt-BR" dirty="0"/>
              <a:t>Atributos:</a:t>
            </a:r>
          </a:p>
          <a:p>
            <a:pPr lvl="1"/>
            <a:r>
              <a:rPr lang="pt-BR" dirty="0"/>
              <a:t>Médicos: Nome, CPF, especialidade e idade</a:t>
            </a:r>
          </a:p>
          <a:p>
            <a:pPr lvl="1"/>
            <a:r>
              <a:rPr lang="pt-BR" dirty="0"/>
              <a:t>Pacientes: Nome, CPF, Doença</a:t>
            </a:r>
          </a:p>
          <a:p>
            <a:pPr lvl="1"/>
            <a:r>
              <a:rPr lang="pt-BR" dirty="0"/>
              <a:t>Ambulatório: Numero, andar, capacidade (leitos)</a:t>
            </a:r>
          </a:p>
          <a:p>
            <a:pPr lvl="1"/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8B2BD3-65C0-4E94-9F5E-BDAA0369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D48DA0-87A2-476E-8858-5B5162C0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656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00671-5A64-46EF-A0D1-70577DE93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657" y="260648"/>
            <a:ext cx="10515600" cy="1325563"/>
          </a:xfrm>
        </p:spPr>
        <p:txBody>
          <a:bodyPr/>
          <a:lstStyle/>
          <a:p>
            <a:r>
              <a:rPr lang="pt-BR" dirty="0"/>
              <a:t>Exemplo – Modelo Conceitual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8B2BD3-65C0-4E94-9F5E-BDAA03692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D48DA0-87A2-476E-8858-5B5162C0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42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2C92BC7-D7BE-4B06-A303-22C810247A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38"/>
          <a:stretch/>
        </p:blipFill>
        <p:spPr>
          <a:xfrm>
            <a:off x="1847528" y="1268760"/>
            <a:ext cx="7632847" cy="558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780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8E927-B965-40C4-9C7A-1C85D9D3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6547D3E-5449-4FC9-97AC-61E5B0FC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792"/>
            <a:ext cx="10515600" cy="479955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400" dirty="0"/>
              <a:t>Monte um modelo conceitual a partir da informações abaixo:</a:t>
            </a:r>
          </a:p>
          <a:p>
            <a:r>
              <a:rPr lang="pt-BR" sz="2400" dirty="0"/>
              <a:t>Um aluno se matricula em 1 a diversas UCs</a:t>
            </a:r>
          </a:p>
          <a:p>
            <a:r>
              <a:rPr lang="pt-BR" sz="2400" dirty="0"/>
              <a:t>Uma UC pode ter de 1 a diversos alunos matriculados</a:t>
            </a:r>
          </a:p>
          <a:p>
            <a:r>
              <a:rPr lang="pt-BR" sz="2400" dirty="0"/>
              <a:t>A matricula de um aluno em uma UC contém período e o conceito do aluno em determinada UC</a:t>
            </a:r>
          </a:p>
          <a:p>
            <a:r>
              <a:rPr lang="pt-BR" sz="2400" dirty="0"/>
              <a:t>Um professor ministra aula em 0 a várias UCs</a:t>
            </a:r>
          </a:p>
          <a:p>
            <a:r>
              <a:rPr lang="pt-BR" sz="2400" dirty="0"/>
              <a:t>Uma UC tem 1 e somente 1 professor</a:t>
            </a:r>
          </a:p>
          <a:p>
            <a:r>
              <a:rPr lang="pt-BR" sz="2400" dirty="0"/>
              <a:t>Uma UC tem de 0 a várias atividades</a:t>
            </a:r>
          </a:p>
          <a:p>
            <a:endParaRPr lang="pt-BR" sz="2400" dirty="0"/>
          </a:p>
          <a:p>
            <a:r>
              <a:rPr lang="pt-BR" sz="2400" dirty="0"/>
              <a:t>Um aluno possui uma matricula, e um nome</a:t>
            </a:r>
          </a:p>
          <a:p>
            <a:r>
              <a:rPr lang="pt-BR" sz="2400" dirty="0"/>
              <a:t>Uma UC tem um código e nome da disciplina</a:t>
            </a:r>
          </a:p>
          <a:p>
            <a:r>
              <a:rPr lang="pt-BR" sz="2400" dirty="0"/>
              <a:t>Um professor tem id professor, nome, email</a:t>
            </a:r>
          </a:p>
          <a:p>
            <a:r>
              <a:rPr lang="pt-BR" sz="2400" dirty="0"/>
              <a:t>Cada atividade tem um código e um conceito associado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A6700C-C7E3-4615-9B12-C84A569A1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59711F-9E45-4133-A460-0387E42C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3972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t-BR" sz="72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Extensão do Modelo ER</a:t>
            </a:r>
            <a:br>
              <a:rPr lang="pt-BR" sz="72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pt-BR" sz="72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 EER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457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EED6FBF-0A74-D02D-5214-A9A8534E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o Modelo EER?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66EF3F20-7DCC-A8DA-8F1D-CFDBF3E28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O </a:t>
            </a:r>
            <a:r>
              <a:rPr lang="pt-BR" sz="2400" b="1" dirty="0"/>
              <a:t>Modelo EER</a:t>
            </a:r>
            <a:r>
              <a:rPr lang="pt-BR" sz="2400" dirty="0"/>
              <a:t> é uma </a:t>
            </a:r>
            <a:r>
              <a:rPr lang="pt-BR" sz="2400" dirty="0">
                <a:solidFill>
                  <a:srgbClr val="C00000"/>
                </a:solidFill>
              </a:rPr>
              <a:t>extensão do Modelo Entidade-Relacionamento (ER) </a:t>
            </a:r>
            <a:r>
              <a:rPr lang="pt-BR" sz="2400" dirty="0"/>
              <a:t>tradicional. </a:t>
            </a:r>
          </a:p>
          <a:p>
            <a:r>
              <a:rPr lang="pt-BR" sz="2400" dirty="0"/>
              <a:t>Ele adiciona novos conceitos de alto nível que permitem modelar com maior precisão e granularidade os dados de um sistema, especialmente em contextos onde entidades </a:t>
            </a:r>
            <a:r>
              <a:rPr lang="pt-BR" sz="2400" dirty="0">
                <a:solidFill>
                  <a:srgbClr val="0070C0"/>
                </a:solidFill>
              </a:rPr>
              <a:t>compartilham características </a:t>
            </a:r>
            <a:r>
              <a:rPr lang="pt-BR" sz="2400" dirty="0"/>
              <a:t>ou têm </a:t>
            </a:r>
            <a:r>
              <a:rPr lang="pt-BR" sz="2400" dirty="0">
                <a:solidFill>
                  <a:srgbClr val="0070C0"/>
                </a:solidFill>
              </a:rPr>
              <a:t>relações mais complexas</a:t>
            </a:r>
            <a:r>
              <a:rPr lang="pt-BR" sz="2400" dirty="0"/>
              <a:t>.</a:t>
            </a:r>
          </a:p>
          <a:p>
            <a:r>
              <a:rPr lang="pt-BR" sz="2400" dirty="0"/>
              <a:t>Os principais conceitos introduzidos pelo EER são: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>
                <a:solidFill>
                  <a:srgbClr val="C00000"/>
                </a:solidFill>
              </a:rPr>
              <a:t>Especialização e Generalização (Herança)</a:t>
            </a:r>
            <a:r>
              <a:rPr lang="pt-BR" b="1" dirty="0"/>
              <a:t>:</a:t>
            </a:r>
            <a:r>
              <a:rPr lang="pt-BR" dirty="0"/>
              <a:t> O conceito mais importante do EER.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>
                <a:solidFill>
                  <a:srgbClr val="C00000"/>
                </a:solidFill>
              </a:rPr>
              <a:t>Agregação:</a:t>
            </a:r>
            <a:r>
              <a:rPr lang="pt-BR" dirty="0"/>
              <a:t> Para representar relacionamentos entre relacionamentos.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>
                <a:solidFill>
                  <a:srgbClr val="C00000"/>
                </a:solidFill>
              </a:rPr>
              <a:t>União (Categoria):</a:t>
            </a:r>
            <a:r>
              <a:rPr lang="pt-BR" dirty="0">
                <a:solidFill>
                  <a:srgbClr val="C00000"/>
                </a:solidFill>
              </a:rPr>
              <a:t> </a:t>
            </a:r>
            <a:r>
              <a:rPr lang="pt-BR" dirty="0"/>
              <a:t>Para agrupar entidades de tipos diferentes.</a:t>
            </a:r>
          </a:p>
          <a:p>
            <a:endParaRPr lang="pt-BR" sz="240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D43BEC97-E19A-816A-D53E-BDA95BD9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EA998F14-9C45-B67B-5361-774AEA3A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465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118063-5F52-4612-8BD1-925867A4D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 x EER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5343BD2-8EA7-4773-9E1B-E03ABA197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68760"/>
            <a:ext cx="5157787" cy="823912"/>
          </a:xfrm>
        </p:spPr>
        <p:txBody>
          <a:bodyPr/>
          <a:lstStyle/>
          <a:p>
            <a:r>
              <a:rPr lang="pt-BR" dirty="0"/>
              <a:t>Diferenças</a:t>
            </a: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F455018A-90FC-45FF-8DE2-EE562D283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2672"/>
            <a:ext cx="5157787" cy="4263678"/>
          </a:xfrm>
        </p:spPr>
        <p:txBody>
          <a:bodyPr>
            <a:normAutofit/>
          </a:bodyPr>
          <a:lstStyle/>
          <a:p>
            <a:r>
              <a:rPr lang="pt-BR" sz="2400" dirty="0"/>
              <a:t>O diagrama EER fornece recursos especiais para </a:t>
            </a:r>
            <a:r>
              <a:rPr lang="pt-BR" sz="2400" dirty="0">
                <a:solidFill>
                  <a:srgbClr val="C00000"/>
                </a:solidFill>
              </a:rPr>
              <a:t>agregar, generalizar e especializar</a:t>
            </a:r>
            <a:r>
              <a:rPr lang="pt-BR" sz="2400" dirty="0"/>
              <a:t> os dados, ao contrário do modelo ER. </a:t>
            </a:r>
          </a:p>
          <a:p>
            <a:r>
              <a:rPr lang="pt-BR" sz="2400" dirty="0"/>
              <a:t>Um modelo EER ajuda a ter uma visão </a:t>
            </a:r>
            <a:r>
              <a:rPr lang="pt-BR" sz="2400" dirty="0">
                <a:solidFill>
                  <a:schemeClr val="accent5"/>
                </a:solidFill>
              </a:rPr>
              <a:t>mais detalhada </a:t>
            </a:r>
            <a:r>
              <a:rPr lang="pt-BR" sz="2400" dirty="0"/>
              <a:t>do seu banco de dados.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76265907-9F48-4161-BE2C-FB0800224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68760"/>
            <a:ext cx="5183188" cy="823912"/>
          </a:xfrm>
        </p:spPr>
        <p:txBody>
          <a:bodyPr/>
          <a:lstStyle/>
          <a:p>
            <a:r>
              <a:rPr lang="pt-BR" dirty="0"/>
              <a:t>Semelhanças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2CC64093-0D85-4D97-89D7-125B15182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2672"/>
            <a:ext cx="5183188" cy="4263678"/>
          </a:xfrm>
        </p:spPr>
        <p:txBody>
          <a:bodyPr>
            <a:normAutofit/>
          </a:bodyPr>
          <a:lstStyle/>
          <a:p>
            <a:r>
              <a:rPr lang="pt-BR" sz="2400" dirty="0"/>
              <a:t>Ambos os diagramas podem ajudar a criar e projetar bancos de dados</a:t>
            </a:r>
          </a:p>
          <a:p>
            <a:r>
              <a:rPr lang="pt-BR" sz="2400" dirty="0"/>
              <a:t>Ambos os diagramas ER e EER estão sendo amplamente usados para gerenciar sistemas de informação e projetar bancos de dados. </a:t>
            </a:r>
          </a:p>
          <a:p>
            <a:r>
              <a:rPr lang="pt-BR" sz="2400" dirty="0"/>
              <a:t>Quando os dados são complicados, um modelo EER é usado porque vem com especificações adicionais e pode ajudar a lidar com os dados de forma mais inteligente.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20CC51-BF39-407A-AFC6-5C2C46282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0D85F3-D5E5-4400-A4F4-826310C7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4627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72FACCF8-1415-6F0A-646C-EBA851BE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 e Generalização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D944DD3E-02A9-A7B1-1BD8-42774EE79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24236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2000" dirty="0"/>
              <a:t>Refere-se à capacidade de </a:t>
            </a:r>
            <a:r>
              <a:rPr lang="pt-BR" sz="2000" dirty="0">
                <a:solidFill>
                  <a:srgbClr val="C00000"/>
                </a:solidFill>
              </a:rPr>
              <a:t>representar hierarquias entre entidades</a:t>
            </a:r>
            <a:r>
              <a:rPr lang="pt-BR" sz="2000" dirty="0"/>
              <a:t>, ou seja, onde uma entidade pode ser uma </a:t>
            </a:r>
            <a:r>
              <a:rPr lang="pt-BR" sz="2000" dirty="0" err="1"/>
              <a:t>sub-entidade</a:t>
            </a:r>
            <a:r>
              <a:rPr lang="pt-BR" sz="2000" dirty="0"/>
              <a:t> de outra mais genérica, herdando seus atributos..</a:t>
            </a:r>
          </a:p>
          <a:p>
            <a:pPr>
              <a:lnSpc>
                <a:spcPct val="120000"/>
              </a:lnSpc>
            </a:pPr>
            <a:r>
              <a:rPr lang="pt-BR" sz="2000" b="1" dirty="0">
                <a:solidFill>
                  <a:srgbClr val="C00000"/>
                </a:solidFill>
              </a:rPr>
              <a:t>Generalização</a:t>
            </a:r>
            <a:r>
              <a:rPr lang="pt-BR" sz="2000" dirty="0"/>
              <a:t>: É o processo de identificar </a:t>
            </a:r>
            <a:r>
              <a:rPr lang="pt-BR" sz="2000" dirty="0">
                <a:solidFill>
                  <a:schemeClr val="accent5"/>
                </a:solidFill>
              </a:rPr>
              <a:t>características comuns entre entidades </a:t>
            </a:r>
            <a:r>
              <a:rPr lang="pt-BR" sz="2000" dirty="0"/>
              <a:t>de nível inferior (subtipos) e </a:t>
            </a:r>
            <a:r>
              <a:rPr lang="pt-BR" sz="2000" dirty="0">
                <a:solidFill>
                  <a:schemeClr val="accent5"/>
                </a:solidFill>
              </a:rPr>
              <a:t>agrupá-las em uma entidade de nível superior </a:t>
            </a:r>
            <a:r>
              <a:rPr lang="pt-BR" sz="2000" dirty="0"/>
              <a:t>(supertipo). Pensamos "de baixo para cima".</a:t>
            </a:r>
          </a:p>
          <a:p>
            <a:pPr lvl="1">
              <a:lnSpc>
                <a:spcPct val="120000"/>
              </a:lnSpc>
            </a:pPr>
            <a:r>
              <a:rPr lang="pt-BR" sz="2000" dirty="0" err="1"/>
              <a:t>Ex</a:t>
            </a:r>
            <a:r>
              <a:rPr lang="pt-BR" sz="2000" dirty="0"/>
              <a:t>: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</a:rPr>
              <a:t>Carro</a:t>
            </a:r>
            <a:r>
              <a:rPr lang="pt-BR" sz="2000" i="1" dirty="0"/>
              <a:t>,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</a:rPr>
              <a:t>Caminhão</a:t>
            </a:r>
            <a:r>
              <a:rPr lang="pt-BR" sz="2000" i="1" dirty="0"/>
              <a:t> </a:t>
            </a:r>
            <a:r>
              <a:rPr lang="pt-BR" sz="2000" dirty="0"/>
              <a:t>e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</a:rPr>
              <a:t>Moto</a:t>
            </a:r>
            <a:r>
              <a:rPr lang="pt-BR" sz="2000" i="1" dirty="0"/>
              <a:t> </a:t>
            </a:r>
            <a:r>
              <a:rPr lang="pt-BR" sz="2000" dirty="0"/>
              <a:t>podem ser generalizados para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</a:rPr>
              <a:t>Veículo</a:t>
            </a:r>
            <a:r>
              <a:rPr lang="pt-BR" sz="2000" dirty="0"/>
              <a:t>.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3AEB9AA9-07EE-55C0-6079-1EE78CEB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57A4B8C8-9462-4711-1E12-19E060E4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47</a:t>
            </a:fld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439C624-D2F5-83CE-509D-9D333A93A944}"/>
              </a:ext>
            </a:extLst>
          </p:cNvPr>
          <p:cNvSpPr/>
          <p:nvPr/>
        </p:nvSpPr>
        <p:spPr>
          <a:xfrm>
            <a:off x="2760426" y="4533937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Carro 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4D72998-5A88-A595-EAAD-839C76FDFEA0}"/>
              </a:ext>
            </a:extLst>
          </p:cNvPr>
          <p:cNvSpPr/>
          <p:nvPr/>
        </p:nvSpPr>
        <p:spPr>
          <a:xfrm>
            <a:off x="6569224" y="449939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Caminhão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2D68503-E37E-F2A0-37BF-255700CB18CE}"/>
              </a:ext>
            </a:extLst>
          </p:cNvPr>
          <p:cNvSpPr/>
          <p:nvPr/>
        </p:nvSpPr>
        <p:spPr>
          <a:xfrm>
            <a:off x="4631645" y="5780286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Veículo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03DF0711-50B6-B78D-D356-9253C6E1C29A}"/>
              </a:ext>
            </a:extLst>
          </p:cNvPr>
          <p:cNvCxnSpPr>
            <a:stCxn id="13" idx="0"/>
            <a:endCxn id="11" idx="2"/>
          </p:cNvCxnSpPr>
          <p:nvPr/>
        </p:nvCxnSpPr>
        <p:spPr>
          <a:xfrm flipH="1" flipV="1">
            <a:off x="3552514" y="5110001"/>
            <a:ext cx="1871219" cy="670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C380A7BF-9D82-4D84-A938-FD7110363A7D}"/>
              </a:ext>
            </a:extLst>
          </p:cNvPr>
          <p:cNvSpPr/>
          <p:nvPr/>
        </p:nvSpPr>
        <p:spPr>
          <a:xfrm>
            <a:off x="4664825" y="4512094"/>
            <a:ext cx="1584176" cy="576064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Moto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93B181E-DF9E-54B6-1B56-975A459373A8}"/>
              </a:ext>
            </a:extLst>
          </p:cNvPr>
          <p:cNvCxnSpPr>
            <a:stCxn id="13" idx="0"/>
            <a:endCxn id="15" idx="2"/>
          </p:cNvCxnSpPr>
          <p:nvPr/>
        </p:nvCxnSpPr>
        <p:spPr>
          <a:xfrm flipV="1">
            <a:off x="5423733" y="5088158"/>
            <a:ext cx="33180" cy="69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F06FF4B3-AA42-5F6B-3B00-2A8A50C31FB8}"/>
              </a:ext>
            </a:extLst>
          </p:cNvPr>
          <p:cNvCxnSpPr>
            <a:stCxn id="13" idx="0"/>
            <a:endCxn id="12" idx="2"/>
          </p:cNvCxnSpPr>
          <p:nvPr/>
        </p:nvCxnSpPr>
        <p:spPr>
          <a:xfrm flipV="1">
            <a:off x="5423733" y="5075458"/>
            <a:ext cx="1937579" cy="704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6382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89ED6-6BE7-DDCB-E454-0AB6D9E6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450DBF8B-F4DB-639E-E801-0EC6D90A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Especialização e Generalização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35511608-F6F5-7225-F470-C9B9F782D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rmAutofit/>
          </a:bodyPr>
          <a:lstStyle/>
          <a:p>
            <a:r>
              <a:rPr lang="pt-BR" sz="2400" b="1" dirty="0">
                <a:solidFill>
                  <a:srgbClr val="C00000"/>
                </a:solidFill>
              </a:rPr>
              <a:t>Especialização</a:t>
            </a:r>
            <a:r>
              <a:rPr lang="pt-BR" sz="2400" dirty="0"/>
              <a:t>: É o processo </a:t>
            </a: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</a:rPr>
              <a:t>inverso da generalização</a:t>
            </a:r>
            <a:r>
              <a:rPr lang="pt-BR" sz="2400" dirty="0"/>
              <a:t>. Uma entidade de nível superior (supertipo) pode ser dividida em entidades de nível inferior (subtipos) com características e atributos específicos. Pensamos "de cima para baixo".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Funcionário</a:t>
            </a:r>
            <a:r>
              <a:rPr lang="pt-BR" dirty="0"/>
              <a:t> pode ser especializado em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Professor</a:t>
            </a:r>
            <a:r>
              <a:rPr lang="pt-BR" dirty="0"/>
              <a:t> e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Técnico Administrativo</a:t>
            </a:r>
            <a:r>
              <a:rPr lang="pt-BR" dirty="0"/>
              <a:t>.</a:t>
            </a:r>
          </a:p>
          <a:p>
            <a:r>
              <a:rPr lang="pt-BR" sz="2400" dirty="0"/>
              <a:t>No diagrama EER, a especialização/generalização é representada por um triângulo (ou "E" de especialização), apontando para o supertipo.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44BE19A9-EF3D-F6DC-99CF-0C374C30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E259E6DE-5EDF-7DCE-4950-5597A69B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48</a:t>
            </a:fld>
            <a:endParaRPr lang="pt-BR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C13E599-33AE-E802-7B03-D84B7A8B0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818" y="3953868"/>
            <a:ext cx="3276364" cy="279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5567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A7D6D-1861-E701-A94D-DBF1F945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b="1" dirty="0"/>
              <a:t>Atributos e Relacionamentos na Hierarquia: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B8AB3E-BED4-7257-E3DA-2F85A843F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>
                <a:solidFill>
                  <a:srgbClr val="C00000"/>
                </a:solidFill>
              </a:rPr>
              <a:t>Supertipo</a:t>
            </a:r>
            <a:r>
              <a:rPr lang="pt-BR" b="1" dirty="0"/>
              <a:t>:</a:t>
            </a:r>
            <a:r>
              <a:rPr lang="pt-BR" dirty="0"/>
              <a:t> </a:t>
            </a:r>
          </a:p>
          <a:p>
            <a:r>
              <a:rPr lang="pt-BR" dirty="0"/>
              <a:t>Contém os </a:t>
            </a:r>
            <a:r>
              <a:rPr lang="pt-BR" dirty="0">
                <a:solidFill>
                  <a:srgbClr val="C00000"/>
                </a:solidFill>
              </a:rPr>
              <a:t>atributos e relacionamentos comuns </a:t>
            </a:r>
            <a:r>
              <a:rPr lang="pt-BR" dirty="0"/>
              <a:t>a todos os seus subtipos.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Subtipo: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Herda todos os atributos e relacionamentos do supertipo </a:t>
            </a:r>
            <a:r>
              <a:rPr lang="pt-BR" dirty="0"/>
              <a:t>e pode ter seus próprios atributos e relacionamentos específicos.</a:t>
            </a:r>
          </a:p>
          <a:p>
            <a:endParaRPr lang="pt-BR" dirty="0"/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FA2BA9B5-0D21-57C2-96E8-10EC6546BC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8" r="-3" b="-3"/>
          <a:stretch>
            <a:fillRect/>
          </a:stretch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D2BDE3-1943-4F9F-3FD0-FBD83835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2DBD1C-7C1E-E5E3-6C94-631C31BD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49</a:t>
            </a:fld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0E608F9-1326-8616-7534-2F715E449734}"/>
              </a:ext>
            </a:extLst>
          </p:cNvPr>
          <p:cNvSpPr/>
          <p:nvPr/>
        </p:nvSpPr>
        <p:spPr>
          <a:xfrm>
            <a:off x="5807968" y="1825625"/>
            <a:ext cx="5832648" cy="1891407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5466985-6BF5-D737-21F0-3418DD359319}"/>
              </a:ext>
            </a:extLst>
          </p:cNvPr>
          <p:cNvSpPr/>
          <p:nvPr/>
        </p:nvSpPr>
        <p:spPr>
          <a:xfrm>
            <a:off x="6456040" y="4005065"/>
            <a:ext cx="1925960" cy="2306836"/>
          </a:xfrm>
          <a:prstGeom prst="round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88D03DE-40CC-0812-0F34-5B18DF0F8DE4}"/>
              </a:ext>
            </a:extLst>
          </p:cNvPr>
          <p:cNvSpPr/>
          <p:nvPr/>
        </p:nvSpPr>
        <p:spPr>
          <a:xfrm>
            <a:off x="9192344" y="3991097"/>
            <a:ext cx="1925960" cy="2306836"/>
          </a:xfrm>
          <a:prstGeom prst="roundRect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2688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7396D-9755-549A-F3B6-C343A57A3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Notação de Restrições em EER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F1EBB5-32A8-95FE-BD70-C2C3F32C5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notação principal gira em torno de um </a:t>
            </a:r>
            <a:r>
              <a:rPr lang="pt-BR" b="1" dirty="0"/>
              <a:t>triângulo</a:t>
            </a:r>
            <a:r>
              <a:rPr lang="pt-BR" dirty="0"/>
              <a:t> que conecta a entidade genérica (superclasse ou supertipo) às entidades especializadas (subclasses ou subtipos).</a:t>
            </a:r>
          </a:p>
          <a:p>
            <a:r>
              <a:rPr lang="pt-BR" dirty="0"/>
              <a:t>Existem três elementos-chave na notação de especialização: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>
                <a:solidFill>
                  <a:srgbClr val="C00000"/>
                </a:solidFill>
              </a:rPr>
              <a:t>O Triângulo de Especialização</a:t>
            </a:r>
            <a:r>
              <a:rPr lang="pt-BR" dirty="0"/>
              <a:t>: Representa a relação "é um" (IS-A). O vértice do triângulo aponta para a entidade genérica (superclasse), enquanto a base se conecta a uma linha que liga as entidades especializadas (subclasses).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5826B98-5873-C5AE-563C-3B12BEF0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074EBDC-22DA-AB5D-B1F4-738D0685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0032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B29AF-9EE8-EBB9-2B2B-64C28F87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8BEC1-7FE6-E112-E104-E07B7C19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Restrição de Disjunção (d ou 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87A5D8-46FE-065F-1965-AE79246FA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62456" cy="4530725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 startAt="2"/>
            </a:pPr>
            <a:r>
              <a:rPr lang="pt-BR" sz="2400" b="1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Restrição de Disjunção (d ou o):</a:t>
            </a:r>
          </a:p>
          <a:p>
            <a:pPr>
              <a:lnSpc>
                <a:spcPct val="100000"/>
              </a:lnSpc>
            </a:pP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Esta restrição se refere à </a:t>
            </a:r>
            <a:r>
              <a:rPr lang="pt-BR" sz="2400" b="1" dirty="0">
                <a:latin typeface="72" panose="020B0503030000000003" pitchFamily="34" charset="0"/>
                <a:cs typeface="72" panose="020B0503030000000003" pitchFamily="34" charset="0"/>
              </a:rPr>
              <a:t>disjunção ou sobreposição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 entre os subtipos de uma especialização. </a:t>
            </a:r>
            <a:endParaRPr lang="pt-BR" sz="2400" b="1" dirty="0">
              <a:solidFill>
                <a:srgbClr val="C00000"/>
              </a:solidFill>
              <a:latin typeface="72" panose="020B0503030000000003" pitchFamily="34" charset="0"/>
              <a:cs typeface="72" panose="020B0503030000000003" pitchFamily="34" charset="0"/>
            </a:endParaRPr>
          </a:p>
          <a:p>
            <a:pPr marL="457200" indent="-457200">
              <a:lnSpc>
                <a:spcPct val="100000"/>
              </a:lnSpc>
              <a:buFont typeface="+mj-lt"/>
              <a:buAutoNum type="alphaLcParenR"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Disjunta (d)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: Uma instância do supertipo 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pode pertencer a apenas um dos subtipos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. Representada por um “d” dentro do círculo ou no triângulo.</a:t>
            </a:r>
          </a:p>
          <a:p>
            <a:pPr lvl="1">
              <a:lnSpc>
                <a:spcPct val="100000"/>
              </a:lnSpc>
            </a:pPr>
            <a:r>
              <a:rPr lang="pt-BR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dirty="0">
                <a:latin typeface="72" panose="020B0503030000000003" pitchFamily="34" charset="0"/>
                <a:cs typeface="72" panose="020B0503030000000003" pitchFamily="34" charset="0"/>
              </a:rPr>
              <a:t>: Um Veículo ou é um Carro, ou um Caminhão, ou uma Moto, mas nunca mais de um ao mesmo tempo.</a:t>
            </a:r>
          </a:p>
          <a:p>
            <a:pPr lvl="1">
              <a:lnSpc>
                <a:spcPct val="100000"/>
              </a:lnSpc>
            </a:pPr>
            <a:r>
              <a:rPr lang="pt-BR" altLang="pt-BR" sz="1800" b="1" dirty="0">
                <a:latin typeface="72" panose="020B0503030000000003" pitchFamily="34" charset="0"/>
                <a:cs typeface="72" panose="020B0503030000000003" pitchFamily="34" charset="0"/>
              </a:rPr>
              <a:t>Notação:</a:t>
            </a:r>
            <a:r>
              <a:rPr lang="pt-BR" altLang="pt-BR" sz="1800" dirty="0">
                <a:latin typeface="72" panose="020B0503030000000003" pitchFamily="34" charset="0"/>
                <a:cs typeface="72" panose="020B0503030000000003" pitchFamily="34" charset="0"/>
              </a:rPr>
              <a:t> Representada pela letra d (de "</a:t>
            </a:r>
            <a:r>
              <a:rPr lang="pt-BR" altLang="pt-BR" sz="1800" dirty="0" err="1">
                <a:latin typeface="72" panose="020B0503030000000003" pitchFamily="34" charset="0"/>
                <a:cs typeface="72" panose="020B0503030000000003" pitchFamily="34" charset="0"/>
              </a:rPr>
              <a:t>disjoint</a:t>
            </a:r>
            <a:r>
              <a:rPr lang="pt-BR" altLang="pt-BR" sz="1800" dirty="0">
                <a:latin typeface="72" panose="020B0503030000000003" pitchFamily="34" charset="0"/>
                <a:cs typeface="72" panose="020B0503030000000003" pitchFamily="34" charset="0"/>
              </a:rPr>
              <a:t>") dentro do círculo da especialização.</a:t>
            </a:r>
          </a:p>
          <a:p>
            <a:pPr marL="457200" indent="-457200">
              <a:lnSpc>
                <a:spcPct val="100000"/>
              </a:lnSpc>
              <a:buFont typeface="+mj-lt"/>
              <a:buAutoNum type="alphaLcParenR" startAt="2"/>
            </a:pPr>
            <a:r>
              <a:rPr lang="pt-BR" sz="2400" b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Sobreposta (o)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: Uma instância do supertipo pode </a:t>
            </a:r>
            <a:r>
              <a:rPr lang="pt-BR" sz="2400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pertencer a mais de um dos subtipos</a:t>
            </a:r>
            <a:r>
              <a:rPr lang="pt-BR" sz="2400" dirty="0">
                <a:latin typeface="72" panose="020B0503030000000003" pitchFamily="34" charset="0"/>
                <a:cs typeface="72" panose="020B0503030000000003" pitchFamily="34" charset="0"/>
              </a:rPr>
              <a:t>. Representada por um “o” dentro do círculo do triângulo.</a:t>
            </a:r>
          </a:p>
          <a:p>
            <a:pPr lvl="1">
              <a:lnSpc>
                <a:spcPct val="100000"/>
              </a:lnSpc>
            </a:pPr>
            <a:r>
              <a:rPr lang="pt-BR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dirty="0">
                <a:latin typeface="72" panose="020B0503030000000003" pitchFamily="34" charset="0"/>
                <a:cs typeface="72" panose="020B0503030000000003" pitchFamily="34" charset="0"/>
              </a:rPr>
              <a:t>: Uma Pessoa pode ser um Estudante e um Funcionário ao mesmo tempo.</a:t>
            </a:r>
          </a:p>
          <a:p>
            <a:pPr lvl="1">
              <a:lnSpc>
                <a:spcPct val="100000"/>
              </a:lnSpc>
            </a:pPr>
            <a:r>
              <a:rPr lang="pt-BR" sz="1800" b="1" dirty="0">
                <a:latin typeface="72" panose="020B0503030000000003" pitchFamily="34" charset="0"/>
                <a:cs typeface="72" panose="020B0503030000000003" pitchFamily="34" charset="0"/>
              </a:rPr>
              <a:t>Notação:</a:t>
            </a:r>
            <a:r>
              <a:rPr lang="pt-BR" sz="1800" dirty="0">
                <a:latin typeface="72" panose="020B0503030000000003" pitchFamily="34" charset="0"/>
                <a:cs typeface="72" panose="020B0503030000000003" pitchFamily="34" charset="0"/>
              </a:rPr>
              <a:t> Representada pela letra “o” (de "</a:t>
            </a:r>
            <a:r>
              <a:rPr lang="pt-BR" sz="1800" dirty="0" err="1">
                <a:latin typeface="72" panose="020B0503030000000003" pitchFamily="34" charset="0"/>
                <a:cs typeface="72" panose="020B0503030000000003" pitchFamily="34" charset="0"/>
              </a:rPr>
              <a:t>overlapping</a:t>
            </a:r>
            <a:r>
              <a:rPr lang="pt-BR" sz="1800" dirty="0">
                <a:latin typeface="72" panose="020B0503030000000003" pitchFamily="34" charset="0"/>
                <a:cs typeface="72" panose="020B0503030000000003" pitchFamily="34" charset="0"/>
              </a:rPr>
              <a:t>") dentro do círculo ou no triangulo da especialização.</a:t>
            </a:r>
            <a:endParaRPr lang="pt-BR" altLang="pt-BR" sz="1800" dirty="0">
              <a:latin typeface="72" panose="020B0503030000000003" pitchFamily="34" charset="0"/>
              <a:cs typeface="72" panose="020B0503030000000003" pitchFamily="34" charset="0"/>
            </a:endParaRPr>
          </a:p>
          <a:p>
            <a:pPr>
              <a:lnSpc>
                <a:spcPct val="100000"/>
              </a:lnSpc>
            </a:pPr>
            <a:endParaRPr lang="pt-BR" sz="240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E22F66-8B94-1121-188C-772AE9B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8C99DE3-7842-1E0E-C28E-98D85A69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852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BA58A-9379-CFA6-9239-01919165F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Restrição de Totalidade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BBFD6-5DDF-CD7A-90C1-B11C88C5E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412776"/>
            <a:ext cx="10515600" cy="4530725"/>
          </a:xfrm>
        </p:spPr>
        <p:txBody>
          <a:bodyPr>
            <a:noAutofit/>
          </a:bodyPr>
          <a:lstStyle/>
          <a:p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Esta restrição se refere à </a:t>
            </a:r>
            <a:r>
              <a:rPr lang="pt-BR" sz="2000" b="1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totalidade da participação</a:t>
            </a:r>
            <a:r>
              <a:rPr lang="pt-BR" sz="2000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 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das instâncias do supertipo nos subtipos da especialização. </a:t>
            </a:r>
            <a:endParaRPr lang="pt-BR" sz="2000" dirty="0">
              <a:solidFill>
                <a:srgbClr val="C00000"/>
              </a:solidFill>
              <a:latin typeface="72" panose="020B0503030000000003" pitchFamily="34" charset="0"/>
              <a:cs typeface="72" panose="020B0503030000000003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pt-BR" sz="2000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Total: 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Toda instância do supertipo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deve pertencer a pelo menos um dos subtipos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. Isso significa que não existem instâncias do supertipo que não se encaixem em nenhum dos subtipos.</a:t>
            </a:r>
          </a:p>
          <a:p>
            <a:r>
              <a:rPr lang="pt-BR" sz="2000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: Se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Pessoa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se especializa em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Homem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e </a:t>
            </a:r>
            <a:r>
              <a:rPr lang="pt-BR" sz="2000" i="1" dirty="0">
                <a:latin typeface="72" panose="020B0503030000000003" pitchFamily="34" charset="0"/>
                <a:cs typeface="72" panose="020B0503030000000003" pitchFamily="34" charset="0"/>
              </a:rPr>
              <a:t>Mulher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, toda pessoa deve ser ou homem ou mulher.</a:t>
            </a:r>
          </a:p>
          <a:p>
            <a:r>
              <a:rPr lang="pt-BR" sz="2000" b="1" dirty="0">
                <a:latin typeface="72" panose="020B0503030000000003" pitchFamily="34" charset="0"/>
                <a:cs typeface="72" panose="020B0503030000000003" pitchFamily="34" charset="0"/>
              </a:rPr>
              <a:t>Notação: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Representada por </a:t>
            </a:r>
            <a:r>
              <a:rPr lang="pt-BR" sz="2000" b="1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duas linhas</a:t>
            </a:r>
            <a:r>
              <a:rPr lang="pt-BR" sz="2000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 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conectando o supertipo ao círculo da especialização(ou referencia no triangulo)</a:t>
            </a:r>
          </a:p>
          <a:p>
            <a:pPr marL="457200" indent="-457200">
              <a:buFont typeface="+mj-lt"/>
              <a:buAutoNum type="alphaLcParenR" startAt="2"/>
            </a:pPr>
            <a:r>
              <a:rPr lang="pt-BR" sz="2000" dirty="0">
                <a:solidFill>
                  <a:srgbClr val="C00000"/>
                </a:solidFill>
                <a:latin typeface="72" panose="020B0503030000000003" pitchFamily="34" charset="0"/>
                <a:cs typeface="72" panose="020B0503030000000003" pitchFamily="34" charset="0"/>
              </a:rPr>
              <a:t>Parcial: 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Uma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instância do supertipo pode ou não pertencer a um dos subtipos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. Existem instâncias do supertipo que não se encaixam em nenhum dos subtipos definidos.</a:t>
            </a:r>
          </a:p>
          <a:p>
            <a:r>
              <a:rPr lang="pt-BR" sz="2000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: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Funcionário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pode ser especializado em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Gerente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e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latin typeface="72" panose="020B0503030000000003" pitchFamily="34" charset="0"/>
                <a:cs typeface="72" panose="020B0503030000000003" pitchFamily="34" charset="0"/>
              </a:rPr>
              <a:t>Vendedor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, mas pode haver funcionários que não são nem gerentes nem vendedores (</a:t>
            </a:r>
            <a:r>
              <a:rPr lang="pt-BR" sz="2000" dirty="0" err="1">
                <a:latin typeface="72" panose="020B0503030000000003" pitchFamily="34" charset="0"/>
                <a:cs typeface="72" panose="020B0503030000000003" pitchFamily="34" charset="0"/>
              </a:rPr>
              <a:t>ex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: um estagiário).</a:t>
            </a:r>
          </a:p>
          <a:p>
            <a:r>
              <a:rPr lang="pt-BR" sz="2000" b="1" dirty="0">
                <a:latin typeface="72" panose="020B0503030000000003" pitchFamily="34" charset="0"/>
                <a:cs typeface="72" panose="020B0503030000000003" pitchFamily="34" charset="0"/>
              </a:rPr>
              <a:t>Notação: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Representada por </a:t>
            </a:r>
            <a:r>
              <a:rPr lang="pt-BR" sz="2000" b="1" dirty="0">
                <a:latin typeface="72" panose="020B0503030000000003" pitchFamily="34" charset="0"/>
                <a:cs typeface="72" panose="020B0503030000000003" pitchFamily="34" charset="0"/>
              </a:rPr>
              <a:t>uma única linha</a:t>
            </a:r>
            <a:r>
              <a:rPr lang="pt-BR" sz="2000" dirty="0">
                <a:latin typeface="72" panose="020B0503030000000003" pitchFamily="34" charset="0"/>
                <a:cs typeface="72" panose="020B0503030000000003" pitchFamily="34" charset="0"/>
              </a:rPr>
              <a:t> conectando o supertipo ao círculo da especialização (Ou referencia no triangulo)</a:t>
            </a:r>
          </a:p>
          <a:p>
            <a:endParaRPr lang="pt-BR" sz="2000" dirty="0">
              <a:latin typeface="72" panose="020B0503030000000003" pitchFamily="34" charset="0"/>
              <a:cs typeface="72" panose="020B0503030000000003" pitchFamily="34" charset="0"/>
            </a:endParaRP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67E108-FCBE-B683-836C-1EC70B89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91E5C0F-50BC-C3F3-85E8-83C4F859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420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72F0160-694E-0EA6-4CE2-A95A4612C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426" y="1834210"/>
            <a:ext cx="3551228" cy="306350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3FBE0BB-26B9-45B9-A1C5-7778C1CF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Restrições na especialização</a:t>
            </a:r>
            <a:br>
              <a:rPr lang="pt-BR" dirty="0"/>
            </a:br>
            <a:r>
              <a:rPr lang="pt-BR" dirty="0"/>
              <a:t>Exemplo (Br-Modelo)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13F91E-04CE-4872-8C55-6311D1E5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Roberto Harkovsky, </a:t>
            </a:r>
            <a:r>
              <a:rPr lang="pt-BR" dirty="0" err="1"/>
              <a:t>MSc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D7C370-E736-4EAB-B41F-A2E26A42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53</a:t>
            </a:fld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F696F2-1641-40EC-A116-CB836DCD4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217417" cy="4351338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/>
              <a:t>Quanto totalidade da participação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solidFill>
                  <a:srgbClr val="C00000"/>
                </a:solidFill>
              </a:rPr>
              <a:t>t</a:t>
            </a:r>
            <a:r>
              <a:rPr lang="pt-BR" dirty="0"/>
              <a:t>) – Total </a:t>
            </a:r>
          </a:p>
          <a:p>
            <a:pPr marL="0" indent="0">
              <a:buNone/>
            </a:pPr>
            <a:r>
              <a:rPr lang="pt-BR" dirty="0"/>
              <a:t>x </a:t>
            </a:r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solidFill>
                  <a:srgbClr val="C00000"/>
                </a:solidFill>
              </a:rPr>
              <a:t>p</a:t>
            </a:r>
            <a:r>
              <a:rPr lang="pt-BR" dirty="0"/>
              <a:t>) – Parcial</a:t>
            </a:r>
          </a:p>
          <a:p>
            <a:pPr marL="0" indent="0">
              <a:buNone/>
            </a:pPr>
            <a:endParaRPr lang="pt-BR" dirty="0"/>
          </a:p>
          <a:p>
            <a:r>
              <a:rPr lang="pt-BR" b="1" dirty="0"/>
              <a:t>Quanto a especialização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solidFill>
                  <a:srgbClr val="C00000"/>
                </a:solidFill>
              </a:rPr>
              <a:t>d</a:t>
            </a:r>
            <a:r>
              <a:rPr lang="pt-BR" dirty="0"/>
              <a:t>) Disjunta -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Equivalente à notação "d" (</a:t>
            </a:r>
            <a:r>
              <a:rPr lang="pt-BR" i="1" dirty="0" err="1">
                <a:solidFill>
                  <a:schemeClr val="accent5">
                    <a:lumMod val="75000"/>
                  </a:schemeClr>
                </a:solidFill>
              </a:rPr>
              <a:t>disjoint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) </a:t>
            </a:r>
          </a:p>
          <a:p>
            <a:pPr marL="0" indent="0">
              <a:buNone/>
            </a:pPr>
            <a:r>
              <a:rPr lang="pt-BR" dirty="0"/>
              <a:t>x </a:t>
            </a:r>
          </a:p>
          <a:p>
            <a:pPr marL="0" indent="0">
              <a:buNone/>
            </a:pPr>
            <a:r>
              <a:rPr lang="pt-BR" dirty="0"/>
              <a:t>(</a:t>
            </a:r>
            <a:r>
              <a:rPr lang="pt-BR" dirty="0">
                <a:solidFill>
                  <a:srgbClr val="C00000"/>
                </a:solidFill>
              </a:rPr>
              <a:t>c</a:t>
            </a:r>
            <a:r>
              <a:rPr lang="pt-BR" dirty="0"/>
              <a:t>) Compartilhada -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Equivalente à notação "o" (</a:t>
            </a:r>
            <a:r>
              <a:rPr lang="pt-BR" i="1" dirty="0" err="1">
                <a:solidFill>
                  <a:schemeClr val="accent5">
                    <a:lumMod val="75000"/>
                  </a:schemeClr>
                </a:solidFill>
              </a:rPr>
              <a:t>overlapping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),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8195E04-FEC7-1F3E-8787-0BE2886D0AF1}"/>
              </a:ext>
            </a:extLst>
          </p:cNvPr>
          <p:cNvSpPr/>
          <p:nvPr/>
        </p:nvSpPr>
        <p:spPr>
          <a:xfrm>
            <a:off x="9408368" y="3429000"/>
            <a:ext cx="1008112" cy="720080"/>
          </a:xfrm>
          <a:custGeom>
            <a:avLst/>
            <a:gdLst>
              <a:gd name="csX0" fmla="*/ 0 w 1008112"/>
              <a:gd name="csY0" fmla="*/ 120016 h 720080"/>
              <a:gd name="csX1" fmla="*/ 120016 w 1008112"/>
              <a:gd name="csY1" fmla="*/ 0 h 720080"/>
              <a:gd name="csX2" fmla="*/ 488694 w 1008112"/>
              <a:gd name="csY2" fmla="*/ 0 h 720080"/>
              <a:gd name="csX3" fmla="*/ 888096 w 1008112"/>
              <a:gd name="csY3" fmla="*/ 0 h 720080"/>
              <a:gd name="csX4" fmla="*/ 1008112 w 1008112"/>
              <a:gd name="csY4" fmla="*/ 120016 h 720080"/>
              <a:gd name="csX5" fmla="*/ 1008112 w 1008112"/>
              <a:gd name="csY5" fmla="*/ 600064 h 720080"/>
              <a:gd name="csX6" fmla="*/ 888096 w 1008112"/>
              <a:gd name="csY6" fmla="*/ 720080 h 720080"/>
              <a:gd name="csX7" fmla="*/ 504056 w 1008112"/>
              <a:gd name="csY7" fmla="*/ 720080 h 720080"/>
              <a:gd name="csX8" fmla="*/ 120016 w 1008112"/>
              <a:gd name="csY8" fmla="*/ 720080 h 720080"/>
              <a:gd name="csX9" fmla="*/ 0 w 1008112"/>
              <a:gd name="csY9" fmla="*/ 600064 h 720080"/>
              <a:gd name="csX10" fmla="*/ 0 w 1008112"/>
              <a:gd name="csY10" fmla="*/ 120016 h 720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08112" h="720080" extrusionOk="0">
                <a:moveTo>
                  <a:pt x="0" y="120016"/>
                </a:moveTo>
                <a:cubicBezTo>
                  <a:pt x="17846" y="57873"/>
                  <a:pt x="64923" y="-2534"/>
                  <a:pt x="120016" y="0"/>
                </a:cubicBezTo>
                <a:cubicBezTo>
                  <a:pt x="206683" y="-24542"/>
                  <a:pt x="344047" y="18997"/>
                  <a:pt x="488694" y="0"/>
                </a:cubicBezTo>
                <a:cubicBezTo>
                  <a:pt x="633341" y="-18997"/>
                  <a:pt x="751549" y="19364"/>
                  <a:pt x="888096" y="0"/>
                </a:cubicBezTo>
                <a:cubicBezTo>
                  <a:pt x="950730" y="3226"/>
                  <a:pt x="1009003" y="67026"/>
                  <a:pt x="1008112" y="120016"/>
                </a:cubicBezTo>
                <a:cubicBezTo>
                  <a:pt x="1027573" y="344076"/>
                  <a:pt x="957657" y="380831"/>
                  <a:pt x="1008112" y="600064"/>
                </a:cubicBezTo>
                <a:cubicBezTo>
                  <a:pt x="1012032" y="668125"/>
                  <a:pt x="966845" y="713021"/>
                  <a:pt x="888096" y="720080"/>
                </a:cubicBezTo>
                <a:cubicBezTo>
                  <a:pt x="801655" y="760679"/>
                  <a:pt x="638430" y="686881"/>
                  <a:pt x="504056" y="720080"/>
                </a:cubicBezTo>
                <a:cubicBezTo>
                  <a:pt x="369682" y="753279"/>
                  <a:pt x="278885" y="718796"/>
                  <a:pt x="120016" y="720080"/>
                </a:cubicBezTo>
                <a:cubicBezTo>
                  <a:pt x="69891" y="723144"/>
                  <a:pt x="-12216" y="655477"/>
                  <a:pt x="0" y="600064"/>
                </a:cubicBezTo>
                <a:cubicBezTo>
                  <a:pt x="-46309" y="450407"/>
                  <a:pt x="1703" y="293301"/>
                  <a:pt x="0" y="120016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604770359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6582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8E977-1E79-03BC-0C01-16EE96203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Agregação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180F49-2DDC-9D90-DCF0-203B3383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>
                <a:solidFill>
                  <a:schemeClr val="accent5"/>
                </a:solidFill>
              </a:rPr>
              <a:t>agregação</a:t>
            </a:r>
            <a:r>
              <a:rPr lang="pt-BR" dirty="0"/>
              <a:t> é um conceito do EER que permite tratar um relacionamento como uma entidade de nível mais alto. Isso é útil quando </a:t>
            </a:r>
            <a:r>
              <a:rPr lang="pt-BR" dirty="0">
                <a:solidFill>
                  <a:schemeClr val="accent5"/>
                </a:solidFill>
              </a:rPr>
              <a:t>um relacionamento tem seu próprio relacionamento </a:t>
            </a:r>
            <a:r>
              <a:rPr lang="pt-BR" dirty="0"/>
              <a:t>com outra entidade.</a:t>
            </a:r>
          </a:p>
          <a:p>
            <a:r>
              <a:rPr lang="pt-BR" b="1" dirty="0"/>
              <a:t>Conceito:</a:t>
            </a:r>
            <a:r>
              <a:rPr lang="pt-BR" dirty="0"/>
              <a:t> É como </a:t>
            </a:r>
            <a:r>
              <a:rPr lang="pt-BR" dirty="0">
                <a:solidFill>
                  <a:srgbClr val="C00000"/>
                </a:solidFill>
              </a:rPr>
              <a:t>"empacotar" um relacionamento </a:t>
            </a:r>
            <a:r>
              <a:rPr lang="pt-BR" dirty="0"/>
              <a:t>e as entidades que ele conecta em uma única entidade agregada, que pode então participar de outros relacionamentos.</a:t>
            </a:r>
          </a:p>
          <a:p>
            <a:r>
              <a:rPr lang="pt-BR" b="1" dirty="0"/>
              <a:t>Representação:</a:t>
            </a:r>
            <a:r>
              <a:rPr lang="pt-BR" dirty="0"/>
              <a:t> O relacionamento e as entidades que ele une são cercados por um </a:t>
            </a:r>
            <a:r>
              <a:rPr lang="pt-BR" b="1" dirty="0"/>
              <a:t>retângulo tracejado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5D4805B-0052-1D1A-2E42-D4133E04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F086A7-535A-3241-3AB5-A55A2212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73014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70BC8-F56C-9206-AED0-2D600AFF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97492D-56FB-EB11-273A-75AB510A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pt-BR" b="1" dirty="0"/>
              <a:t>Agregação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B9880D-F4F1-55C9-E1C0-321A303C5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553944" cy="4351338"/>
          </a:xfrm>
        </p:spPr>
        <p:txBody>
          <a:bodyPr>
            <a:normAutofit/>
          </a:bodyPr>
          <a:lstStyle/>
          <a:p>
            <a:r>
              <a:rPr lang="pt-BR" sz="2000" dirty="0"/>
              <a:t>Exemplo: Imagine um sistema de consultoria onde </a:t>
            </a:r>
            <a:r>
              <a:rPr lang="pt-BR" sz="2000" b="1" dirty="0"/>
              <a:t>Empresa</a:t>
            </a:r>
            <a:r>
              <a:rPr lang="pt-BR" sz="2000" dirty="0"/>
              <a:t> contrata um </a:t>
            </a:r>
            <a:r>
              <a:rPr lang="pt-BR" sz="2000" b="1" dirty="0"/>
              <a:t>Consultor</a:t>
            </a:r>
            <a:r>
              <a:rPr lang="pt-BR" sz="2000" dirty="0"/>
              <a:t> para um </a:t>
            </a:r>
            <a:r>
              <a:rPr lang="pt-BR" sz="2000" b="1" dirty="0"/>
              <a:t>Projeto</a:t>
            </a:r>
            <a:r>
              <a:rPr lang="pt-BR" sz="2000" dirty="0"/>
              <a:t>. O relacionamento </a:t>
            </a:r>
            <a:r>
              <a:rPr lang="pt-BR" sz="2000" b="1" dirty="0"/>
              <a:t>Contrata</a:t>
            </a:r>
            <a:r>
              <a:rPr lang="pt-BR" sz="2000" dirty="0"/>
              <a:t> entre </a:t>
            </a:r>
            <a:r>
              <a:rPr lang="pt-BR" sz="2000" b="1" dirty="0"/>
              <a:t>Empresa</a:t>
            </a:r>
            <a:r>
              <a:rPr lang="pt-BR" sz="2000" dirty="0"/>
              <a:t> e </a:t>
            </a:r>
            <a:r>
              <a:rPr lang="pt-BR" sz="2000" b="1" dirty="0"/>
              <a:t>Consultor</a:t>
            </a:r>
            <a:r>
              <a:rPr lang="pt-BR" sz="2000" dirty="0"/>
              <a:t> não é suficiente. </a:t>
            </a:r>
          </a:p>
          <a:p>
            <a:r>
              <a:rPr lang="pt-BR" sz="2000" dirty="0"/>
              <a:t>Precisamos que o relacionamento Contrata seja "</a:t>
            </a:r>
            <a:r>
              <a:rPr lang="pt-BR" sz="2000" dirty="0">
                <a:solidFill>
                  <a:srgbClr val="C00000"/>
                </a:solidFill>
              </a:rPr>
              <a:t>auditado</a:t>
            </a:r>
            <a:r>
              <a:rPr lang="pt-BR" sz="2000" dirty="0"/>
              <a:t>" por um </a:t>
            </a:r>
            <a:r>
              <a:rPr lang="pt-BR" sz="2000" b="1" dirty="0"/>
              <a:t>Gerente</a:t>
            </a:r>
            <a:r>
              <a:rPr lang="pt-BR" sz="2000" dirty="0"/>
              <a:t>.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Modelo ER básico</a:t>
            </a:r>
            <a:r>
              <a:rPr lang="pt-BR" sz="2000" dirty="0"/>
              <a:t>: Apenas </a:t>
            </a:r>
            <a:r>
              <a:rPr lang="pt-BR" sz="2000" b="1" dirty="0"/>
              <a:t>Empresa</a:t>
            </a:r>
            <a:r>
              <a:rPr lang="pt-BR" sz="2000" dirty="0"/>
              <a:t> e </a:t>
            </a:r>
            <a:r>
              <a:rPr lang="pt-BR" sz="2000" b="1" dirty="0"/>
              <a:t>Consultor</a:t>
            </a:r>
            <a:r>
              <a:rPr lang="pt-BR" sz="2000" dirty="0"/>
              <a:t> se relacionam.</a:t>
            </a:r>
          </a:p>
          <a:p>
            <a:r>
              <a:rPr lang="pt-BR" sz="2000" dirty="0">
                <a:solidFill>
                  <a:schemeClr val="accent5"/>
                </a:solidFill>
              </a:rPr>
              <a:t>Modelo EER com Agregação</a:t>
            </a:r>
            <a:r>
              <a:rPr lang="pt-BR" sz="2000" dirty="0"/>
              <a:t>: O relacionamento </a:t>
            </a:r>
            <a:r>
              <a:rPr lang="pt-BR" sz="2000" dirty="0">
                <a:solidFill>
                  <a:srgbClr val="C00000"/>
                </a:solidFill>
              </a:rPr>
              <a:t>Contrata</a:t>
            </a:r>
            <a:r>
              <a:rPr lang="pt-BR" sz="2000" dirty="0"/>
              <a:t> (entre </a:t>
            </a:r>
            <a:r>
              <a:rPr lang="pt-BR" sz="2000" b="1" dirty="0"/>
              <a:t>Empresa</a:t>
            </a:r>
            <a:r>
              <a:rPr lang="pt-BR" sz="2000" dirty="0"/>
              <a:t> e </a:t>
            </a:r>
            <a:r>
              <a:rPr lang="pt-BR" sz="2000" b="1" dirty="0"/>
              <a:t>Consultor</a:t>
            </a:r>
            <a:r>
              <a:rPr lang="pt-BR" sz="2000" dirty="0"/>
              <a:t>) se torna uma </a:t>
            </a:r>
            <a:r>
              <a:rPr lang="pt-BR" sz="2000" dirty="0">
                <a:solidFill>
                  <a:srgbClr val="C00000"/>
                </a:solidFill>
              </a:rPr>
              <a:t>entidade agregada</a:t>
            </a:r>
            <a:r>
              <a:rPr lang="pt-BR" sz="2000" dirty="0"/>
              <a:t>, que se relaciona com a entidade </a:t>
            </a:r>
            <a:r>
              <a:rPr lang="pt-BR" sz="2000" b="1" dirty="0"/>
              <a:t>Gerente</a:t>
            </a:r>
            <a:r>
              <a:rPr lang="pt-BR" sz="2000" dirty="0"/>
              <a:t> através de um novo relacionamento, como </a:t>
            </a:r>
            <a:r>
              <a:rPr lang="pt-BR" sz="2000" b="1" dirty="0"/>
              <a:t>Audita</a:t>
            </a:r>
            <a:r>
              <a:rPr lang="pt-BR" sz="2000" dirty="0"/>
              <a:t>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8ABB326-580C-B447-A83E-4D6FA5C99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1A8031D-251C-B2BB-9050-BC46CBF9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pt-BR" smtClean="0"/>
              <a:pPr>
                <a:spcAft>
                  <a:spcPts val="600"/>
                </a:spcAft>
              </a:pPr>
              <a:t>55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7B61D67-008A-8B04-4434-2767B0F7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058" y="1556793"/>
            <a:ext cx="455361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158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8F3914-29EA-ACC5-6216-07F3C56EA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1FE2D7-DC53-41D8-1F44-A01519CB8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união</a:t>
            </a:r>
            <a:r>
              <a:rPr lang="pt-BR" dirty="0"/>
              <a:t> é um conceito do EER que permite que </a:t>
            </a:r>
            <a:r>
              <a:rPr lang="pt-BR" dirty="0">
                <a:solidFill>
                  <a:srgbClr val="C00000"/>
                </a:solidFill>
              </a:rPr>
              <a:t>um subtipo seja um membro de </a:t>
            </a:r>
            <a:r>
              <a:rPr lang="pt-BR" b="1" dirty="0">
                <a:solidFill>
                  <a:srgbClr val="C00000"/>
                </a:solidFill>
              </a:rPr>
              <a:t>múltiplos supertipos</a:t>
            </a:r>
            <a:r>
              <a:rPr lang="pt-BR" dirty="0">
                <a:solidFill>
                  <a:srgbClr val="C00000"/>
                </a:solidFill>
              </a:rPr>
              <a:t> que não têm uma relação de herança direta</a:t>
            </a:r>
            <a:r>
              <a:rPr lang="pt-BR" dirty="0"/>
              <a:t> entre si. </a:t>
            </a:r>
          </a:p>
          <a:p>
            <a:r>
              <a:rPr lang="pt-BR" dirty="0"/>
              <a:t>Isso é útil quando um objeto pode ser de diferentes tipos, mas participa de um relacionamento comum.</a:t>
            </a:r>
          </a:p>
          <a:p>
            <a:r>
              <a:rPr lang="pt-BR" dirty="0"/>
              <a:t>Exemplo: Um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Proprietário</a:t>
            </a:r>
            <a:r>
              <a:rPr lang="pt-BR" dirty="0"/>
              <a:t> de um veículo pode ser uma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Pessoa</a:t>
            </a:r>
            <a:r>
              <a:rPr lang="pt-BR" dirty="0"/>
              <a:t> ou uma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Empresa</a:t>
            </a:r>
            <a:r>
              <a:rPr lang="pt-BR" dirty="0"/>
              <a:t>. Em um relacionamento de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Possui Veículo</a:t>
            </a:r>
            <a:r>
              <a:rPr lang="pt-BR" dirty="0"/>
              <a:t>, o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Proprietário</a:t>
            </a:r>
            <a:r>
              <a:rPr lang="pt-BR" dirty="0"/>
              <a:t> seria uma união de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Pessoa</a:t>
            </a:r>
            <a:r>
              <a:rPr lang="pt-BR" dirty="0"/>
              <a:t> e </a:t>
            </a:r>
            <a:r>
              <a:rPr lang="pt-BR" i="1" dirty="0">
                <a:solidFill>
                  <a:schemeClr val="accent5">
                    <a:lumMod val="75000"/>
                  </a:schemeClr>
                </a:solidFill>
              </a:rPr>
              <a:t>Empresa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Representado por um </a:t>
            </a:r>
            <a:r>
              <a:rPr lang="pt-BR" b="1" dirty="0"/>
              <a:t>círculo com um "U"</a:t>
            </a:r>
            <a:r>
              <a:rPr lang="pt-BR" dirty="0"/>
              <a:t> (de união) dentro, e linhas do círculo para os supertipos envolvidos.</a:t>
            </a:r>
            <a:endParaRPr lang="pt-BR" i="1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62E659-4EF1-4F53-535C-8658CADF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7FEDA0-721C-6E93-ADBF-61B9DE09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95307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A1C7C-0D7F-A0A6-DE0D-B877B0A1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Completo de EER: </a:t>
            </a:r>
            <a:br>
              <a:rPr lang="pt-BR" dirty="0"/>
            </a:br>
            <a:r>
              <a:rPr lang="pt-BR" dirty="0"/>
              <a:t>Sistema Acadêmico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A73E1F-61B5-47FC-36D2-A43AD9F8E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b="1" dirty="0"/>
              <a:t>Cenário: </a:t>
            </a:r>
            <a:r>
              <a:rPr lang="pt-BR" dirty="0"/>
              <a:t>Temos </a:t>
            </a:r>
            <a:r>
              <a:rPr lang="pt-BR" b="1" dirty="0"/>
              <a:t>Pessoas</a:t>
            </a:r>
            <a:r>
              <a:rPr lang="pt-BR" dirty="0"/>
              <a:t> no sistema. Algumas pessoas são </a:t>
            </a:r>
            <a:r>
              <a:rPr lang="pt-BR" b="1" dirty="0"/>
              <a:t>Alunos</a:t>
            </a:r>
            <a:r>
              <a:rPr lang="pt-BR" dirty="0"/>
              <a:t>, outras são </a:t>
            </a:r>
            <a:r>
              <a:rPr lang="pt-BR" b="1" dirty="0"/>
              <a:t>Professores</a:t>
            </a:r>
            <a:r>
              <a:rPr lang="pt-BR" dirty="0"/>
              <a:t> e algumas podem ser </a:t>
            </a:r>
            <a:r>
              <a:rPr lang="pt-BR" b="1" dirty="0"/>
              <a:t>Funcionários Administrativos</a:t>
            </a:r>
            <a:r>
              <a:rPr lang="pt-BR" dirty="0"/>
              <a:t>.</a:t>
            </a:r>
          </a:p>
          <a:p>
            <a:pPr lvl="1"/>
            <a:r>
              <a:rPr lang="pt-BR" sz="2800" dirty="0"/>
              <a:t>Todos têm CPF, Nome, </a:t>
            </a:r>
            <a:r>
              <a:rPr lang="pt-BR" sz="2800" dirty="0" err="1"/>
              <a:t>Endereco</a:t>
            </a:r>
            <a:r>
              <a:rPr lang="pt-BR" sz="2800" dirty="0"/>
              <a:t>, Telefone.</a:t>
            </a:r>
          </a:p>
          <a:p>
            <a:pPr lvl="1"/>
            <a:r>
              <a:rPr lang="pt-BR" sz="2800" b="1" dirty="0"/>
              <a:t>Alunos</a:t>
            </a:r>
            <a:r>
              <a:rPr lang="pt-BR" sz="2800" dirty="0"/>
              <a:t> têm Matrícula, Curso e um Histórico Escolar. Eles se Matriculam em Disciplinas.</a:t>
            </a:r>
          </a:p>
          <a:p>
            <a:pPr lvl="1"/>
            <a:r>
              <a:rPr lang="pt-BR" sz="2800" b="1" dirty="0"/>
              <a:t>Professores</a:t>
            </a:r>
            <a:r>
              <a:rPr lang="pt-BR" sz="2800" dirty="0"/>
              <a:t> têm Departamento e Titulação. Eles Lecionam Disciplinas.</a:t>
            </a:r>
          </a:p>
          <a:p>
            <a:pPr lvl="1"/>
            <a:r>
              <a:rPr lang="pt-BR" sz="2800" b="1" dirty="0"/>
              <a:t>Funcionários Administrativos </a:t>
            </a:r>
            <a:r>
              <a:rPr lang="pt-BR" sz="2800" dirty="0"/>
              <a:t>têm Cargo e Salário.</a:t>
            </a:r>
          </a:p>
          <a:p>
            <a:r>
              <a:rPr lang="pt-BR" dirty="0"/>
              <a:t>Além disso, um </a:t>
            </a:r>
            <a:r>
              <a:rPr lang="pt-BR" b="1" dirty="0"/>
              <a:t>Professor</a:t>
            </a:r>
            <a:r>
              <a:rPr lang="pt-BR" dirty="0"/>
              <a:t> pode ser também um </a:t>
            </a:r>
            <a:r>
              <a:rPr lang="pt-BR" b="1" dirty="0"/>
              <a:t>Coordenador</a:t>
            </a:r>
            <a:r>
              <a:rPr lang="pt-BR" dirty="0"/>
              <a:t> (mas nem todo professor é coordenador). Um </a:t>
            </a:r>
            <a:r>
              <a:rPr lang="pt-BR" b="1" dirty="0"/>
              <a:t>Coordenador</a:t>
            </a:r>
            <a:r>
              <a:rPr lang="pt-BR" dirty="0"/>
              <a:t> Gerencia um </a:t>
            </a:r>
            <a:r>
              <a:rPr lang="pt-BR" b="1" dirty="0"/>
              <a:t>Curso</a:t>
            </a:r>
            <a:r>
              <a:rPr lang="pt-BR" dirty="0"/>
              <a:t>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C5163DE-F83C-99A4-5A9C-8E77A115C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Roberto Harkovsky, MSc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B2684DB-3246-1344-4EDC-5D96172F1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B5DD-9567-43DE-A578-1A8085956379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6034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Banco de Dados I</a:t>
            </a:r>
            <a:b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7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Modelagem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 Dados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Roberto Harkovsky, MSc</a:t>
            </a:r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B30B5DD-9567-43DE-A578-1A8085956379}" type="slidenum">
              <a:rPr lang="en-US" smtClean="0"/>
              <a:pPr>
                <a:spcAft>
                  <a:spcPts val="600"/>
                </a:spcAft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04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371B6702904E47B455F58B41565CDB" ma:contentTypeVersion="14" ma:contentTypeDescription="Create a new document." ma:contentTypeScope="" ma:versionID="c7db347aca8b34acf431e1332eb1354e">
  <xsd:schema xmlns:xsd="http://www.w3.org/2001/XMLSchema" xmlns:xs="http://www.w3.org/2001/XMLSchema" xmlns:p="http://schemas.microsoft.com/office/2006/metadata/properties" xmlns:ns3="1567635a-c78d-44c2-a465-dd60fbeb7309" xmlns:ns4="0f7073c1-1299-4fda-8721-cd3a41f77b0e" targetNamespace="http://schemas.microsoft.com/office/2006/metadata/properties" ma:root="true" ma:fieldsID="7082b69b5490265983bcffb7b83672bb" ns3:_="" ns4:_="">
    <xsd:import namespace="1567635a-c78d-44c2-a465-dd60fbeb7309"/>
    <xsd:import namespace="0f7073c1-1299-4fda-8721-cd3a41f77b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67635a-c78d-44c2-a465-dd60fbeb73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073c1-1299-4fda-8721-cd3a41f77b0e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5F07DE-488C-4855-A64C-3C400ACE73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67635a-c78d-44c2-a465-dd60fbeb7309"/>
    <ds:schemaRef ds:uri="0f7073c1-1299-4fda-8721-cd3a41f77b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A59DAC-89E2-4C91-A28F-B2D0C4EAD8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01F520-B2A7-464E-9D45-2F6ED1A4DA4B}">
  <ds:schemaRefs>
    <ds:schemaRef ds:uri="1567635a-c78d-44c2-a465-dd60fbeb7309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0f7073c1-1299-4fda-8721-cd3a41f77b0e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ff04cf64-5d5c-4425-93bc-bdb8e7e83347}" enabled="0" method="" siteId="{ff04cf64-5d5c-4425-93bc-bdb8e7e833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28399</TotalTime>
  <Words>4211</Words>
  <Application>Microsoft Office PowerPoint</Application>
  <PresentationFormat>Widescreen</PresentationFormat>
  <Paragraphs>629</Paragraphs>
  <Slides>58</Slides>
  <Notes>1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5" baseType="lpstr">
      <vt:lpstr>72</vt:lpstr>
      <vt:lpstr>Arial</vt:lpstr>
      <vt:lpstr>Calibri</vt:lpstr>
      <vt:lpstr>Calibri Light</vt:lpstr>
      <vt:lpstr>Roboto</vt:lpstr>
      <vt:lpstr>Wingdings</vt:lpstr>
      <vt:lpstr>Tema do Office</vt:lpstr>
      <vt:lpstr>Banco de Dados I Modelagem de  Dados</vt:lpstr>
      <vt:lpstr>Referência</vt:lpstr>
      <vt:lpstr>Por Que Modelar Dados?</vt:lpstr>
      <vt:lpstr>Suponha uma Demanda</vt:lpstr>
      <vt:lpstr>Modelagem de Dados</vt:lpstr>
      <vt:lpstr>Por Que Modelar Dados?</vt:lpstr>
      <vt:lpstr>Modelos de Dados</vt:lpstr>
      <vt:lpstr>Modelos de Dados</vt:lpstr>
      <vt:lpstr>Processo De Desenho Do BD Análise de Requisitos</vt:lpstr>
      <vt:lpstr>Processo de Desenho do BD  Modelo Conceitual</vt:lpstr>
      <vt:lpstr>Processo de Desenho do BD Modelo Lógico</vt:lpstr>
      <vt:lpstr>Processo de Desenho do BD Modelo Físico</vt:lpstr>
      <vt:lpstr>Visão geral das Caraterísticas dos Modelos</vt:lpstr>
      <vt:lpstr>Modelagem Conceitual Modelo ER</vt:lpstr>
      <vt:lpstr>Motivação</vt:lpstr>
      <vt:lpstr>O Que é o modelo Entidade Relacionamento</vt:lpstr>
      <vt:lpstr>Diagrama Entidade Relacionamento</vt:lpstr>
      <vt:lpstr>Diagrama Entidade Relacionamento</vt:lpstr>
      <vt:lpstr>Diagrama Entidade Relacionamento -Símbolos</vt:lpstr>
      <vt:lpstr>Entidades</vt:lpstr>
      <vt:lpstr>Exemplo</vt:lpstr>
      <vt:lpstr>Entidades</vt:lpstr>
      <vt:lpstr>Instância de Entidades</vt:lpstr>
      <vt:lpstr>Entidade Forte x Fraca</vt:lpstr>
      <vt:lpstr>Entidade Forte x Fraca</vt:lpstr>
      <vt:lpstr>Atributos</vt:lpstr>
      <vt:lpstr>Apresentação do PowerPoint</vt:lpstr>
      <vt:lpstr>Tipos de Atributos</vt:lpstr>
      <vt:lpstr>Chaves</vt:lpstr>
      <vt:lpstr>Exemplo de Entidades e Atributos</vt:lpstr>
      <vt:lpstr>o “R” no E/R: Relacionamento</vt:lpstr>
      <vt:lpstr>Grau de um Relacionamento</vt:lpstr>
      <vt:lpstr>Cardinalidade</vt:lpstr>
      <vt:lpstr>Cardinalidade</vt:lpstr>
      <vt:lpstr>Cardinalidade</vt:lpstr>
      <vt:lpstr>Cardinalidade</vt:lpstr>
      <vt:lpstr>Simbologia “notação pé de galinha”  (“Crow foot model”) </vt:lpstr>
      <vt:lpstr>Cardinalidade</vt:lpstr>
      <vt:lpstr>Entidades e Atributos </vt:lpstr>
      <vt:lpstr>Atributos de Relacionamentos</vt:lpstr>
      <vt:lpstr>Exemplo – Modelando um Hospital</vt:lpstr>
      <vt:lpstr>Exemplo – Modelo Conceitual</vt:lpstr>
      <vt:lpstr>Exercício </vt:lpstr>
      <vt:lpstr>Extensão do Modelo ER Modelo EER</vt:lpstr>
      <vt:lpstr>O que é o Modelo EER?</vt:lpstr>
      <vt:lpstr>ER x EER</vt:lpstr>
      <vt:lpstr>Especialização e Generalização</vt:lpstr>
      <vt:lpstr>Especialização e Generalização</vt:lpstr>
      <vt:lpstr>Atributos e Relacionamentos na Hierarquia:</vt:lpstr>
      <vt:lpstr>Notação de Restrições em EER</vt:lpstr>
      <vt:lpstr>Restrição de Disjunção (d ou o)</vt:lpstr>
      <vt:lpstr>Restrição de Totalidade</vt:lpstr>
      <vt:lpstr>Restrições na especialização Exemplo (Br-Modelo)</vt:lpstr>
      <vt:lpstr>Agregação</vt:lpstr>
      <vt:lpstr>Agregação</vt:lpstr>
      <vt:lpstr>União</vt:lpstr>
      <vt:lpstr>Exemplo Completo de EER:  Sistema Acadêmico</vt:lpstr>
      <vt:lpstr>Banco de Dados I Modelagem de  Dados</vt:lpstr>
    </vt:vector>
  </TitlesOfParts>
  <Company>Petrobras Distribuidora S. 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Arquitetura de Banco de Dados</dc:title>
  <dc:creator>zcqa</dc:creator>
  <cp:lastModifiedBy>Roberto Harkovsky</cp:lastModifiedBy>
  <cp:revision>346</cp:revision>
  <dcterms:created xsi:type="dcterms:W3CDTF">2010-12-21T20:19:03Z</dcterms:created>
  <dcterms:modified xsi:type="dcterms:W3CDTF">2026-07-10T22:07:34Z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0x01010067371B6702904E47B455F58B41565CDB</vt:lpwstr>
  </property>
  <property fmtid="{D5CDD505-2E9C-101B-9397-08002B2CF9AE}" pid="3" name="MSIP_Label_22deaceb-9851-4663-bccf-596767454be3_Enabled">
    <vt:lpwstr>true</vt:lpwstr>
  </property>
  <property fmtid="{D5CDD505-2E9C-101B-9397-08002B2CF9AE}" pid="4" name="MSIP_Label_22deaceb-9851-4663-bccf-596767454be3_SetDate">
    <vt:lpwstr>2023-01-17T21:18:08Z</vt:lpwstr>
  </property>
  <property fmtid="{D5CDD505-2E9C-101B-9397-08002B2CF9AE}" pid="5" name="MSIP_Label_22deaceb-9851-4663-bccf-596767454be3_Method">
    <vt:lpwstr>Standard</vt:lpwstr>
  </property>
  <property fmtid="{D5CDD505-2E9C-101B-9397-08002B2CF9AE}" pid="6" name="MSIP_Label_22deaceb-9851-4663-bccf-596767454be3_Name">
    <vt:lpwstr>22deaceb-9851-4663-bccf-596767454be3</vt:lpwstr>
  </property>
  <property fmtid="{D5CDD505-2E9C-101B-9397-08002B2CF9AE}" pid="7" name="MSIP_Label_22deaceb-9851-4663-bccf-596767454be3_SiteId">
    <vt:lpwstr>809f94a6-0477-4390-b86e-eab14c5493a7</vt:lpwstr>
  </property>
  <property fmtid="{D5CDD505-2E9C-101B-9397-08002B2CF9AE}" pid="8" name="MSIP_Label_22deaceb-9851-4663-bccf-596767454be3_ActionId">
    <vt:lpwstr>5cb7c76d-9d2a-4b13-8ff6-f0169197c725</vt:lpwstr>
  </property>
  <property fmtid="{D5CDD505-2E9C-101B-9397-08002B2CF9AE}" pid="9" name="MSIP_Label_22deaceb-9851-4663-bccf-596767454be3_ContentBits">
    <vt:lpwstr>2</vt:lpwstr>
  </property>
</Properties>
</file>