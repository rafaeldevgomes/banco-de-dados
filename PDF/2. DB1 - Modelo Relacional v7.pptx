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0.xml" ContentType="application/vnd.openxmlformats-officedocument.presentationml.tags+xml"/>
  <Override PartName="/ppt/notesSlides/notesSlide14.xml" ContentType="application/vnd.openxmlformats-officedocument.presentationml.notesSlide+xml"/>
  <Override PartName="/ppt/tags/tag11.xml" ContentType="application/vnd.openxmlformats-officedocument.presentationml.tags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4"/>
  </p:sldMasterIdLst>
  <p:notesMasterIdLst>
    <p:notesMasterId r:id="rId43"/>
  </p:notesMasterIdLst>
  <p:sldIdLst>
    <p:sldId id="343" r:id="rId5"/>
    <p:sldId id="336" r:id="rId6"/>
    <p:sldId id="346" r:id="rId7"/>
    <p:sldId id="353" r:id="rId8"/>
    <p:sldId id="354" r:id="rId9"/>
    <p:sldId id="355" r:id="rId10"/>
    <p:sldId id="356" r:id="rId11"/>
    <p:sldId id="358" r:id="rId12"/>
    <p:sldId id="357" r:id="rId13"/>
    <p:sldId id="359" r:id="rId14"/>
    <p:sldId id="362" r:id="rId15"/>
    <p:sldId id="360" r:id="rId16"/>
    <p:sldId id="361" r:id="rId17"/>
    <p:sldId id="345" r:id="rId18"/>
    <p:sldId id="347" r:id="rId19"/>
    <p:sldId id="275" r:id="rId20"/>
    <p:sldId id="276" r:id="rId21"/>
    <p:sldId id="351" r:id="rId22"/>
    <p:sldId id="337" r:id="rId23"/>
    <p:sldId id="338" r:id="rId24"/>
    <p:sldId id="348" r:id="rId25"/>
    <p:sldId id="352" r:id="rId26"/>
    <p:sldId id="278" r:id="rId27"/>
    <p:sldId id="319" r:id="rId28"/>
    <p:sldId id="304" r:id="rId29"/>
    <p:sldId id="279" r:id="rId30"/>
    <p:sldId id="280" r:id="rId31"/>
    <p:sldId id="305" r:id="rId32"/>
    <p:sldId id="323" r:id="rId33"/>
    <p:sldId id="320" r:id="rId34"/>
    <p:sldId id="330" r:id="rId35"/>
    <p:sldId id="331" r:id="rId36"/>
    <p:sldId id="335" r:id="rId37"/>
    <p:sldId id="332" r:id="rId38"/>
    <p:sldId id="334" r:id="rId39"/>
    <p:sldId id="350" r:id="rId40"/>
    <p:sldId id="349" r:id="rId41"/>
    <p:sldId id="293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F2CC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26E36-699D-4853-B016-B14C3BD968AA}" v="57" dt="2025-08-04T17:10:17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3" autoAdjust="0"/>
    <p:restoredTop sz="94660"/>
  </p:normalViewPr>
  <p:slideViewPr>
    <p:cSldViewPr>
      <p:cViewPr varScale="1">
        <p:scale>
          <a:sx n="96" d="100"/>
          <a:sy n="96" d="100"/>
        </p:scale>
        <p:origin x="114" y="4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Harkovsky" userId="f2c5d9e3-e1cd-491b-8eea-425a4d9cf1c2" providerId="ADAL" clId="{97B26E36-699D-4853-B016-B14C3BD968AA}"/>
    <pc:docChg chg="custSel modSld">
      <pc:chgData name="Roberto Harkovsky" userId="f2c5d9e3-e1cd-491b-8eea-425a4d9cf1c2" providerId="ADAL" clId="{97B26E36-699D-4853-B016-B14C3BD968AA}" dt="2025-08-04T17:19:18.231" v="3" actId="26606"/>
      <pc:docMkLst>
        <pc:docMk/>
      </pc:docMkLst>
      <pc:sldChg chg="addSp delSp modSp mod setBg modClrScheme chgLayout">
        <pc:chgData name="Roberto Harkovsky" userId="f2c5d9e3-e1cd-491b-8eea-425a4d9cf1c2" providerId="ADAL" clId="{97B26E36-699D-4853-B016-B14C3BD968AA}" dt="2025-08-04T17:19:18.231" v="3" actId="26606"/>
        <pc:sldMkLst>
          <pc:docMk/>
          <pc:sldMk cId="908767223" sldId="319"/>
        </pc:sldMkLst>
        <pc:spChg chg="mod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2" creationId="{00000000-0000-0000-0000-000000000000}"/>
          </ac:spMkLst>
        </pc:spChg>
        <pc:spChg chg="mod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4" creationId="{00000000-0000-0000-0000-000000000000}"/>
          </ac:spMkLst>
        </pc:spChg>
        <pc:spChg chg="mod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6" creationId="{00000000-0000-0000-0000-000000000000}"/>
          </ac:spMkLst>
        </pc:spChg>
        <pc:spChg chg="del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9" creationId="{C2136220-6268-4387-A0B4-FE349D943C1E}"/>
          </ac:spMkLst>
        </pc:spChg>
        <pc:spChg chg="del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14" creationId="{D5B339F4-93B9-4E04-9721-143AD6782EA9}"/>
          </ac:spMkLst>
        </pc:spChg>
        <pc:spChg chg="del">
          <ac:chgData name="Roberto Harkovsky" userId="f2c5d9e3-e1cd-491b-8eea-425a4d9cf1c2" providerId="ADAL" clId="{97B26E36-699D-4853-B016-B14C3BD968AA}" dt="2025-08-04T17:19:18.231" v="3" actId="26606"/>
          <ac:spMkLst>
            <pc:docMk/>
            <pc:sldMk cId="908767223" sldId="319"/>
            <ac:spMk id="20" creationId="{871AEA07-1E14-44B4-8E55-64EF049CD66F}"/>
          </ac:spMkLst>
        </pc:spChg>
        <pc:grpChg chg="del">
          <ac:chgData name="Roberto Harkovsky" userId="f2c5d9e3-e1cd-491b-8eea-425a4d9cf1c2" providerId="ADAL" clId="{97B26E36-699D-4853-B016-B14C3BD968AA}" dt="2025-08-04T17:19:18.231" v="3" actId="26606"/>
          <ac:grpSpMkLst>
            <pc:docMk/>
            <pc:sldMk cId="908767223" sldId="319"/>
            <ac:grpSpMk id="16" creationId="{8734DDD3-F723-4DD3-8ABE-EC0B2AC87D74}"/>
          </ac:grpSpMkLst>
        </pc:grpChg>
        <pc:picChg chg="add">
          <ac:chgData name="Roberto Harkovsky" userId="f2c5d9e3-e1cd-491b-8eea-425a4d9cf1c2" providerId="ADAL" clId="{97B26E36-699D-4853-B016-B14C3BD968AA}" dt="2025-08-04T17:19:18.231" v="3" actId="26606"/>
          <ac:picMkLst>
            <pc:docMk/>
            <pc:sldMk cId="908767223" sldId="319"/>
            <ac:picMk id="22" creationId="{086132C6-2C71-32C8-B3FA-2CB3A47C9D1A}"/>
          </ac:picMkLst>
        </pc:picChg>
      </pc:sldChg>
      <pc:sldChg chg="addSp delSp modSp mod setBg modClrScheme chgLayout">
        <pc:chgData name="Roberto Harkovsky" userId="f2c5d9e3-e1cd-491b-8eea-425a4d9cf1c2" providerId="ADAL" clId="{97B26E36-699D-4853-B016-B14C3BD968AA}" dt="2025-08-04T17:18:44.373" v="0" actId="26606"/>
        <pc:sldMkLst>
          <pc:docMk/>
          <pc:sldMk cId="4287676489" sldId="343"/>
        </pc:sldMkLst>
        <pc:spChg chg="mod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4" creationId="{678F7E98-448C-4D0D-9F30-14867920A9AB}"/>
          </ac:spMkLst>
        </pc:spChg>
        <pc:spChg chg="mod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5" creationId="{AABBE52E-CEE2-4BAF-BD11-CD0476E24C09}"/>
          </ac:spMkLst>
        </pc:spChg>
        <pc:spChg chg="mod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6" creationId="{F1D08259-19C6-4FD5-8098-906929438BCF}"/>
          </ac:spMkLst>
        </pc:spChg>
        <pc:spChg chg="del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11" creationId="{DF7C2159-63A0-435D-8223-E50ED9BFDC85}"/>
          </ac:spMkLst>
        </pc:spChg>
        <pc:spChg chg="del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16" creationId="{4522B21E-B2B9-4C72-9A71-C87EFD137480}"/>
          </ac:spMkLst>
        </pc:spChg>
        <pc:spChg chg="del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18" creationId="{5EB7D2A2-F448-44D4-938C-DC84CBCB3B1E}"/>
          </ac:spMkLst>
        </pc:spChg>
        <pc:spChg chg="del">
          <ac:chgData name="Roberto Harkovsky" userId="f2c5d9e3-e1cd-491b-8eea-425a4d9cf1c2" providerId="ADAL" clId="{97B26E36-699D-4853-B016-B14C3BD968AA}" dt="2025-08-04T17:18:44.373" v="0" actId="26606"/>
          <ac:spMkLst>
            <pc:docMk/>
            <pc:sldMk cId="4287676489" sldId="343"/>
            <ac:spMk id="20" creationId="{871AEA07-1E14-44B4-8E55-64EF049CD66F}"/>
          </ac:spMkLst>
        </pc:spChg>
        <pc:picChg chg="add">
          <ac:chgData name="Roberto Harkovsky" userId="f2c5d9e3-e1cd-491b-8eea-425a4d9cf1c2" providerId="ADAL" clId="{97B26E36-699D-4853-B016-B14C3BD968AA}" dt="2025-08-04T17:18:44.373" v="0" actId="26606"/>
          <ac:picMkLst>
            <pc:docMk/>
            <pc:sldMk cId="4287676489" sldId="343"/>
            <ac:picMk id="24" creationId="{9EAB5D4D-FFB7-9EC0-0D6B-851EE8DCC77C}"/>
          </ac:picMkLst>
        </pc:picChg>
        <pc:cxnChg chg="del">
          <ac:chgData name="Roberto Harkovsky" userId="f2c5d9e3-e1cd-491b-8eea-425a4d9cf1c2" providerId="ADAL" clId="{97B26E36-699D-4853-B016-B14C3BD968AA}" dt="2025-08-04T17:18:44.373" v="0" actId="26606"/>
          <ac:cxnSpMkLst>
            <pc:docMk/>
            <pc:sldMk cId="4287676489" sldId="343"/>
            <ac:cxnSpMk id="22" creationId="{F7C8EA93-3210-4C62-99E9-153C275E3A87}"/>
          </ac:cxnSpMkLst>
        </pc:cxnChg>
      </pc:sldChg>
      <pc:sldChg chg="addSp delSp modSp mod setBg modClrScheme chgLayout">
        <pc:chgData name="Roberto Harkovsky" userId="f2c5d9e3-e1cd-491b-8eea-425a4d9cf1c2" providerId="ADAL" clId="{97B26E36-699D-4853-B016-B14C3BD968AA}" dt="2025-08-04T17:18:54.852" v="1" actId="26606"/>
        <pc:sldMkLst>
          <pc:docMk/>
          <pc:sldMk cId="1297815805" sldId="346"/>
        </pc:sldMkLst>
        <pc:spChg chg="mod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4" creationId="{678F7E98-448C-4D0D-9F30-14867920A9AB}"/>
          </ac:spMkLst>
        </pc:spChg>
        <pc:spChg chg="mod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5" creationId="{AABBE52E-CEE2-4BAF-BD11-CD0476E24C09}"/>
          </ac:spMkLst>
        </pc:spChg>
        <pc:spChg chg="mod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6" creationId="{F1D08259-19C6-4FD5-8098-906929438BCF}"/>
          </ac:spMkLst>
        </pc:spChg>
        <pc:spChg chg="del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9" creationId="{9E6491B0-DF27-4EDF-B8D4-26CCD7ABDB1B}"/>
          </ac:spMkLst>
        </pc:spChg>
        <pc:spChg chg="del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25" creationId="{D5B339F4-93B9-4E04-9721-143AD6782EA9}"/>
          </ac:spMkLst>
        </pc:spChg>
        <pc:spChg chg="del">
          <ac:chgData name="Roberto Harkovsky" userId="f2c5d9e3-e1cd-491b-8eea-425a4d9cf1c2" providerId="ADAL" clId="{97B26E36-699D-4853-B016-B14C3BD968AA}" dt="2025-08-04T17:18:54.852" v="1" actId="26606"/>
          <ac:spMkLst>
            <pc:docMk/>
            <pc:sldMk cId="1297815805" sldId="346"/>
            <ac:spMk id="31" creationId="{871AEA07-1E14-44B4-8E55-64EF049CD66F}"/>
          </ac:spMkLst>
        </pc:spChg>
        <pc:grpChg chg="del">
          <ac:chgData name="Roberto Harkovsky" userId="f2c5d9e3-e1cd-491b-8eea-425a4d9cf1c2" providerId="ADAL" clId="{97B26E36-699D-4853-B016-B14C3BD968AA}" dt="2025-08-04T17:18:54.852" v="1" actId="26606"/>
          <ac:grpSpMkLst>
            <pc:docMk/>
            <pc:sldMk cId="1297815805" sldId="346"/>
            <ac:grpSpMk id="27" creationId="{8734DDD3-F723-4DD3-8ABE-EC0B2AC87D74}"/>
          </ac:grpSpMkLst>
        </pc:grpChg>
        <pc:picChg chg="add">
          <ac:chgData name="Roberto Harkovsky" userId="f2c5d9e3-e1cd-491b-8eea-425a4d9cf1c2" providerId="ADAL" clId="{97B26E36-699D-4853-B016-B14C3BD968AA}" dt="2025-08-04T17:18:54.852" v="1" actId="26606"/>
          <ac:picMkLst>
            <pc:docMk/>
            <pc:sldMk cId="1297815805" sldId="346"/>
            <ac:picMk id="33" creationId="{F30CA665-C405-7FF0-6534-196372336996}"/>
          </ac:picMkLst>
        </pc:picChg>
      </pc:sldChg>
      <pc:sldChg chg="addSp delSp modSp mod setBg modClrScheme chgLayout">
        <pc:chgData name="Roberto Harkovsky" userId="f2c5d9e3-e1cd-491b-8eea-425a4d9cf1c2" providerId="ADAL" clId="{97B26E36-699D-4853-B016-B14C3BD968AA}" dt="2025-08-04T17:19:07.447" v="2" actId="26606"/>
        <pc:sldMkLst>
          <pc:docMk/>
          <pc:sldMk cId="1081095636" sldId="347"/>
        </pc:sldMkLst>
        <pc:spChg chg="mod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4" creationId="{678F7E98-448C-4D0D-9F30-14867920A9AB}"/>
          </ac:spMkLst>
        </pc:spChg>
        <pc:spChg chg="mod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5" creationId="{AABBE52E-CEE2-4BAF-BD11-CD0476E24C09}"/>
          </ac:spMkLst>
        </pc:spChg>
        <pc:spChg chg="mod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6" creationId="{F1D08259-19C6-4FD5-8098-906929438BCF}"/>
          </ac:spMkLst>
        </pc:spChg>
        <pc:spChg chg="del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9" creationId="{9E6491B0-DF27-4EDF-B8D4-26CCD7ABDB1B}"/>
          </ac:spMkLst>
        </pc:spChg>
        <pc:spChg chg="del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25" creationId="{D5B339F4-93B9-4E04-9721-143AD6782EA9}"/>
          </ac:spMkLst>
        </pc:spChg>
        <pc:spChg chg="del">
          <ac:chgData name="Roberto Harkovsky" userId="f2c5d9e3-e1cd-491b-8eea-425a4d9cf1c2" providerId="ADAL" clId="{97B26E36-699D-4853-B016-B14C3BD968AA}" dt="2025-08-04T17:19:07.447" v="2" actId="26606"/>
          <ac:spMkLst>
            <pc:docMk/>
            <pc:sldMk cId="1081095636" sldId="347"/>
            <ac:spMk id="31" creationId="{871AEA07-1E14-44B4-8E55-64EF049CD66F}"/>
          </ac:spMkLst>
        </pc:spChg>
        <pc:grpChg chg="del">
          <ac:chgData name="Roberto Harkovsky" userId="f2c5d9e3-e1cd-491b-8eea-425a4d9cf1c2" providerId="ADAL" clId="{97B26E36-699D-4853-B016-B14C3BD968AA}" dt="2025-08-04T17:19:07.447" v="2" actId="26606"/>
          <ac:grpSpMkLst>
            <pc:docMk/>
            <pc:sldMk cId="1081095636" sldId="347"/>
            <ac:grpSpMk id="27" creationId="{8734DDD3-F723-4DD3-8ABE-EC0B2AC87D74}"/>
          </ac:grpSpMkLst>
        </pc:grpChg>
        <pc:picChg chg="add">
          <ac:chgData name="Roberto Harkovsky" userId="f2c5d9e3-e1cd-491b-8eea-425a4d9cf1c2" providerId="ADAL" clId="{97B26E36-699D-4853-B016-B14C3BD968AA}" dt="2025-08-04T17:19:07.447" v="2" actId="26606"/>
          <ac:picMkLst>
            <pc:docMk/>
            <pc:sldMk cId="1081095636" sldId="347"/>
            <ac:picMk id="33" creationId="{0EEB6D61-2F63-928E-E221-4DFE66949C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A1FC0-250D-4B4A-85D2-6E64385828D0}" type="datetimeFigureOut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6519D-BEC0-405C-8F15-4027DD107A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56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3716B9-3EAE-41E8-8426-5CBD9F6A460D}" type="slidenum">
              <a:rPr lang="pt-BR" smtClean="0">
                <a:latin typeface="Arial" charset="0"/>
              </a:rPr>
              <a:pPr/>
              <a:t>16</a:t>
            </a:fld>
            <a:endParaRPr lang="pt-BR">
              <a:latin typeface="Arial" charset="0"/>
            </a:endParaRPr>
          </a:p>
        </p:txBody>
      </p:sp>
      <p:sp>
        <p:nvSpPr>
          <p:cNvPr id="165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223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17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194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18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965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19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86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20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398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31288A-6703-46AE-B424-806D74739F38}" type="slidenum">
              <a:rPr lang="pt-BR" smtClean="0">
                <a:latin typeface="Arial" charset="0"/>
              </a:rPr>
              <a:pPr/>
              <a:t>21</a:t>
            </a:fld>
            <a:endParaRPr lang="pt-BR">
              <a:latin typeface="Arial" charset="0"/>
            </a:endParaRPr>
          </a:p>
        </p:txBody>
      </p:sp>
      <p:sp>
        <p:nvSpPr>
          <p:cNvPr id="167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53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E401A7-8A25-48BA-81CD-F6B79B74BD48}" type="slidenum">
              <a:rPr lang="pt-BR" smtClean="0">
                <a:latin typeface="Arial" charset="0"/>
              </a:rPr>
              <a:pPr/>
              <a:t>23</a:t>
            </a:fld>
            <a:endParaRPr lang="pt-BR">
              <a:latin typeface="Arial" charset="0"/>
            </a:endParaRPr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7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13CECF-ACD8-440E-87BA-601202EFD8C9}" type="slidenum">
              <a:rPr lang="pt-BR" smtClean="0">
                <a:latin typeface="Arial" charset="0"/>
              </a:rPr>
              <a:pPr/>
              <a:t>26</a:t>
            </a:fld>
            <a:endParaRPr lang="pt-BR">
              <a:latin typeface="Arial" charset="0"/>
            </a:endParaRPr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02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79C9E1-BEC8-4D67-83B7-ABC6A10BEE84}" type="slidenum">
              <a:rPr lang="pt-BR" smtClean="0">
                <a:latin typeface="Arial" charset="0"/>
              </a:rPr>
              <a:pPr/>
              <a:t>27</a:t>
            </a:fld>
            <a:endParaRPr lang="pt-BR">
              <a:latin typeface="Arial" charset="0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82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79C9E1-BEC8-4D67-83B7-ABC6A10BEE84}" type="slidenum">
              <a:rPr lang="pt-BR" smtClean="0">
                <a:latin typeface="Arial" charset="0"/>
              </a:rPr>
              <a:pPr/>
              <a:t>28</a:t>
            </a:fld>
            <a:endParaRPr lang="pt-BR">
              <a:latin typeface="Arial" charset="0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891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79C9E1-BEC8-4D67-83B7-ABC6A10BEE84}" type="slidenum">
              <a:rPr lang="pt-BR" smtClean="0">
                <a:latin typeface="Arial" charset="0"/>
              </a:rPr>
              <a:pPr/>
              <a:t>29</a:t>
            </a:fld>
            <a:endParaRPr lang="pt-BR">
              <a:latin typeface="Arial" charset="0"/>
            </a:endParaRPr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417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C2510-E658-4176-9BC5-3335DBD0E44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4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C8A96-FF7E-4BE6-A8B2-9642DDF9683B}" type="slidenum">
              <a:rPr lang="pt-BR" smtClean="0">
                <a:latin typeface="Arial" charset="0"/>
              </a:rPr>
              <a:pPr/>
              <a:t>31</a:t>
            </a:fld>
            <a:endParaRPr lang="pt-BR">
              <a:latin typeface="Arial" charset="0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470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C8A96-FF7E-4BE6-A8B2-9642DDF9683B}" type="slidenum">
              <a:rPr lang="pt-BR" smtClean="0">
                <a:latin typeface="Arial" charset="0"/>
              </a:rPr>
              <a:pPr/>
              <a:t>32</a:t>
            </a:fld>
            <a:endParaRPr lang="pt-BR">
              <a:latin typeface="Arial" charset="0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474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C8A96-FF7E-4BE6-A8B2-9642DDF9683B}" type="slidenum">
              <a:rPr lang="pt-BR" smtClean="0">
                <a:latin typeface="Arial" charset="0"/>
              </a:rPr>
              <a:pPr/>
              <a:t>33</a:t>
            </a:fld>
            <a:endParaRPr lang="pt-BR">
              <a:latin typeface="Arial" charset="0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802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C8A96-FF7E-4BE6-A8B2-9642DDF9683B}" type="slidenum">
              <a:rPr lang="pt-BR" smtClean="0">
                <a:latin typeface="Arial" charset="0"/>
              </a:rPr>
              <a:pPr/>
              <a:t>34</a:t>
            </a:fld>
            <a:endParaRPr lang="pt-BR">
              <a:latin typeface="Arial" charset="0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1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0C8A96-FF7E-4BE6-A8B2-9642DDF9683B}" type="slidenum">
              <a:rPr lang="pt-BR" smtClean="0">
                <a:latin typeface="Arial" charset="0"/>
              </a:rPr>
              <a:pPr/>
              <a:t>35</a:t>
            </a:fld>
            <a:endParaRPr lang="pt-BR">
              <a:latin typeface="Arial" charset="0"/>
            </a:endParaRPr>
          </a:p>
        </p:txBody>
      </p:sp>
      <p:sp>
        <p:nvSpPr>
          <p:cNvPr id="78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84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7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37852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50711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1047-C2A6-4904-B9A4-1024A8AF1F87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44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3B32-ACFE-4120-8F59-39DD1B2AEE45}" type="datetime1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41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7B1C3-49C8-4595-9517-AE253D10D53F}" type="datetime1">
              <a:rPr lang="pt-BR" smtClean="0"/>
              <a:t>04/08/2025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22901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3396-B867-4B34-9310-94A75068F676}" type="datetime1">
              <a:rPr lang="pt-BR" smtClean="0"/>
              <a:t>04/08/2025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6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9797-BF41-44D9-9D45-43618226489C}" type="datetime1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68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05A0C-8246-4B5F-A38D-EA02A43479DA}" type="datetime1">
              <a:rPr lang="pt-BR" smtClean="0"/>
              <a:t>04/08/2025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69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6441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10800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D64C9-6C69-4398-9F77-D88E9692069D}" type="datetime1">
              <a:rPr lang="pt-BR" smtClean="0"/>
              <a:t>04/08/2025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365125"/>
            <a:ext cx="1419225" cy="314325"/>
          </a:xfrm>
          <a:prstGeom prst="rect">
            <a:avLst/>
          </a:prstGeom>
        </p:spPr>
      </p:pic>
      <p:sp>
        <p:nvSpPr>
          <p:cNvPr id="7" name="MSIPCMContentMarking" descr="{&quot;HashCode&quot;:-321200650,&quot;Placement&quot;:&quot;Footer&quot;,&quot;Top&quot;:519.343,&quot;Left&quot;:454.655182,&quot;SlideWidth&quot;:960,&quot;SlideHeight&quot;:540}">
            <a:extLst>
              <a:ext uri="{FF2B5EF4-FFF2-40B4-BE49-F238E27FC236}">
                <a16:creationId xmlns:a16="http://schemas.microsoft.com/office/drawing/2014/main" id="{1D8F86D3-2F3E-4AAE-9C36-ADCA7022591C}"/>
              </a:ext>
            </a:extLst>
          </p:cNvPr>
          <p:cNvSpPr txBox="1"/>
          <p:nvPr userDrawn="1"/>
        </p:nvSpPr>
        <p:spPr>
          <a:xfrm>
            <a:off x="5774121" y="6595656"/>
            <a:ext cx="64375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41033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mode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mode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1D08259-19C6-4FD5-8098-90692943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Banco de Dados Relacional </a:t>
            </a:r>
          </a:p>
        </p:txBody>
      </p:sp>
      <p:pic>
        <p:nvPicPr>
          <p:cNvPr id="24" name="Picture 23" descr="Monitores de computador antigos">
            <a:extLst>
              <a:ext uri="{FF2B5EF4-FFF2-40B4-BE49-F238E27FC236}">
                <a16:creationId xmlns:a16="http://schemas.microsoft.com/office/drawing/2014/main" id="{9EAB5D4D-FFB7-9EC0-0D6B-851EE8DCC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18" b="25485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F7E98-448C-4D0D-9F30-1486792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BBE52E-CEE2-4BAF-BD11-CD0476E2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76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pt-BR" sz="2000"/>
              <a:t>Elmasri &amp; Navathe - “Sistemas de Banco de Dados”</a:t>
            </a:r>
          </a:p>
          <a:p>
            <a:endParaRPr lang="pt-BR" sz="2000"/>
          </a:p>
          <a:p>
            <a:endParaRPr lang="pt-BR" sz="2000"/>
          </a:p>
          <a:p>
            <a:endParaRPr lang="pt-BR" sz="20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986FC2-C5A1-4E0D-9468-3BEEF5DD57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8" r="1241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3AB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965430" y="6356350"/>
            <a:ext cx="413913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/>
              <a:t>Roberto Harkovsky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167042" y="6356350"/>
            <a:ext cx="118675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0200A9-CB03-4EF2-9D99-353BA7EB6B77}" type="slidenum">
              <a:rPr lang="pt-BR" smtClean="0"/>
              <a:pPr>
                <a:spcAft>
                  <a:spcPts val="600"/>
                </a:spcAft>
              </a:pPr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74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1D08259-19C6-4FD5-8098-90692943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Um breve histórico dos modelos de Banco de Dados</a:t>
            </a:r>
          </a:p>
        </p:txBody>
      </p:sp>
      <p:pic>
        <p:nvPicPr>
          <p:cNvPr id="33" name="Picture 32" descr="Uma bola de basquete em um banco de reservas">
            <a:extLst>
              <a:ext uri="{FF2B5EF4-FFF2-40B4-BE49-F238E27FC236}">
                <a16:creationId xmlns:a16="http://schemas.microsoft.com/office/drawing/2014/main" id="{F30CA665-C405-7FF0-6534-19637233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08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F7E98-448C-4D0D-9F30-1486792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BBE52E-CEE2-4BAF-BD11-CD0476E2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1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3705A94-8C66-46BB-832E-3CA66DB2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banco de dados e por que precisamos de modelos?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C4EB6AF-8898-4772-8434-B8DD6840B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dirty="0"/>
              <a:t>Um </a:t>
            </a:r>
            <a:r>
              <a:rPr lang="pt-BR" dirty="0">
                <a:solidFill>
                  <a:srgbClr val="FF0000"/>
                </a:solidFill>
              </a:rPr>
              <a:t>banco de dados </a:t>
            </a:r>
            <a:r>
              <a:rPr lang="pt-BR" dirty="0"/>
              <a:t>é uma coleção organizada de informações. </a:t>
            </a:r>
          </a:p>
          <a:p>
            <a:pPr>
              <a:lnSpc>
                <a:spcPct val="100000"/>
              </a:lnSpc>
            </a:pPr>
            <a:r>
              <a:rPr lang="pt-BR" dirty="0"/>
              <a:t>Para </a:t>
            </a:r>
            <a:r>
              <a:rPr lang="pt-BR" dirty="0">
                <a:solidFill>
                  <a:srgbClr val="FF0000"/>
                </a:solidFill>
              </a:rPr>
              <a:t>gerenciar e estruturar esses dados</a:t>
            </a:r>
            <a:r>
              <a:rPr lang="pt-BR" dirty="0"/>
              <a:t>, precisamos de modelos que definem a lógica e as relações entre as informações.</a:t>
            </a:r>
          </a:p>
          <a:p>
            <a:pPr>
              <a:lnSpc>
                <a:spcPct val="100000"/>
              </a:lnSpc>
            </a:pPr>
            <a:r>
              <a:rPr lang="pt-BR" dirty="0"/>
              <a:t>Um </a:t>
            </a:r>
            <a:r>
              <a:rPr lang="pt-BR" b="1" dirty="0">
                <a:solidFill>
                  <a:srgbClr val="FF0000"/>
                </a:solidFill>
              </a:rPr>
              <a:t>modelo de banco de dados</a:t>
            </a:r>
            <a:r>
              <a:rPr lang="pt-BR" dirty="0">
                <a:solidFill>
                  <a:srgbClr val="FF0000"/>
                </a:solidFill>
              </a:rPr>
              <a:t> </a:t>
            </a:r>
            <a:r>
              <a:rPr lang="pt-BR" dirty="0"/>
              <a:t>é a estrutura lógica que define como os dados são armazenados, organizados e manipulados.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AFB70D-CD79-4DD0-9250-1FE92B0A8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1DD2F8-C3F8-4DB4-BAED-A13B189A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449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0008A-6B08-499A-AE4C-482FCF6DE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Modelos de Banco de Dados Tradicionais</a:t>
            </a:r>
            <a:br>
              <a:rPr lang="pt-BR" dirty="0"/>
            </a:br>
            <a:r>
              <a:rPr lang="pt-BR" b="1" dirty="0"/>
              <a:t>Modelo Hierárquico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B789F-DF04-4C32-A51D-B76006B5A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769968" cy="4351338"/>
          </a:xfrm>
        </p:spPr>
        <p:txBody>
          <a:bodyPr>
            <a:normAutofit/>
          </a:bodyPr>
          <a:lstStyle/>
          <a:p>
            <a:r>
              <a:rPr lang="pt-BR" sz="2400" b="1" dirty="0"/>
              <a:t>Conceito</a:t>
            </a:r>
            <a:r>
              <a:rPr lang="pt-BR" sz="2400" dirty="0"/>
              <a:t>: Estrutura de árvore, onde cada registro "pai" pode ter vários registros "filhos", mas cada "filho" tem apenas um "pai".</a:t>
            </a:r>
          </a:p>
          <a:p>
            <a:r>
              <a:rPr lang="pt-BR" sz="2400" b="1" dirty="0"/>
              <a:t>Exemplo</a:t>
            </a:r>
            <a:r>
              <a:rPr lang="pt-BR" sz="2400" dirty="0"/>
              <a:t>: A hierarquia de arquivos de um computador (pastas e subpastas).</a:t>
            </a:r>
          </a:p>
          <a:p>
            <a:r>
              <a:rPr lang="pt-BR" sz="2400" b="1" dirty="0"/>
              <a:t>Vantagens</a:t>
            </a:r>
            <a:r>
              <a:rPr lang="pt-BR" sz="2400" dirty="0"/>
              <a:t>: Simples de entender para estruturas hierárquicas.</a:t>
            </a:r>
          </a:p>
          <a:p>
            <a:r>
              <a:rPr lang="pt-BR" sz="2400" b="1" dirty="0"/>
              <a:t>Desvantagens</a:t>
            </a:r>
            <a:r>
              <a:rPr lang="pt-BR" sz="2400" dirty="0"/>
              <a:t>: Difícil de representar relacionamentos complexos, onde um "filho" pode ter múltiplos "pais".</a:t>
            </a:r>
          </a:p>
          <a:p>
            <a:endParaRPr lang="pt-BR" sz="24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42C035-E00A-4CB3-B279-34A9576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92D159-D6CC-4D21-A7E4-67FA682C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5</a:t>
            </a:fld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41E04A9-362A-E302-B43D-8129D5DE6CC8}"/>
              </a:ext>
            </a:extLst>
          </p:cNvPr>
          <p:cNvGrpSpPr/>
          <p:nvPr/>
        </p:nvGrpSpPr>
        <p:grpSpPr>
          <a:xfrm>
            <a:off x="7989888" y="1904305"/>
            <a:ext cx="3742306" cy="3105592"/>
            <a:chOff x="7989888" y="1904305"/>
            <a:chExt cx="3742306" cy="3105592"/>
          </a:xfrm>
        </p:grpSpPr>
        <p:pic>
          <p:nvPicPr>
            <p:cNvPr id="7" name="Imagem 6" descr="Ícone&#10;&#10;O conteúdo gerado por IA pode estar incorreto.">
              <a:extLst>
                <a:ext uri="{FF2B5EF4-FFF2-40B4-BE49-F238E27FC236}">
                  <a16:creationId xmlns:a16="http://schemas.microsoft.com/office/drawing/2014/main" id="{035E2102-2415-FF23-3D75-F3FA0BE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7989888" y="2058194"/>
              <a:ext cx="3363912" cy="2522934"/>
            </a:xfrm>
            <a:prstGeom prst="rect">
              <a:avLst/>
            </a:prstGeom>
            <a:noFill/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A4ECB1F5-DE07-DFA1-4E7F-9337EBF5E6CE}"/>
                </a:ext>
              </a:extLst>
            </p:cNvPr>
            <p:cNvSpPr txBox="1"/>
            <p:nvPr/>
          </p:nvSpPr>
          <p:spPr>
            <a:xfrm>
              <a:off x="9117044" y="1904305"/>
              <a:ext cx="9140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Operações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CD482F1A-BBAC-8D74-C00B-C1842A670692}"/>
                </a:ext>
              </a:extLst>
            </p:cNvPr>
            <p:cNvSpPr txBox="1"/>
            <p:nvPr/>
          </p:nvSpPr>
          <p:spPr>
            <a:xfrm>
              <a:off x="10244201" y="2708920"/>
              <a:ext cx="6880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Vendas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BAE9E1A-D7AF-3972-235A-98C7D54F087D}"/>
                </a:ext>
              </a:extLst>
            </p:cNvPr>
            <p:cNvSpPr txBox="1"/>
            <p:nvPr/>
          </p:nvSpPr>
          <p:spPr>
            <a:xfrm>
              <a:off x="8055800" y="2721322"/>
              <a:ext cx="8499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Marketing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C776C9BE-75B3-0F3D-46AD-292413341BE1}"/>
                </a:ext>
              </a:extLst>
            </p:cNvPr>
            <p:cNvSpPr txBox="1"/>
            <p:nvPr/>
          </p:nvSpPr>
          <p:spPr>
            <a:xfrm>
              <a:off x="7989888" y="4450323"/>
              <a:ext cx="8114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Analista1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8A6F274A-BE6D-EC98-8665-7BD465FF8456}"/>
                </a:ext>
              </a:extLst>
            </p:cNvPr>
            <p:cNvSpPr txBox="1"/>
            <p:nvPr/>
          </p:nvSpPr>
          <p:spPr>
            <a:xfrm>
              <a:off x="8520464" y="4748287"/>
              <a:ext cx="8114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Analista2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5CF026B-BACA-0D33-F0BE-4ADCEF210589}"/>
                </a:ext>
              </a:extLst>
            </p:cNvPr>
            <p:cNvSpPr txBox="1"/>
            <p:nvPr/>
          </p:nvSpPr>
          <p:spPr>
            <a:xfrm>
              <a:off x="8933151" y="4470971"/>
              <a:ext cx="81144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Analista3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80B319A5-D671-C75A-AA81-F7D06F0F03FC}"/>
                </a:ext>
              </a:extLst>
            </p:cNvPr>
            <p:cNvSpPr txBox="1"/>
            <p:nvPr/>
          </p:nvSpPr>
          <p:spPr>
            <a:xfrm>
              <a:off x="9671843" y="4434617"/>
              <a:ext cx="9156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Vendedor1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E26A355-A000-B01B-1474-A1C2A03ECA34}"/>
                </a:ext>
              </a:extLst>
            </p:cNvPr>
            <p:cNvSpPr txBox="1"/>
            <p:nvPr/>
          </p:nvSpPr>
          <p:spPr>
            <a:xfrm>
              <a:off x="10244201" y="4664602"/>
              <a:ext cx="9156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Vendedor2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881B4AEF-A9DD-5ED1-4B38-01094C822843}"/>
                </a:ext>
              </a:extLst>
            </p:cNvPr>
            <p:cNvSpPr txBox="1"/>
            <p:nvPr/>
          </p:nvSpPr>
          <p:spPr>
            <a:xfrm>
              <a:off x="10816559" y="4440037"/>
              <a:ext cx="91563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Vendedor3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977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0008A-6B08-499A-AE4C-482FCF6DE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Modelos de Banco de Dados Tradicionais</a:t>
            </a:r>
            <a:br>
              <a:rPr lang="pt-BR" dirty="0"/>
            </a:br>
            <a:r>
              <a:rPr lang="pt-BR" b="1" dirty="0"/>
              <a:t>Modelo de Rede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B789F-DF04-4C32-A51D-B76006B5A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83439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altLang="pt-BR" sz="2400" b="1" dirty="0"/>
              <a:t>Conceito: </a:t>
            </a:r>
            <a:r>
              <a:rPr lang="pt-BR" altLang="pt-BR" sz="2400" dirty="0"/>
              <a:t>Evolução do modelo hierárquico, permitindo que um registro "filho" tenha múltiplos "pais". É como uma teia de conexões.</a:t>
            </a:r>
          </a:p>
          <a:p>
            <a:r>
              <a:rPr lang="pt-BR" altLang="pt-BR" sz="2400" b="1" dirty="0"/>
              <a:t>Exemplo: </a:t>
            </a:r>
            <a:r>
              <a:rPr lang="pt-BR" altLang="pt-BR" sz="2400" dirty="0"/>
              <a:t>Rede social, onde uma pessoa pode ter múltiplos grupos de amigos.</a:t>
            </a:r>
          </a:p>
          <a:p>
            <a:r>
              <a:rPr lang="pt-BR" altLang="pt-BR" sz="2400" b="1" dirty="0"/>
              <a:t>Vantagens: </a:t>
            </a:r>
            <a:r>
              <a:rPr lang="pt-BR" altLang="pt-BR" sz="2400" dirty="0"/>
              <a:t>Mais flexível que o hierárquico.</a:t>
            </a:r>
          </a:p>
          <a:p>
            <a:r>
              <a:rPr lang="pt-BR" altLang="pt-BR" sz="2400" b="1" dirty="0"/>
              <a:t>Desvantagens: </a:t>
            </a:r>
            <a:r>
              <a:rPr lang="pt-BR" altLang="pt-BR" sz="2400" dirty="0"/>
              <a:t>Estrutura complexa e difícil de gerenciar.</a:t>
            </a:r>
          </a:p>
          <a:p>
            <a:endParaRPr lang="pt-BR" sz="2400" b="1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42C035-E00A-4CB3-B279-34A9576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92D159-D6CC-4D21-A7E4-67FA682C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6</a:t>
            </a:fld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F8E20DDA-BCFC-CE2E-5FD0-6CB3F00F4979}"/>
              </a:ext>
            </a:extLst>
          </p:cNvPr>
          <p:cNvGrpSpPr/>
          <p:nvPr/>
        </p:nvGrpSpPr>
        <p:grpSpPr>
          <a:xfrm>
            <a:off x="7890744" y="1851291"/>
            <a:ext cx="3427185" cy="2893374"/>
            <a:chOff x="7989888" y="1904305"/>
            <a:chExt cx="3703543" cy="3126687"/>
          </a:xfrm>
        </p:grpSpPr>
        <p:pic>
          <p:nvPicPr>
            <p:cNvPr id="7" name="Imagem 6" descr="Ícone&#10;&#10;O conteúdo gerado por IA pode estar incorreto.">
              <a:extLst>
                <a:ext uri="{FF2B5EF4-FFF2-40B4-BE49-F238E27FC236}">
                  <a16:creationId xmlns:a16="http://schemas.microsoft.com/office/drawing/2014/main" id="{8CF1A2D5-D55C-940D-0287-C8D8ACBDE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7989888" y="2058194"/>
              <a:ext cx="3363912" cy="2522934"/>
            </a:xfrm>
            <a:prstGeom prst="rect">
              <a:avLst/>
            </a:prstGeom>
            <a:noFill/>
          </p:spPr>
        </p:pic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DF77684-6BE8-1E9B-FD6E-BF8B8E2C551D}"/>
                </a:ext>
              </a:extLst>
            </p:cNvPr>
            <p:cNvSpPr txBox="1"/>
            <p:nvPr/>
          </p:nvSpPr>
          <p:spPr>
            <a:xfrm>
              <a:off x="9117044" y="1904305"/>
              <a:ext cx="809314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Projetos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59F88A7-6B4F-B034-8F93-6E2598E9CC4C}"/>
                </a:ext>
              </a:extLst>
            </p:cNvPr>
            <p:cNvSpPr txBox="1"/>
            <p:nvPr/>
          </p:nvSpPr>
          <p:spPr>
            <a:xfrm>
              <a:off x="10244201" y="2708920"/>
              <a:ext cx="809314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dirty="0">
                  <a:latin typeface="Arial" panose="020B0604020202020204" pitchFamily="34" charset="0"/>
                  <a:cs typeface="Arial" panose="020B0604020202020204" pitchFamily="34" charset="0"/>
                </a:rPr>
                <a:t>Projeto2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A7D39E33-0704-975F-2FA7-C1CF1B913536}"/>
                </a:ext>
              </a:extLst>
            </p:cNvPr>
            <p:cNvSpPr txBox="1"/>
            <p:nvPr/>
          </p:nvSpPr>
          <p:spPr>
            <a:xfrm>
              <a:off x="8055800" y="2721322"/>
              <a:ext cx="809314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Projeto1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98ACE4D-32BF-1945-E9A1-76FAC1BEEA0E}"/>
                </a:ext>
              </a:extLst>
            </p:cNvPr>
            <p:cNvSpPr txBox="1"/>
            <p:nvPr/>
          </p:nvSpPr>
          <p:spPr>
            <a:xfrm>
              <a:off x="7989888" y="4450323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Analista1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6A6F448E-7D35-C43D-D5CC-5D70B91DE011}"/>
                </a:ext>
              </a:extLst>
            </p:cNvPr>
            <p:cNvSpPr txBox="1"/>
            <p:nvPr/>
          </p:nvSpPr>
          <p:spPr>
            <a:xfrm>
              <a:off x="8520464" y="4748287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Analista2</a:t>
              </a:r>
              <a:endParaRPr lang="pt-BR" sz="11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A758129-E37A-A11A-45C6-14DD71DDE48E}"/>
                </a:ext>
              </a:extLst>
            </p:cNvPr>
            <p:cNvSpPr txBox="1"/>
            <p:nvPr/>
          </p:nvSpPr>
          <p:spPr>
            <a:xfrm>
              <a:off x="8933151" y="4470971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Analista3</a:t>
              </a:r>
              <a:endParaRPr lang="pt-BR" sz="11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46317365-7568-C8B9-1E12-E989AB907E19}"/>
                </a:ext>
              </a:extLst>
            </p:cNvPr>
            <p:cNvSpPr txBox="1"/>
            <p:nvPr/>
          </p:nvSpPr>
          <p:spPr>
            <a:xfrm>
              <a:off x="9671843" y="4434617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Analista4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D8488AEC-38BE-C661-DFAF-39714D1B6DC7}"/>
                </a:ext>
              </a:extLst>
            </p:cNvPr>
            <p:cNvSpPr txBox="1"/>
            <p:nvPr/>
          </p:nvSpPr>
          <p:spPr>
            <a:xfrm>
              <a:off x="10244201" y="4664602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Analista5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A9B711E8-0D55-E2C4-DF4D-9D9DA1F91F9E}"/>
                </a:ext>
              </a:extLst>
            </p:cNvPr>
            <p:cNvSpPr txBox="1"/>
            <p:nvPr/>
          </p:nvSpPr>
          <p:spPr>
            <a:xfrm>
              <a:off x="10816558" y="4440037"/>
              <a:ext cx="876873" cy="282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61872">
                <a:spcAft>
                  <a:spcPts val="600"/>
                </a:spcAft>
              </a:pPr>
              <a:r>
                <a:rPr lang="pt-BR" sz="1100" b="1" kern="1200" dirty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Analista6</a:t>
              </a:r>
              <a:endParaRPr lang="pt-BR" sz="11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90823D1-45CD-23CB-B4E8-8AE28A13D098}"/>
              </a:ext>
            </a:extLst>
          </p:cNvPr>
          <p:cNvCxnSpPr/>
          <p:nvPr/>
        </p:nvCxnSpPr>
        <p:spPr>
          <a:xfrm flipV="1">
            <a:off x="9193169" y="3323127"/>
            <a:ext cx="863271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83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0008A-6B08-499A-AE4C-482FCF6DE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0710"/>
            <a:ext cx="7313612" cy="964034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Modelos de Banco de Dados Tradicionais</a:t>
            </a:r>
            <a:br>
              <a:rPr lang="pt-BR" dirty="0"/>
            </a:br>
            <a:r>
              <a:rPr lang="pt-BR" b="1" dirty="0"/>
              <a:t>Modelo Relacional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2B789F-DF04-4C32-A51D-B76006B5A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268760"/>
            <a:ext cx="6048300" cy="513204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800" b="1" dirty="0"/>
              <a:t>Conceito</a:t>
            </a:r>
            <a:r>
              <a:rPr lang="pt-BR" sz="1800" dirty="0"/>
              <a:t>: Este é o modelo mais importante e amplamente utilizado até hoje. </a:t>
            </a:r>
          </a:p>
          <a:p>
            <a:r>
              <a:rPr lang="pt-BR" sz="1800" dirty="0"/>
              <a:t>Os dados são organizados em </a:t>
            </a:r>
            <a:r>
              <a:rPr lang="pt-BR" sz="1800" b="1" dirty="0"/>
              <a:t>tabelas</a:t>
            </a:r>
            <a:r>
              <a:rPr lang="pt-BR" sz="1800" dirty="0"/>
              <a:t> (chamadas de relações), compostas por </a:t>
            </a:r>
            <a:r>
              <a:rPr lang="pt-BR" sz="1800" b="1" dirty="0"/>
              <a:t>linhas</a:t>
            </a:r>
            <a:r>
              <a:rPr lang="pt-BR" sz="1800" dirty="0"/>
              <a:t> (registros) e </a:t>
            </a:r>
            <a:r>
              <a:rPr lang="pt-BR" sz="1800" b="1" dirty="0"/>
              <a:t>colunas</a:t>
            </a:r>
            <a:r>
              <a:rPr lang="pt-BR" sz="1800" dirty="0"/>
              <a:t> (atributos). </a:t>
            </a:r>
          </a:p>
          <a:p>
            <a:r>
              <a:rPr lang="pt-BR" sz="1800" dirty="0"/>
              <a:t>As relações entre as tabelas são feitas por meio de </a:t>
            </a:r>
            <a:r>
              <a:rPr lang="pt-BR" sz="1800" b="1" dirty="0"/>
              <a:t>chaves</a:t>
            </a:r>
            <a:r>
              <a:rPr lang="pt-BR" sz="1800" dirty="0"/>
              <a:t> (campos que identificam os registros)</a:t>
            </a:r>
          </a:p>
          <a:p>
            <a:r>
              <a:rPr lang="pt-BR" altLang="pt-BR" sz="1800" b="1" dirty="0"/>
              <a:t>Exemplo</a:t>
            </a:r>
            <a:r>
              <a:rPr lang="pt-BR" altLang="pt-BR" sz="1800" dirty="0"/>
              <a:t>: Imagine um sistema de e-commerce. Uma tabela Clientes, uma tabela Pedidos e uma tabela Produtos. A tabela Pedidos relaciona-se com Clientes e Produtos usando as chaves </a:t>
            </a:r>
            <a:r>
              <a:rPr lang="pt-BR" altLang="pt-BR" sz="1800" dirty="0" err="1"/>
              <a:t>id_cliente</a:t>
            </a:r>
            <a:r>
              <a:rPr lang="pt-BR" altLang="pt-BR" sz="1800" dirty="0"/>
              <a:t> e </a:t>
            </a:r>
            <a:r>
              <a:rPr lang="pt-BR" altLang="pt-BR" sz="1800" dirty="0" err="1"/>
              <a:t>id_produto</a:t>
            </a:r>
            <a:r>
              <a:rPr lang="pt-BR" altLang="pt-BR" sz="1800" dirty="0"/>
              <a:t>. </a:t>
            </a:r>
          </a:p>
          <a:p>
            <a:r>
              <a:rPr lang="pt-BR" sz="1800" b="1" dirty="0"/>
              <a:t>Vantagens</a:t>
            </a:r>
            <a:r>
              <a:rPr lang="pt-BR" sz="1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dirty="0"/>
              <a:t>Flexível e poderoso.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dirty="0"/>
              <a:t>Sólida teoria matemática por trás (álgebra relacional).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800" dirty="0"/>
              <a:t>Linguagem padrão: </a:t>
            </a:r>
            <a:r>
              <a:rPr lang="pt-BR" sz="1800" b="1" dirty="0"/>
              <a:t>SQL</a:t>
            </a:r>
            <a:r>
              <a:rPr lang="pt-BR" sz="1800" dirty="0"/>
              <a:t> (</a:t>
            </a:r>
            <a:r>
              <a:rPr lang="pt-BR" sz="1800" dirty="0" err="1"/>
              <a:t>Structured</a:t>
            </a:r>
            <a:r>
              <a:rPr lang="pt-BR" sz="1800" dirty="0"/>
              <a:t> Query </a:t>
            </a:r>
            <a:r>
              <a:rPr lang="pt-BR" sz="1800" dirty="0" err="1"/>
              <a:t>Language</a:t>
            </a:r>
            <a:r>
              <a:rPr lang="pt-BR" sz="1800" dirty="0"/>
              <a:t>)</a:t>
            </a:r>
          </a:p>
          <a:p>
            <a:r>
              <a:rPr lang="pt-BR" sz="1800" b="1" dirty="0"/>
              <a:t>Desvantagens</a:t>
            </a:r>
            <a:r>
              <a:rPr lang="pt-BR" sz="1800" dirty="0"/>
              <a:t>: Pode ter problemas de desempenho em grandes volumes de dados não estruturados ou com alta taxa de escrita</a:t>
            </a:r>
            <a:endParaRPr lang="pt-BR" sz="1800" b="1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42C035-E00A-4CB3-B279-34A95766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92D159-D6CC-4D21-A7E4-67FA682C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7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5B06353-3447-3C17-0023-66E1F37D9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635230"/>
              </p:ext>
            </p:extLst>
          </p:nvPr>
        </p:nvGraphicFramePr>
        <p:xfrm>
          <a:off x="7392144" y="1916832"/>
          <a:ext cx="4362794" cy="1984828"/>
        </p:xfrm>
        <a:graphic>
          <a:graphicData uri="http://schemas.openxmlformats.org/drawingml/2006/table">
            <a:tbl>
              <a:tblPr firstRow="1" bandRow="1">
                <a:solidFill>
                  <a:srgbClr val="F7F7F7"/>
                </a:solidFill>
              </a:tblPr>
              <a:tblGrid>
                <a:gridCol w="1753799">
                  <a:extLst>
                    <a:ext uri="{9D8B030D-6E8A-4147-A177-3AD203B41FA5}">
                      <a16:colId xmlns:a16="http://schemas.microsoft.com/office/drawing/2014/main" val="2643727843"/>
                    </a:ext>
                  </a:extLst>
                </a:gridCol>
                <a:gridCol w="951475">
                  <a:extLst>
                    <a:ext uri="{9D8B030D-6E8A-4147-A177-3AD203B41FA5}">
                      <a16:colId xmlns:a16="http://schemas.microsoft.com/office/drawing/2014/main" val="2305667125"/>
                    </a:ext>
                  </a:extLst>
                </a:gridCol>
                <a:gridCol w="1657520">
                  <a:extLst>
                    <a:ext uri="{9D8B030D-6E8A-4147-A177-3AD203B41FA5}">
                      <a16:colId xmlns:a16="http://schemas.microsoft.com/office/drawing/2014/main" val="800905223"/>
                    </a:ext>
                  </a:extLst>
                </a:gridCol>
              </a:tblGrid>
              <a:tr h="730732">
                <a:tc>
                  <a:txBody>
                    <a:bodyPr/>
                    <a:lstStyle/>
                    <a:p>
                      <a:pPr rtl="0" fontAlgn="b"/>
                      <a:r>
                        <a:rPr lang="pt-BR" sz="1300" b="1" cap="all" spc="60">
                          <a:solidFill>
                            <a:schemeClr val="tx1"/>
                          </a:solidFill>
                          <a:effectLst/>
                        </a:rPr>
                        <a:t>ID_Funcionario</a:t>
                      </a:r>
                    </a:p>
                  </a:txBody>
                  <a:tcPr marL="148122" marR="148122" marT="148122" marB="14812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300" b="1" cap="all" spc="60">
                          <a:solidFill>
                            <a:schemeClr val="tx1"/>
                          </a:solidFill>
                          <a:effectLst/>
                        </a:rPr>
                        <a:t>Nome</a:t>
                      </a:r>
                    </a:p>
                  </a:txBody>
                  <a:tcPr marL="148122" marR="148122" marT="148122" marB="14812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300" b="1" cap="all" spc="60">
                          <a:solidFill>
                            <a:schemeClr val="tx1"/>
                          </a:solidFill>
                          <a:effectLst/>
                        </a:rPr>
                        <a:t>Departamento</a:t>
                      </a:r>
                    </a:p>
                  </a:txBody>
                  <a:tcPr marL="148122" marR="148122" marT="148122" marB="148122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271611"/>
                  </a:ext>
                </a:extLst>
              </a:tr>
              <a:tr h="41803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Ana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Vendas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967666"/>
                  </a:ext>
                </a:extLst>
              </a:tr>
              <a:tr h="41803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João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Marketing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307438"/>
                  </a:ext>
                </a:extLst>
              </a:tr>
              <a:tr h="418032">
                <a:tc>
                  <a:txBody>
                    <a:bodyPr/>
                    <a:lstStyle/>
                    <a:p>
                      <a:pPr algn="r" rtl="0" fontAlgn="b"/>
                      <a:r>
                        <a:rPr lang="pt-BR" sz="17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 dirty="0">
                          <a:solidFill>
                            <a:schemeClr val="tx1"/>
                          </a:solidFill>
                          <a:effectLst/>
                        </a:rPr>
                        <a:t>Pedro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pt-BR" sz="1700" cap="none" spc="0" dirty="0">
                          <a:solidFill>
                            <a:schemeClr val="tx1"/>
                          </a:solidFill>
                          <a:effectLst/>
                        </a:rPr>
                        <a:t>Vendas</a:t>
                      </a:r>
                    </a:p>
                  </a:txBody>
                  <a:tcPr marL="24687" marR="24687" marT="16458" marB="98748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511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826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C7929-F3CA-F276-EE8E-5BBF42D49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7AA78-56C0-2175-8048-73D79995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0710"/>
            <a:ext cx="7313612" cy="964034"/>
          </a:xfrm>
        </p:spPr>
        <p:txBody>
          <a:bodyPr anchor="b">
            <a:normAutofit fontScale="90000"/>
          </a:bodyPr>
          <a:lstStyle/>
          <a:p>
            <a:r>
              <a:rPr lang="pt-BR" dirty="0"/>
              <a:t>Modelos de Banco de Dados Tradicionais</a:t>
            </a:r>
            <a:br>
              <a:rPr lang="pt-BR" dirty="0"/>
            </a:br>
            <a:r>
              <a:rPr lang="pt-BR" b="1" dirty="0"/>
              <a:t>Modelo </a:t>
            </a:r>
            <a:r>
              <a:rPr lang="pt-BR" dirty="0"/>
              <a:t>Orientado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CD3C69-E24C-504B-CF6F-F1AF04588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268760"/>
            <a:ext cx="6048300" cy="513204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pt-BR" sz="1800" b="1" dirty="0"/>
              <a:t>Conceito</a:t>
            </a:r>
            <a:r>
              <a:rPr lang="pt-BR" sz="1800" dirty="0"/>
              <a:t>: Os dados são armazenados como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</a:rPr>
              <a:t>objetos</a:t>
            </a:r>
            <a:r>
              <a:rPr lang="pt-BR" sz="1800" dirty="0"/>
              <a:t>, que são instâncias de classes.</a:t>
            </a:r>
          </a:p>
          <a:p>
            <a:r>
              <a:rPr lang="pt-BR" sz="1800" dirty="0"/>
              <a:t>Cada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</a:rPr>
              <a:t>objeto</a:t>
            </a:r>
            <a:r>
              <a:rPr lang="pt-BR" sz="1800" dirty="0"/>
              <a:t> tem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</a:rPr>
              <a:t>atributos (dados) </a:t>
            </a:r>
            <a:r>
              <a:rPr lang="pt-BR" sz="1800" dirty="0"/>
              <a:t>e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</a:rPr>
              <a:t>métodos (operações).</a:t>
            </a:r>
          </a:p>
          <a:p>
            <a:r>
              <a:rPr lang="pt-BR" sz="1800" dirty="0"/>
              <a:t>Os objetos se comunicam entre si através de referências, sem a necessidade de tabelas e chaves estrangeiras.</a:t>
            </a:r>
          </a:p>
          <a:p>
            <a:r>
              <a:rPr lang="pt-BR" altLang="pt-BR" sz="1800" b="1" dirty="0"/>
              <a:t>Exemplo</a:t>
            </a:r>
            <a:r>
              <a:rPr lang="pt-BR" altLang="pt-BR" sz="1800" dirty="0"/>
              <a:t>: Imagine que você tem uma classe 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Carro</a:t>
            </a:r>
            <a:r>
              <a:rPr lang="pt-BR" altLang="pt-BR" sz="1800" dirty="0"/>
              <a:t> com atributos como 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modelo</a:t>
            </a:r>
            <a:r>
              <a:rPr lang="pt-BR" altLang="pt-BR" sz="1800" dirty="0"/>
              <a:t>, 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cor</a:t>
            </a:r>
            <a:r>
              <a:rPr lang="pt-BR" altLang="pt-BR" sz="1800" dirty="0"/>
              <a:t> e 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ano</a:t>
            </a:r>
            <a:r>
              <a:rPr lang="pt-BR" altLang="pt-BR" sz="1800" dirty="0"/>
              <a:t>, e métodos como </a:t>
            </a:r>
            <a:r>
              <a:rPr lang="pt-BR" altLang="pt-BR" sz="1800" i="1" dirty="0" err="1">
                <a:solidFill>
                  <a:schemeClr val="accent5">
                    <a:lumMod val="75000"/>
                  </a:schemeClr>
                </a:solidFill>
              </a:rPr>
              <a:t>ligar_motor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(). </a:t>
            </a:r>
          </a:p>
          <a:p>
            <a:r>
              <a:rPr lang="pt-BR" altLang="pt-BR" sz="1800" dirty="0"/>
              <a:t>No banco de dados orientado a objetos, você armazenaria diretamente instâncias dessa classe </a:t>
            </a:r>
            <a:r>
              <a:rPr lang="pt-BR" altLang="pt-BR" sz="1800" i="1" dirty="0">
                <a:solidFill>
                  <a:schemeClr val="accent5">
                    <a:lumMod val="75000"/>
                  </a:schemeClr>
                </a:solidFill>
              </a:rPr>
              <a:t>Carro</a:t>
            </a:r>
            <a:r>
              <a:rPr lang="pt-BR" altLang="pt-BR" sz="1800" dirty="0"/>
              <a:t>, mantendo a integridade e o comportamento definidos pela classe.</a:t>
            </a:r>
          </a:p>
          <a:p>
            <a:r>
              <a:rPr lang="pt-BR" sz="1800" b="1" dirty="0"/>
              <a:t>Vantagem:</a:t>
            </a:r>
            <a:r>
              <a:rPr lang="pt-BR" sz="1800" dirty="0"/>
              <a:t> É uma transição natural para desenvolvedores que trabalham com POO. </a:t>
            </a:r>
          </a:p>
          <a:p>
            <a:r>
              <a:rPr lang="pt-BR" sz="1800" b="1" dirty="0"/>
              <a:t>Desvantagem:</a:t>
            </a:r>
            <a:r>
              <a:rPr lang="pt-BR" sz="1800" dirty="0"/>
              <a:t> Não se tornou um padrão de mercado e é menos popular que o modelo relacional.</a:t>
            </a:r>
            <a:endParaRPr lang="pt-BR" sz="1800" b="1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B21949-76AC-DD28-3EA1-9D15C9FF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834FB7-5638-20FC-6180-195FB259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836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2EED5-FCE0-413E-9C2F-B4ECD1F6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Banco de Dados Modernos (</a:t>
            </a:r>
            <a:r>
              <a:rPr lang="pt-BR" dirty="0" err="1"/>
              <a:t>NoSQL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61A901-1D90-4A9C-85EA-3119DCF6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Modelo Chave-Valor</a:t>
            </a:r>
          </a:p>
          <a:p>
            <a:r>
              <a:rPr lang="pt-BR" b="1" dirty="0"/>
              <a:t>Conceito</a:t>
            </a:r>
            <a:r>
              <a:rPr lang="pt-BR" dirty="0"/>
              <a:t>: O modelo mais simples. Os dados são armazenados como um par de </a:t>
            </a:r>
            <a:r>
              <a:rPr lang="pt-BR" b="1" dirty="0"/>
              <a:t>chave</a:t>
            </a:r>
            <a:r>
              <a:rPr lang="pt-BR" dirty="0"/>
              <a:t> e </a:t>
            </a:r>
            <a:r>
              <a:rPr lang="pt-BR" b="1" dirty="0"/>
              <a:t>valor</a:t>
            </a:r>
            <a:r>
              <a:rPr lang="pt-BR" dirty="0"/>
              <a:t>. A chave é única e o valor pode ser qualquer tipo de dado.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 "usuario_1": "{"nome": "Ana", "idade": 25}" }</a:t>
            </a:r>
          </a:p>
          <a:p>
            <a:r>
              <a:rPr lang="pt-BR" b="1" dirty="0"/>
              <a:t>Vantagens</a:t>
            </a:r>
            <a:r>
              <a:rPr lang="pt-BR" dirty="0"/>
              <a:t>: Extremamente rápido para leitura e escrita.</a:t>
            </a:r>
          </a:p>
          <a:p>
            <a:r>
              <a:rPr lang="pt-BR" b="1" dirty="0"/>
              <a:t>Desvantagens</a:t>
            </a:r>
            <a:r>
              <a:rPr lang="pt-BR" dirty="0"/>
              <a:t>: Não permite consultas complexas baseadas em valores.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2E72BE-319A-4EB5-AB9C-9A619FB6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DAA8E2-5273-43A7-B550-65541C215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290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CE36-9D0C-86EC-E6BC-85C1C8A4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735BDE-FDD6-4818-FF29-BB5B3DEC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Banco de Dados Modernos (</a:t>
            </a:r>
            <a:r>
              <a:rPr lang="pt-BR" dirty="0" err="1"/>
              <a:t>NoSQL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FC60D4-6CBC-5BF7-3484-CDAA59A6E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Modelo Orientado a Documentos</a:t>
            </a:r>
          </a:p>
          <a:p>
            <a:r>
              <a:rPr lang="pt-BR" b="1" dirty="0"/>
              <a:t>Conceito</a:t>
            </a:r>
            <a:r>
              <a:rPr lang="pt-BR" dirty="0"/>
              <a:t>: Os dados são armazenados em documentos, geralmente no formato </a:t>
            </a:r>
            <a:r>
              <a:rPr lang="pt-BR" b="1" dirty="0"/>
              <a:t>JSON</a:t>
            </a:r>
            <a:r>
              <a:rPr lang="pt-BR" dirty="0"/>
              <a:t> ou </a:t>
            </a:r>
            <a:r>
              <a:rPr lang="pt-BR" b="1" dirty="0"/>
              <a:t>XML</a:t>
            </a:r>
            <a:r>
              <a:rPr lang="pt-BR" dirty="0"/>
              <a:t>.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pt-BR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70EE99-D6EB-FA94-785E-275B29FAD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98695-3256-DD38-A4A9-B47703ED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10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52776E6-9A5C-B3CC-1097-640627209DA5}"/>
              </a:ext>
            </a:extLst>
          </p:cNvPr>
          <p:cNvSpPr txBox="1"/>
          <p:nvPr/>
        </p:nvSpPr>
        <p:spPr>
          <a:xfrm>
            <a:off x="3143672" y="3861048"/>
            <a:ext cx="3576380" cy="19543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"nome": "Ana",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"email": "ana@email.com",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enderecos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": [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    "tipo": "</a:t>
            </a:r>
            <a:r>
              <a:rPr lang="pt-BR" sz="1100" dirty="0" err="1">
                <a:latin typeface="Arial" panose="020B0604020202020204" pitchFamily="34" charset="0"/>
                <a:cs typeface="Arial" panose="020B0604020202020204" pitchFamily="34" charset="0"/>
              </a:rPr>
              <a:t>residencia</a:t>
            </a:r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    "rua": "Rua Principal",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    "cidade": "São Paulo"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  ]</a:t>
            </a:r>
          </a:p>
          <a:p>
            <a:r>
              <a:rPr lang="pt-BR" sz="11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697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8A993-B0C6-AF12-FB41-38394630F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DFBD9-3B6E-35A9-457D-3FDF1973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Banco de Dados Modernos (</a:t>
            </a:r>
            <a:r>
              <a:rPr lang="pt-BR" dirty="0" err="1"/>
              <a:t>NoSQL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974AE8-C35C-B359-CE31-6A81F6A70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9279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Modelo Orientado a Documentos</a:t>
            </a:r>
          </a:p>
          <a:p>
            <a:r>
              <a:rPr lang="pt-BR" b="1" dirty="0" err="1"/>
              <a:t>Ex</a:t>
            </a:r>
            <a:r>
              <a:rPr lang="pt-BR" b="1" dirty="0"/>
              <a:t>: </a:t>
            </a:r>
            <a:r>
              <a:rPr lang="pt-BR" b="1" dirty="0" err="1"/>
              <a:t>MongoDB</a:t>
            </a: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A463B86-27D6-DD0D-1CE1-3D7B88FD6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96A999-CDB8-F6F5-91F5-A52B60FD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BF6107-4084-597B-B298-3B4F4BCF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10" y="2564904"/>
            <a:ext cx="4099915" cy="15012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21AD232-78BF-390A-7371-099591074F8E}"/>
              </a:ext>
            </a:extLst>
          </p:cNvPr>
          <p:cNvSpPr txBox="1"/>
          <p:nvPr/>
        </p:nvSpPr>
        <p:spPr>
          <a:xfrm>
            <a:off x="4988572" y="2782669"/>
            <a:ext cx="2443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Inserindo dados em uma coleção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201AEE8-9CC6-D7D4-5DFA-F81EC1CE3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10" y="4319644"/>
            <a:ext cx="4000847" cy="8916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3F943D2-4A4B-3872-016D-7D884B7052C3}"/>
              </a:ext>
            </a:extLst>
          </p:cNvPr>
          <p:cNvSpPr txBox="1"/>
          <p:nvPr/>
        </p:nvSpPr>
        <p:spPr>
          <a:xfrm>
            <a:off x="4988572" y="4431009"/>
            <a:ext cx="2238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Lendo dados em uma coleção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BBBD0B-1C81-3C80-9BB9-6AC6734C20B8}"/>
              </a:ext>
            </a:extLst>
          </p:cNvPr>
          <p:cNvSpPr txBox="1"/>
          <p:nvPr/>
        </p:nvSpPr>
        <p:spPr>
          <a:xfrm>
            <a:off x="4295800" y="5802350"/>
            <a:ext cx="26132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Atualizando dados em uma coleção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EF97682-4FE0-FFFE-3540-1111BE396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110" y="5464731"/>
            <a:ext cx="3261643" cy="11583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A21576E-A6AD-0B77-E29C-9004ACCCBF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168" y="2564904"/>
            <a:ext cx="3261643" cy="7392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2EDD7C91-F287-0634-E5B5-F6E05C32ADE8}"/>
              </a:ext>
            </a:extLst>
          </p:cNvPr>
          <p:cNvSpPr txBox="1"/>
          <p:nvPr/>
        </p:nvSpPr>
        <p:spPr>
          <a:xfrm>
            <a:off x="7608168" y="3460896"/>
            <a:ext cx="2510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Apagando dados em uma coleção</a:t>
            </a:r>
          </a:p>
        </p:txBody>
      </p:sp>
    </p:spTree>
    <p:extLst>
      <p:ext uri="{BB962C8B-B14F-4D97-AF65-F5344CB8AC3E}">
        <p14:creationId xmlns:p14="http://schemas.microsoft.com/office/powerpoint/2010/main" val="45694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C1EAE-C6C3-11ED-FED2-29895E89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18ED4-E4D6-0AB6-2A95-4EDCA62F5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dirty="0"/>
              <a:t>Modelos de Banco de Dados Modernos (</a:t>
            </a:r>
            <a:r>
              <a:rPr lang="pt-BR" dirty="0" err="1"/>
              <a:t>NoSQL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A8E59-9824-9AC0-527B-DF9A981CA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pt-BR" b="1" dirty="0"/>
              <a:t>Modelo Colunas</a:t>
            </a:r>
          </a:p>
          <a:p>
            <a:r>
              <a:rPr lang="pt-BR" b="1" dirty="0"/>
              <a:t>Conceito</a:t>
            </a:r>
            <a:r>
              <a:rPr lang="pt-BR" dirty="0"/>
              <a:t>: Os dados são organizados em famílias de colunas, otimizando a leitura de grandes volumes de dados.</a:t>
            </a:r>
          </a:p>
          <a:p>
            <a:r>
              <a:rPr lang="pt-BR" b="1" dirty="0"/>
              <a:t>Exemplo</a:t>
            </a:r>
            <a:r>
              <a:rPr lang="pt-BR" dirty="0"/>
              <a:t>: </a:t>
            </a:r>
            <a:r>
              <a:rPr lang="pt-BR"/>
              <a:t>	</a:t>
            </a:r>
            <a:r>
              <a:rPr lang="pt-BR" dirty="0"/>
              <a:t>Pensem em uma tabela onde os dados são armazenados por </a:t>
            </a:r>
            <a:r>
              <a:rPr lang="pt-BR"/>
              <a:t>colunas</a:t>
            </a:r>
            <a:r>
              <a:rPr lang="pt-BR" dirty="0"/>
              <a:t>, e não por linhas.</a:t>
            </a:r>
            <a:endParaRPr lang="pt-BR"/>
          </a:p>
          <a:p>
            <a:endParaRPr lang="pt-BR" b="1"/>
          </a:p>
          <a:p>
            <a:endParaRPr lang="pt-BR" b="1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78726FC-F719-17A0-B0B3-A0889C55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3B2098-1BB7-CD06-CCD0-820F9D75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12</a:t>
            </a:fld>
            <a:endParaRPr lang="pt-BR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3BB86EE-9270-4C09-ADDF-9164EF064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391680"/>
              </p:ext>
            </p:extLst>
          </p:nvPr>
        </p:nvGraphicFramePr>
        <p:xfrm>
          <a:off x="6456040" y="1988840"/>
          <a:ext cx="5181602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773">
                  <a:extLst>
                    <a:ext uri="{9D8B030D-6E8A-4147-A177-3AD203B41FA5}">
                      <a16:colId xmlns:a16="http://schemas.microsoft.com/office/drawing/2014/main" val="1112172208"/>
                    </a:ext>
                  </a:extLst>
                </a:gridCol>
                <a:gridCol w="972295">
                  <a:extLst>
                    <a:ext uri="{9D8B030D-6E8A-4147-A177-3AD203B41FA5}">
                      <a16:colId xmlns:a16="http://schemas.microsoft.com/office/drawing/2014/main" val="68568285"/>
                    </a:ext>
                  </a:extLst>
                </a:gridCol>
                <a:gridCol w="962033">
                  <a:extLst>
                    <a:ext uri="{9D8B030D-6E8A-4147-A177-3AD203B41FA5}">
                      <a16:colId xmlns:a16="http://schemas.microsoft.com/office/drawing/2014/main" val="3197217318"/>
                    </a:ext>
                  </a:extLst>
                </a:gridCol>
                <a:gridCol w="1331415">
                  <a:extLst>
                    <a:ext uri="{9D8B030D-6E8A-4147-A177-3AD203B41FA5}">
                      <a16:colId xmlns:a16="http://schemas.microsoft.com/office/drawing/2014/main" val="2254666110"/>
                    </a:ext>
                  </a:extLst>
                </a:gridCol>
                <a:gridCol w="964086">
                  <a:extLst>
                    <a:ext uri="{9D8B030D-6E8A-4147-A177-3AD203B41FA5}">
                      <a16:colId xmlns:a16="http://schemas.microsoft.com/office/drawing/2014/main" val="625172159"/>
                    </a:ext>
                  </a:extLst>
                </a:gridCol>
              </a:tblGrid>
              <a:tr h="2541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ID_Sessão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ID_Usuário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IP_Usuário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Pagina_Visitada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Timestamp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89920"/>
                  </a:ext>
                </a:extLst>
              </a:tr>
              <a:tr h="2541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192.1.1.1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/home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70456610"/>
                  </a:ext>
                </a:extLst>
              </a:tr>
              <a:tr h="2541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user_b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/produtos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14:05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4279291866"/>
                  </a:ext>
                </a:extLst>
              </a:tr>
              <a:tr h="2541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/produtos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14:10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675518073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B4412A8C-3CF9-1920-E7FB-BA137EF02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08606"/>
              </p:ext>
            </p:extLst>
          </p:nvPr>
        </p:nvGraphicFramePr>
        <p:xfrm>
          <a:off x="6528048" y="3856950"/>
          <a:ext cx="5109595" cy="1386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87190237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7109012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56543360"/>
                    </a:ext>
                  </a:extLst>
                </a:gridCol>
                <a:gridCol w="1365179">
                  <a:extLst>
                    <a:ext uri="{9D8B030D-6E8A-4147-A177-3AD203B41FA5}">
                      <a16:colId xmlns:a16="http://schemas.microsoft.com/office/drawing/2014/main" val="239874267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ID_Sessão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sessao_1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sessao_2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sessao_3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0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ID_Usuário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user_a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user_b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user_a</a:t>
                      </a:r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6563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IP_Usuário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192.1.1.1</a:t>
                      </a:r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192.1.1.2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192.1.1.1</a:t>
                      </a:r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90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Pagina_Visitada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/home</a:t>
                      </a:r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/produtos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/produtos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4529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Timestamp</a:t>
                      </a:r>
                      <a:endParaRPr lang="pt-BR" sz="11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14:00</a:t>
                      </a:r>
                      <a:endParaRPr lang="pt-BR" sz="11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14:05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14:10</a:t>
                      </a:r>
                      <a:endParaRPr lang="pt-BR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83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9035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3E1E1-4021-53F5-0424-FEDFF9B5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91B3138-F23D-AB5B-2018-CC231749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pt-BR" sz="4000" dirty="0"/>
              <a:t>Modelos de Banco de Dados Modernos (</a:t>
            </a:r>
            <a:r>
              <a:rPr lang="pt-BR" sz="4000" dirty="0" err="1"/>
              <a:t>NoSQL</a:t>
            </a:r>
            <a:r>
              <a:rPr lang="pt-BR" sz="4000" dirty="0"/>
              <a:t>)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86EC38BE-29D0-E227-9EBB-5CA1E4B1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34" y="3455338"/>
            <a:ext cx="4648737" cy="334709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512622-8995-1844-561F-2EA7A429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7968" y="1640349"/>
            <a:ext cx="5647911" cy="2436724"/>
          </a:xfrm>
        </p:spPr>
        <p:txBody>
          <a:bodyPr anchor="t" anchorCtr="0">
            <a:normAutofit/>
          </a:bodyPr>
          <a:lstStyle/>
          <a:p>
            <a:r>
              <a:rPr lang="pt-BR" sz="2000" b="1" dirty="0"/>
              <a:t>Modelo Grafo</a:t>
            </a:r>
          </a:p>
          <a:p>
            <a:r>
              <a:rPr lang="pt-BR" sz="2000" b="1" dirty="0"/>
              <a:t>Conceito</a:t>
            </a:r>
            <a:r>
              <a:rPr lang="pt-BR" sz="2000" dirty="0"/>
              <a:t>: Os dados são armazenados como </a:t>
            </a:r>
            <a:r>
              <a:rPr lang="pt-BR" sz="2000" b="1" dirty="0"/>
              <a:t>nós</a:t>
            </a:r>
            <a:r>
              <a:rPr lang="pt-BR" sz="2000" dirty="0"/>
              <a:t> (entidades) e </a:t>
            </a:r>
            <a:r>
              <a:rPr lang="pt-BR" sz="2000" b="1" dirty="0"/>
              <a:t>arestas</a:t>
            </a:r>
            <a:r>
              <a:rPr lang="pt-BR" sz="2000" dirty="0"/>
              <a:t> (relacionamentos).</a:t>
            </a:r>
          </a:p>
          <a:p>
            <a:pPr lvl="0"/>
            <a:r>
              <a:rPr lang="pt-BR" altLang="pt-BR" sz="2000" b="1" dirty="0"/>
              <a:t>Exemplo</a:t>
            </a:r>
            <a:r>
              <a:rPr lang="pt-BR" altLang="pt-BR" sz="2000" dirty="0"/>
              <a:t>:</a:t>
            </a:r>
          </a:p>
          <a:p>
            <a:pPr lvl="1"/>
            <a:r>
              <a:rPr lang="pt-BR" altLang="pt-BR" sz="2000" b="1" dirty="0"/>
              <a:t>Nós</a:t>
            </a:r>
            <a:r>
              <a:rPr lang="pt-BR" altLang="pt-BR" sz="2000" dirty="0"/>
              <a:t>: Pessoas, Lugares.</a:t>
            </a:r>
          </a:p>
          <a:p>
            <a:pPr lvl="1"/>
            <a:r>
              <a:rPr lang="pt-BR" altLang="pt-BR" sz="2000" b="1" dirty="0"/>
              <a:t>Arestas</a:t>
            </a:r>
            <a:r>
              <a:rPr lang="pt-BR" altLang="pt-BR" sz="2000" dirty="0"/>
              <a:t>: "Trabalha com", "Mora em".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545BEB-E6A1-6F06-742F-A8794AD2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>
                <a:solidFill>
                  <a:schemeClr val="tx1"/>
                </a:solidFill>
              </a:rPr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647816-D6C6-A872-1F6C-28845144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2520" y="6356350"/>
            <a:ext cx="319938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13</a:t>
            </a:fld>
            <a:endParaRPr lang="pt-BR">
              <a:solidFill>
                <a:schemeClr val="tx1"/>
              </a:solidFill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CFCC6AE1-D9E3-1655-5AF3-D2F02194A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34" y="1580686"/>
            <a:ext cx="4114801" cy="187465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D54E289-285D-C21E-85EA-AAD3D19296DC}"/>
              </a:ext>
            </a:extLst>
          </p:cNvPr>
          <p:cNvSpPr txBox="1"/>
          <p:nvPr/>
        </p:nvSpPr>
        <p:spPr>
          <a:xfrm>
            <a:off x="2521877" y="1449125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Esquema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9750A7A-7B00-EBD0-4FB9-5D96F25D7442}"/>
              </a:ext>
            </a:extLst>
          </p:cNvPr>
          <p:cNvSpPr txBox="1"/>
          <p:nvPr/>
        </p:nvSpPr>
        <p:spPr>
          <a:xfrm>
            <a:off x="2544319" y="3902645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Instância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EA20AF9E-7258-4F4E-CC15-FCF040713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7" y="4853674"/>
            <a:ext cx="3389781" cy="5504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02339F82-D5F5-4182-086F-6E0378E25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7" y="5617146"/>
            <a:ext cx="5400601" cy="6451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70D3E6E1-FBD6-6ACC-4EA7-E53DE1CEE49B}"/>
              </a:ext>
            </a:extLst>
          </p:cNvPr>
          <p:cNvSpPr txBox="1"/>
          <p:nvPr/>
        </p:nvSpPr>
        <p:spPr>
          <a:xfrm>
            <a:off x="5712005" y="4498868"/>
            <a:ext cx="1101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</a:t>
            </a:r>
            <a:r>
              <a:rPr lang="pt-BR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NEO4J</a:t>
            </a:r>
          </a:p>
        </p:txBody>
      </p:sp>
    </p:spTree>
    <p:extLst>
      <p:ext uri="{BB962C8B-B14F-4D97-AF65-F5344CB8AC3E}">
        <p14:creationId xmlns:p14="http://schemas.microsoft.com/office/powerpoint/2010/main" val="3840862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C275A-D1D1-478E-A9AD-1A95C390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/>
              <a:t>O que é um Modelo de Banco de Dados?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4CFD20-2125-47C5-9BE1-49342DB8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anchor="t">
            <a:normAutofit fontScale="92500" lnSpcReduction="20000"/>
          </a:bodyPr>
          <a:lstStyle/>
          <a:p>
            <a:r>
              <a:rPr lang="pt-BR" sz="2800" dirty="0"/>
              <a:t>Um </a:t>
            </a:r>
            <a:r>
              <a:rPr lang="pt-BR" sz="2800" dirty="0">
                <a:solidFill>
                  <a:srgbClr val="C00000"/>
                </a:solidFill>
              </a:rPr>
              <a:t>modelo de banco de dados </a:t>
            </a:r>
            <a:r>
              <a:rPr lang="pt-BR" sz="2800" dirty="0"/>
              <a:t>é um tipo de modelo de dados que define a </a:t>
            </a:r>
            <a:r>
              <a:rPr lang="pt-BR" sz="2800" dirty="0">
                <a:solidFill>
                  <a:srgbClr val="C00000"/>
                </a:solidFill>
              </a:rPr>
              <a:t>estrutura lógica </a:t>
            </a:r>
            <a:r>
              <a:rPr lang="pt-BR" sz="2800" dirty="0"/>
              <a:t>de um </a:t>
            </a:r>
            <a:r>
              <a:rPr lang="pt-BR" sz="2800" dirty="0">
                <a:solidFill>
                  <a:srgbClr val="C00000"/>
                </a:solidFill>
              </a:rPr>
              <a:t>banco de dados</a:t>
            </a:r>
            <a:r>
              <a:rPr lang="pt-BR" sz="2800" dirty="0"/>
              <a:t>. </a:t>
            </a:r>
          </a:p>
          <a:p>
            <a:r>
              <a:rPr lang="pt-BR" sz="2800" dirty="0"/>
              <a:t>Ele determina como os </a:t>
            </a:r>
            <a:r>
              <a:rPr lang="pt-BR" sz="2800" dirty="0">
                <a:solidFill>
                  <a:srgbClr val="C00000"/>
                </a:solidFill>
              </a:rPr>
              <a:t>dados podem ser armazenados</a:t>
            </a:r>
            <a:r>
              <a:rPr lang="pt-BR" sz="2800" dirty="0"/>
              <a:t>, </a:t>
            </a:r>
            <a:r>
              <a:rPr lang="pt-BR" sz="2800" dirty="0">
                <a:solidFill>
                  <a:srgbClr val="C00000"/>
                </a:solidFill>
              </a:rPr>
              <a:t>organizados</a:t>
            </a:r>
            <a:r>
              <a:rPr lang="pt-BR" sz="2800" dirty="0"/>
              <a:t> e </a:t>
            </a:r>
            <a:r>
              <a:rPr lang="pt-BR" sz="2800" dirty="0">
                <a:solidFill>
                  <a:srgbClr val="C00000"/>
                </a:solidFill>
              </a:rPr>
              <a:t>manipulados</a:t>
            </a:r>
            <a:r>
              <a:rPr lang="pt-BR" sz="2800" dirty="0"/>
              <a:t>. </a:t>
            </a:r>
          </a:p>
          <a:p>
            <a:r>
              <a:rPr lang="pt-BR" sz="2800" dirty="0"/>
              <a:t>O </a:t>
            </a:r>
            <a:r>
              <a:rPr lang="pt-BR" sz="2800" dirty="0">
                <a:solidFill>
                  <a:srgbClr val="C00000"/>
                </a:solidFill>
              </a:rPr>
              <a:t>Modelo Relacional</a:t>
            </a:r>
            <a:r>
              <a:rPr lang="pt-BR" sz="2800" dirty="0"/>
              <a:t>, que usa um formato baseado em tabela, é o modelo de Banco de Dados </a:t>
            </a:r>
            <a:r>
              <a:rPr lang="pt-BR" sz="2800" dirty="0">
                <a:solidFill>
                  <a:srgbClr val="C00000"/>
                </a:solidFill>
              </a:rPr>
              <a:t>mais comum</a:t>
            </a:r>
            <a:r>
              <a:rPr lang="pt-BR" sz="2800" dirty="0"/>
              <a:t>. Ele demonstra como os dados são organizados e os vários tipos de relacionamentos existentes entre eles. </a:t>
            </a:r>
          </a:p>
          <a:p>
            <a:r>
              <a:rPr lang="pt-BR" sz="2800" dirty="0"/>
              <a:t>O </a:t>
            </a:r>
            <a:r>
              <a:rPr lang="pt-BR" sz="2800" dirty="0">
                <a:solidFill>
                  <a:srgbClr val="C00000"/>
                </a:solidFill>
              </a:rPr>
              <a:t>modelo de rede, o modelo entidade-relacionamento, o modelo hierárquico, o modelo orientado a objetos e o modelo de objeto </a:t>
            </a:r>
            <a:r>
              <a:rPr lang="pt-BR" sz="2800" dirty="0"/>
              <a:t>são alguns dos diferentes tipos de modelos de banco de dados. </a:t>
            </a:r>
          </a:p>
          <a:p>
            <a:r>
              <a:rPr lang="pt-BR" sz="2800" dirty="0"/>
              <a:t>Esses diferentes tipos de modelos de banco de dados têm aparências e operações distintas e podem ser usados de diferentes maneiras, dependendo das necessidades do usuário.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BBCB62-4623-4FCA-95A3-F9E79A9C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AAD978-B829-4A75-8A4A-DF5771B7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fld id="{DB30B5DD-9567-43DE-A578-1A8085956379}" type="slidenum">
              <a:rPr lang="pt-BR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1699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F1D08259-19C6-4FD5-8098-90692943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O Modelo Relacional</a:t>
            </a:r>
          </a:p>
        </p:txBody>
      </p:sp>
      <p:pic>
        <p:nvPicPr>
          <p:cNvPr id="33" name="Picture 32" descr="Pessoa escrevendo em um bloco de notas">
            <a:extLst>
              <a:ext uri="{FF2B5EF4-FFF2-40B4-BE49-F238E27FC236}">
                <a16:creationId xmlns:a16="http://schemas.microsoft.com/office/drawing/2014/main" id="{0EEB6D61-2F63-928E-E221-4DFE66949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59" b="25227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F7E98-448C-4D0D-9F30-1486792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BBE52E-CEE2-4BAF-BD11-CD0476E2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95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425D774-482A-41BD-AE9F-5DC2F0D6C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691" y="2423771"/>
            <a:ext cx="3768309" cy="2569642"/>
          </a:xfrm>
          <a:prstGeom prst="rect">
            <a:avLst/>
          </a:prstGeom>
        </p:spPr>
      </p:pic>
      <p:sp>
        <p:nvSpPr>
          <p:cNvPr id="164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Modelo Relacional</a:t>
            </a:r>
          </a:p>
        </p:txBody>
      </p:sp>
      <p:sp>
        <p:nvSpPr>
          <p:cNvPr id="164868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556792"/>
            <a:ext cx="10363200" cy="4050792"/>
          </a:xfrm>
        </p:spPr>
        <p:txBody>
          <a:bodyPr>
            <a:noAutofit/>
          </a:bodyPr>
          <a:lstStyle/>
          <a:p>
            <a:r>
              <a:rPr lang="pt-BR" sz="2400" dirty="0"/>
              <a:t>Modelo de dados, que se baseia no princípio em que todos os </a:t>
            </a:r>
            <a:r>
              <a:rPr lang="pt-BR" sz="2400" dirty="0">
                <a:solidFill>
                  <a:srgbClr val="C00000"/>
                </a:solidFill>
              </a:rPr>
              <a:t>dados</a:t>
            </a:r>
            <a:r>
              <a:rPr lang="pt-BR" sz="2400" dirty="0"/>
              <a:t> estão guardados em </a:t>
            </a:r>
            <a:r>
              <a:rPr lang="pt-BR" sz="2400" dirty="0">
                <a:solidFill>
                  <a:srgbClr val="C00000"/>
                </a:solidFill>
              </a:rPr>
              <a:t>relações</a:t>
            </a:r>
            <a:r>
              <a:rPr lang="pt-BR" sz="2400" dirty="0"/>
              <a:t> (ou </a:t>
            </a:r>
            <a:r>
              <a:rPr lang="pt-BR" sz="2400" dirty="0">
                <a:solidFill>
                  <a:srgbClr val="C00000"/>
                </a:solidFill>
              </a:rPr>
              <a:t>tabelas)</a:t>
            </a:r>
          </a:p>
          <a:p>
            <a:r>
              <a:rPr lang="pt-BR" sz="2400" dirty="0"/>
              <a:t>Baseado em </a:t>
            </a:r>
            <a:r>
              <a:rPr lang="pt-BR" sz="2400" dirty="0">
                <a:solidFill>
                  <a:srgbClr val="C00000"/>
                </a:solidFill>
              </a:rPr>
              <a:t>lógica de predicados e na teoria de conjuntos</a:t>
            </a:r>
            <a:r>
              <a:rPr lang="pt-BR" sz="2400" dirty="0"/>
              <a:t>. </a:t>
            </a:r>
          </a:p>
          <a:p>
            <a:r>
              <a:rPr lang="pt-BR" sz="2400" dirty="0"/>
              <a:t>Sucessor do modelo hierárquico e do modelo em rede. </a:t>
            </a:r>
          </a:p>
          <a:p>
            <a:r>
              <a:rPr lang="pt-BR" sz="2400" dirty="0"/>
              <a:t>Por quê o Modelo Relacional?</a:t>
            </a:r>
          </a:p>
          <a:p>
            <a:pPr lvl="1"/>
            <a:r>
              <a:rPr lang="pt-BR" sz="2400" dirty="0"/>
              <a:t>Simplicidade dos conceitos</a:t>
            </a:r>
          </a:p>
          <a:p>
            <a:pPr lvl="1"/>
            <a:r>
              <a:rPr lang="pt-BR" sz="2400" dirty="0"/>
              <a:t>Definição formal dos conceitos</a:t>
            </a:r>
          </a:p>
          <a:p>
            <a:pPr lvl="1"/>
            <a:r>
              <a:rPr lang="pt-BR" sz="2400" dirty="0"/>
              <a:t>Paradigma formal para linguagens de consulta</a:t>
            </a:r>
          </a:p>
          <a:p>
            <a:pPr lvl="1"/>
            <a:r>
              <a:rPr lang="pt-BR" sz="2400" dirty="0" err="1"/>
              <a:t>SGBDs</a:t>
            </a:r>
            <a:r>
              <a:rPr lang="pt-BR" sz="2400" dirty="0"/>
              <a:t> com desempenho adequado, principalmente quanto à otimização de consultas</a:t>
            </a:r>
          </a:p>
          <a:p>
            <a:pPr lvl="1"/>
            <a:r>
              <a:rPr lang="pt-BR" sz="2400" dirty="0"/>
              <a:t>Mais de 25 anos de desenvolvimento</a:t>
            </a:r>
          </a:p>
        </p:txBody>
      </p:sp>
      <p:sp>
        <p:nvSpPr>
          <p:cNvPr id="16486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16</a:t>
            </a:fld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3901AB-F4F1-4FB0-9B3F-5A9B71CFAD96}"/>
              </a:ext>
            </a:extLst>
          </p:cNvPr>
          <p:cNvSpPr/>
          <p:nvPr/>
        </p:nvSpPr>
        <p:spPr>
          <a:xfrm>
            <a:off x="1811953" y="5933971"/>
            <a:ext cx="944123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 modelo é dito orientado aos conjuntos (set-</a:t>
            </a:r>
            <a:r>
              <a:rPr lang="pt-BR" sz="32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oriented</a:t>
            </a:r>
            <a:r>
              <a:rPr lang="pt-BR" sz="3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751913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Modelo Relacional</a:t>
            </a:r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45970" y="1718318"/>
            <a:ext cx="10798224" cy="1038838"/>
          </a:xfrm>
        </p:spPr>
        <p:txBody>
          <a:bodyPr>
            <a:noAutofit/>
          </a:bodyPr>
          <a:lstStyle/>
          <a:p>
            <a:pPr eaLnBrk="1" hangingPunct="1"/>
            <a:r>
              <a:rPr lang="pt-BR" dirty="0"/>
              <a:t>Um modelo relacional representa o </a:t>
            </a:r>
            <a:r>
              <a:rPr lang="pt-BR" dirty="0">
                <a:solidFill>
                  <a:srgbClr val="000099"/>
                </a:solidFill>
              </a:rPr>
              <a:t>banco de dados</a:t>
            </a:r>
            <a:r>
              <a:rPr lang="pt-BR" dirty="0"/>
              <a:t> como um conjunto de </a:t>
            </a:r>
            <a:r>
              <a:rPr lang="pt-BR" dirty="0">
                <a:solidFill>
                  <a:srgbClr val="000099"/>
                </a:solidFill>
              </a:rPr>
              <a:t>relações </a:t>
            </a:r>
            <a:r>
              <a:rPr lang="pt-BR" dirty="0"/>
              <a:t>.</a:t>
            </a:r>
          </a:p>
          <a:p>
            <a:pPr eaLnBrk="1" hangingPunct="1"/>
            <a:r>
              <a:rPr lang="pt-BR" dirty="0"/>
              <a:t>Uma </a:t>
            </a:r>
            <a:r>
              <a:rPr lang="pt-BR" b="1" dirty="0">
                <a:solidFill>
                  <a:srgbClr val="000099"/>
                </a:solidFill>
              </a:rPr>
              <a:t>relação</a:t>
            </a:r>
            <a:r>
              <a:rPr lang="pt-BR" dirty="0"/>
              <a:t> pode ser pensada como uma </a:t>
            </a:r>
            <a:r>
              <a:rPr lang="pt-BR" b="1" dirty="0">
                <a:solidFill>
                  <a:srgbClr val="000099"/>
                </a:solidFill>
              </a:rPr>
              <a:t>tabela </a:t>
            </a:r>
            <a:r>
              <a:rPr lang="pt-BR" dirty="0">
                <a:solidFill>
                  <a:srgbClr val="000099"/>
                </a:solidFill>
              </a:rPr>
              <a:t>de valores;</a:t>
            </a:r>
            <a:endParaRPr lang="pt-BR" dirty="0"/>
          </a:p>
        </p:txBody>
      </p:sp>
      <p:sp>
        <p:nvSpPr>
          <p:cNvPr id="166914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2210816" y="6344794"/>
            <a:ext cx="4745736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17</a:t>
            </a:fld>
            <a:endParaRPr lang="pt-BR"/>
          </a:p>
        </p:txBody>
      </p:sp>
      <p:graphicFrame>
        <p:nvGraphicFramePr>
          <p:cNvPr id="3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688568"/>
              </p:ext>
            </p:extLst>
          </p:nvPr>
        </p:nvGraphicFramePr>
        <p:xfrm>
          <a:off x="1712912" y="3989784"/>
          <a:ext cx="2514600" cy="189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Mary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3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0062"/>
                  </a:ext>
                </a:extLst>
              </a:tr>
            </a:tbl>
          </a:graphicData>
        </a:graphic>
      </p:graphicFrame>
      <p:sp>
        <p:nvSpPr>
          <p:cNvPr id="31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graphicFrame>
        <p:nvGraphicFramePr>
          <p:cNvPr id="3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784278"/>
              </p:ext>
            </p:extLst>
          </p:nvPr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graphicFrame>
        <p:nvGraphicFramePr>
          <p:cNvPr id="34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735190"/>
              </p:ext>
            </p:extLst>
          </p:nvPr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39" name="TextBox 15"/>
          <p:cNvSpPr txBox="1"/>
          <p:nvPr/>
        </p:nvSpPr>
        <p:spPr>
          <a:xfrm>
            <a:off x="5087888" y="3933056"/>
            <a:ext cx="20404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Relações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436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50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50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Esquemas</a:t>
            </a:r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45970" y="1718318"/>
            <a:ext cx="10798224" cy="1134618"/>
          </a:xfrm>
        </p:spPr>
        <p:txBody>
          <a:bodyPr>
            <a:noAutofit/>
          </a:bodyPr>
          <a:lstStyle/>
          <a:p>
            <a:r>
              <a:rPr lang="pt-BR" dirty="0"/>
              <a:t>Um </a:t>
            </a:r>
            <a:r>
              <a:rPr lang="pt-BR" dirty="0">
                <a:solidFill>
                  <a:srgbClr val="C00000"/>
                </a:solidFill>
              </a:rPr>
              <a:t>esquema relacional </a:t>
            </a:r>
            <a:r>
              <a:rPr lang="pt-BR" dirty="0"/>
              <a:t>refere-se ao conjunto de esquemas de todas as tabelas de um banco de dados relacional. </a:t>
            </a:r>
          </a:p>
        </p:txBody>
      </p:sp>
      <p:sp>
        <p:nvSpPr>
          <p:cNvPr id="166914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2210816" y="6344794"/>
            <a:ext cx="4745736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18</a:t>
            </a:fld>
            <a:endParaRPr lang="pt-BR"/>
          </a:p>
        </p:txBody>
      </p:sp>
      <p:sp>
        <p:nvSpPr>
          <p:cNvPr id="28" name="Espaço Reservado para Rodapé 4">
            <a:extLst>
              <a:ext uri="{FF2B5EF4-FFF2-40B4-BE49-F238E27FC236}">
                <a16:creationId xmlns:a16="http://schemas.microsoft.com/office/drawing/2014/main" id="{DA85C384-FF41-4849-9E94-4D6BCED2604E}"/>
              </a:ext>
            </a:extLst>
          </p:cNvPr>
          <p:cNvSpPr txBox="1">
            <a:spLocks/>
          </p:cNvSpPr>
          <p:nvPr/>
        </p:nvSpPr>
        <p:spPr bwMode="auto">
          <a:xfrm>
            <a:off x="1644402" y="5625764"/>
            <a:ext cx="4745736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5738D78C-D645-47F2-B9EE-4CD49C635BE8}"/>
              </a:ext>
            </a:extLst>
          </p:cNvPr>
          <p:cNvSpPr/>
          <p:nvPr/>
        </p:nvSpPr>
        <p:spPr>
          <a:xfrm>
            <a:off x="994098" y="2906090"/>
            <a:ext cx="9107488" cy="3106378"/>
          </a:xfrm>
          <a:prstGeom prst="rect">
            <a:avLst/>
          </a:prstGeom>
          <a:solidFill>
            <a:srgbClr val="002060">
              <a:alpha val="21000"/>
            </a:srgb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33" name="Table 3">
            <a:extLst>
              <a:ext uri="{FF2B5EF4-FFF2-40B4-BE49-F238E27FC236}">
                <a16:creationId xmlns:a16="http://schemas.microsoft.com/office/drawing/2014/main" id="{AE36AB97-95A3-4DCF-A6CC-3889E5E68803}"/>
              </a:ext>
            </a:extLst>
          </p:cNvPr>
          <p:cNvGraphicFramePr>
            <a:graphicFrameLocks noGrp="1"/>
          </p:cNvGraphicFramePr>
          <p:nvPr/>
        </p:nvGraphicFramePr>
        <p:xfrm>
          <a:off x="1146498" y="3270754"/>
          <a:ext cx="2514600" cy="189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Mary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3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0062"/>
                  </a:ext>
                </a:extLst>
              </a:tr>
            </a:tbl>
          </a:graphicData>
        </a:graphic>
      </p:graphicFrame>
      <p:sp>
        <p:nvSpPr>
          <p:cNvPr id="34" name="TextBox 4">
            <a:extLst>
              <a:ext uri="{FF2B5EF4-FFF2-40B4-BE49-F238E27FC236}">
                <a16:creationId xmlns:a16="http://schemas.microsoft.com/office/drawing/2014/main" id="{C374741B-21D5-4FA8-851B-EEADD7D664DE}"/>
              </a:ext>
            </a:extLst>
          </p:cNvPr>
          <p:cNvSpPr txBox="1"/>
          <p:nvPr/>
        </p:nvSpPr>
        <p:spPr>
          <a:xfrm>
            <a:off x="806202" y="297507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955CAF73-93B8-43B9-A2C0-8048AB6242FE}"/>
              </a:ext>
            </a:extLst>
          </p:cNvPr>
          <p:cNvGraphicFramePr>
            <a:graphicFrameLocks noGrp="1"/>
          </p:cNvGraphicFramePr>
          <p:nvPr/>
        </p:nvGraphicFramePr>
        <p:xfrm>
          <a:off x="7166298" y="327075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TextBox 6">
            <a:extLst>
              <a:ext uri="{FF2B5EF4-FFF2-40B4-BE49-F238E27FC236}">
                <a16:creationId xmlns:a16="http://schemas.microsoft.com/office/drawing/2014/main" id="{BD64E7BE-248F-4C8F-B043-8725322CBD96}"/>
              </a:ext>
            </a:extLst>
          </p:cNvPr>
          <p:cNvSpPr txBox="1"/>
          <p:nvPr/>
        </p:nvSpPr>
        <p:spPr>
          <a:xfrm>
            <a:off x="6655361" y="297507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graphicFrame>
        <p:nvGraphicFramePr>
          <p:cNvPr id="37" name="Table 7">
            <a:extLst>
              <a:ext uri="{FF2B5EF4-FFF2-40B4-BE49-F238E27FC236}">
                <a16:creationId xmlns:a16="http://schemas.microsoft.com/office/drawing/2014/main" id="{961FD0A1-4FBF-48B1-9D22-74718106AB1A}"/>
              </a:ext>
            </a:extLst>
          </p:cNvPr>
          <p:cNvGraphicFramePr>
            <a:graphicFrameLocks noGrp="1"/>
          </p:cNvGraphicFramePr>
          <p:nvPr/>
        </p:nvGraphicFramePr>
        <p:xfrm>
          <a:off x="4042098" y="471855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8">
            <a:extLst>
              <a:ext uri="{FF2B5EF4-FFF2-40B4-BE49-F238E27FC236}">
                <a16:creationId xmlns:a16="http://schemas.microsoft.com/office/drawing/2014/main" id="{B8354377-4C09-41BF-93E1-814873AA28A6}"/>
              </a:ext>
            </a:extLst>
          </p:cNvPr>
          <p:cNvSpPr txBox="1"/>
          <p:nvPr/>
        </p:nvSpPr>
        <p:spPr>
          <a:xfrm>
            <a:off x="3585370" y="441841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10E19630-905B-4A75-9C74-C7D35231F27D}"/>
              </a:ext>
            </a:extLst>
          </p:cNvPr>
          <p:cNvSpPr txBox="1"/>
          <p:nvPr/>
        </p:nvSpPr>
        <p:spPr>
          <a:xfrm>
            <a:off x="4521474" y="3214026"/>
            <a:ext cx="2040462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5B9BD5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Esquema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584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Atributos</a:t>
            </a:r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45970" y="1718318"/>
            <a:ext cx="10798224" cy="1038838"/>
          </a:xfrm>
        </p:spPr>
        <p:txBody>
          <a:bodyPr>
            <a:noAutofit/>
          </a:bodyPr>
          <a:lstStyle/>
          <a:p>
            <a:r>
              <a:rPr lang="pt-BR" dirty="0"/>
              <a:t>Um </a:t>
            </a:r>
            <a:r>
              <a:rPr lang="pt-BR" dirty="0">
                <a:solidFill>
                  <a:srgbClr val="C00000"/>
                </a:solidFill>
              </a:rPr>
              <a:t>atributo (ou coluna) </a:t>
            </a:r>
            <a:r>
              <a:rPr lang="pt-BR" dirty="0"/>
              <a:t>é uma entrada de dados </a:t>
            </a:r>
            <a:r>
              <a:rPr lang="pt-BR" dirty="0" err="1"/>
              <a:t>tipado</a:t>
            </a:r>
            <a:r>
              <a:rPr lang="pt-BR" dirty="0"/>
              <a:t> presente em cada </a:t>
            </a:r>
            <a:r>
              <a:rPr lang="pt-BR" dirty="0" err="1"/>
              <a:t>tupla</a:t>
            </a:r>
            <a:r>
              <a:rPr lang="pt-BR" dirty="0"/>
              <a:t> na relação</a:t>
            </a:r>
          </a:p>
        </p:txBody>
      </p:sp>
      <p:sp>
        <p:nvSpPr>
          <p:cNvPr id="166914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2210816" y="6344794"/>
            <a:ext cx="4745736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19</a:t>
            </a:fld>
            <a:endParaRPr lang="pt-BR"/>
          </a:p>
        </p:txBody>
      </p:sp>
      <p:sp>
        <p:nvSpPr>
          <p:cNvPr id="29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30" name="Table 3"/>
          <p:cNvGraphicFramePr>
            <a:graphicFrameLocks noGrp="1"/>
          </p:cNvGraphicFramePr>
          <p:nvPr/>
        </p:nvGraphicFramePr>
        <p:xfrm>
          <a:off x="1712912" y="3989784"/>
          <a:ext cx="2514600" cy="189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Mary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3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0062"/>
                  </a:ext>
                </a:extLst>
              </a:tr>
            </a:tbl>
          </a:graphicData>
        </a:graphic>
      </p:graphicFrame>
      <p:sp>
        <p:nvSpPr>
          <p:cNvPr id="31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graphicFrame>
        <p:nvGraphicFramePr>
          <p:cNvPr id="32" name="Table 5"/>
          <p:cNvGraphicFramePr>
            <a:graphicFrameLocks noGrp="1"/>
          </p:cNvGraphicFramePr>
          <p:nvPr/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graphicFrame>
        <p:nvGraphicFramePr>
          <p:cNvPr id="34" name="Table 7"/>
          <p:cNvGraphicFramePr>
            <a:graphicFrameLocks noGrp="1"/>
          </p:cNvGraphicFramePr>
          <p:nvPr/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39" name="TextBox 15"/>
          <p:cNvSpPr txBox="1"/>
          <p:nvPr/>
        </p:nvSpPr>
        <p:spPr>
          <a:xfrm>
            <a:off x="5087888" y="3933056"/>
            <a:ext cx="20404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Relações</a:t>
            </a: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5E50371A-2CCB-47B7-8DDF-C0A2223DE5D6}"/>
              </a:ext>
            </a:extLst>
          </p:cNvPr>
          <p:cNvSpPr/>
          <p:nvPr/>
        </p:nvSpPr>
        <p:spPr>
          <a:xfrm>
            <a:off x="1625825" y="3959639"/>
            <a:ext cx="2776264" cy="42367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380AC188-434D-46B1-8E01-0764A6B8AEF4}"/>
              </a:ext>
            </a:extLst>
          </p:cNvPr>
          <p:cNvSpPr/>
          <p:nvPr/>
        </p:nvSpPr>
        <p:spPr>
          <a:xfrm>
            <a:off x="7647223" y="3942874"/>
            <a:ext cx="3086089" cy="47904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ounded Rectangle 22">
            <a:extLst>
              <a:ext uri="{FF2B5EF4-FFF2-40B4-BE49-F238E27FC236}">
                <a16:creationId xmlns:a16="http://schemas.microsoft.com/office/drawing/2014/main" id="{9999BC9D-1593-42D7-ABAB-3BFCA12EBB61}"/>
              </a:ext>
            </a:extLst>
          </p:cNvPr>
          <p:cNvSpPr/>
          <p:nvPr/>
        </p:nvSpPr>
        <p:spPr>
          <a:xfrm>
            <a:off x="4511824" y="5379849"/>
            <a:ext cx="3096344" cy="5013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13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 err="1"/>
              <a:t>Tuplas</a:t>
            </a:r>
            <a:endParaRPr lang="pt-BR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45970" y="1718318"/>
            <a:ext cx="10798224" cy="1038838"/>
          </a:xfrm>
        </p:spPr>
        <p:txBody>
          <a:bodyPr>
            <a:no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Uma </a:t>
            </a:r>
            <a:r>
              <a:rPr lang="pt-BR" dirty="0" err="1">
                <a:solidFill>
                  <a:srgbClr val="C00000"/>
                </a:solidFill>
              </a:rPr>
              <a:t>tupla</a:t>
            </a:r>
            <a:r>
              <a:rPr lang="pt-BR" dirty="0">
                <a:solidFill>
                  <a:srgbClr val="C00000"/>
                </a:solidFill>
              </a:rPr>
              <a:t> ou linha (ou registro) </a:t>
            </a:r>
            <a:r>
              <a:rPr lang="pt-BR" dirty="0"/>
              <a:t>é uma única entrada na tabela tendo os atributos especificados pelo esquema</a:t>
            </a:r>
          </a:p>
        </p:txBody>
      </p:sp>
      <p:sp>
        <p:nvSpPr>
          <p:cNvPr id="166914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2210816" y="6344794"/>
            <a:ext cx="4745736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20</a:t>
            </a:fld>
            <a:endParaRPr lang="pt-BR"/>
          </a:p>
        </p:txBody>
      </p:sp>
      <p:sp>
        <p:nvSpPr>
          <p:cNvPr id="29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30" name="Table 3"/>
          <p:cNvGraphicFramePr>
            <a:graphicFrameLocks noGrp="1"/>
          </p:cNvGraphicFramePr>
          <p:nvPr/>
        </p:nvGraphicFramePr>
        <p:xfrm>
          <a:off x="1712912" y="3989784"/>
          <a:ext cx="2514600" cy="189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Mary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3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0062"/>
                  </a:ext>
                </a:extLst>
              </a:tr>
            </a:tbl>
          </a:graphicData>
        </a:graphic>
      </p:graphicFrame>
      <p:sp>
        <p:nvSpPr>
          <p:cNvPr id="31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graphicFrame>
        <p:nvGraphicFramePr>
          <p:cNvPr id="32" name="Table 5"/>
          <p:cNvGraphicFramePr>
            <a:graphicFrameLocks noGrp="1"/>
          </p:cNvGraphicFramePr>
          <p:nvPr/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graphicFrame>
        <p:nvGraphicFramePr>
          <p:cNvPr id="34" name="Table 7"/>
          <p:cNvGraphicFramePr>
            <a:graphicFrameLocks noGrp="1"/>
          </p:cNvGraphicFramePr>
          <p:nvPr/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39" name="TextBox 15"/>
          <p:cNvSpPr txBox="1"/>
          <p:nvPr/>
        </p:nvSpPr>
        <p:spPr>
          <a:xfrm>
            <a:off x="5087888" y="3933056"/>
            <a:ext cx="204046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Relações</a:t>
            </a: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5E50371A-2CCB-47B7-8DDF-C0A2223DE5D6}"/>
              </a:ext>
            </a:extLst>
          </p:cNvPr>
          <p:cNvSpPr/>
          <p:nvPr/>
        </p:nvSpPr>
        <p:spPr>
          <a:xfrm>
            <a:off x="1582080" y="4738540"/>
            <a:ext cx="2776264" cy="42367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ounded Rectangle 22">
            <a:extLst>
              <a:ext uri="{FF2B5EF4-FFF2-40B4-BE49-F238E27FC236}">
                <a16:creationId xmlns:a16="http://schemas.microsoft.com/office/drawing/2014/main" id="{380AC188-434D-46B1-8E01-0764A6B8AEF4}"/>
              </a:ext>
            </a:extLst>
          </p:cNvPr>
          <p:cNvSpPr/>
          <p:nvPr/>
        </p:nvSpPr>
        <p:spPr>
          <a:xfrm>
            <a:off x="7637467" y="4312570"/>
            <a:ext cx="3086089" cy="479044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ounded Rectangle 22">
            <a:extLst>
              <a:ext uri="{FF2B5EF4-FFF2-40B4-BE49-F238E27FC236}">
                <a16:creationId xmlns:a16="http://schemas.microsoft.com/office/drawing/2014/main" id="{9999BC9D-1593-42D7-ABAB-3BFCA12EBB61}"/>
              </a:ext>
            </a:extLst>
          </p:cNvPr>
          <p:cNvSpPr/>
          <p:nvPr/>
        </p:nvSpPr>
        <p:spPr>
          <a:xfrm>
            <a:off x="4431940" y="5770965"/>
            <a:ext cx="3096344" cy="5013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789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pt-BR" dirty="0"/>
              <a:t>Notação das relações (Tabelas)</a:t>
            </a:r>
            <a:br>
              <a:rPr lang="pt-BR" dirty="0"/>
            </a:br>
            <a:r>
              <a:rPr lang="pt-BR" sz="4000" i="1" dirty="0" err="1"/>
              <a:t>Schema</a:t>
            </a:r>
            <a:endParaRPr lang="pt-BR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idx="1"/>
          </p:nvPr>
        </p:nvSpPr>
        <p:spPr>
          <a:xfrm>
            <a:off x="845970" y="1718318"/>
            <a:ext cx="10798224" cy="1038838"/>
          </a:xfrm>
        </p:spPr>
        <p:txBody>
          <a:bodyPr>
            <a:noAutofit/>
          </a:bodyPr>
          <a:lstStyle/>
          <a:p>
            <a:r>
              <a:rPr lang="pt-BR" dirty="0"/>
              <a:t>Notação simplificada de relações nos </a:t>
            </a:r>
            <a:r>
              <a:rPr lang="pt-BR" dirty="0" err="1"/>
              <a:t>Schemas</a:t>
            </a:r>
            <a:r>
              <a:rPr lang="pt-BR" dirty="0"/>
              <a:t>:</a:t>
            </a:r>
          </a:p>
        </p:txBody>
      </p:sp>
      <p:sp>
        <p:nvSpPr>
          <p:cNvPr id="166914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>
            <a:off x="2210816" y="6344794"/>
            <a:ext cx="4745736" cy="3651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21</a:t>
            </a:fld>
            <a:endParaRPr lang="pt-BR"/>
          </a:p>
        </p:txBody>
      </p:sp>
      <p:sp>
        <p:nvSpPr>
          <p:cNvPr id="29" name="Rectangle 14"/>
          <p:cNvSpPr/>
          <p:nvPr/>
        </p:nvSpPr>
        <p:spPr>
          <a:xfrm>
            <a:off x="7596264" y="4071148"/>
            <a:ext cx="3071735" cy="2660349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graphicFrame>
        <p:nvGraphicFramePr>
          <p:cNvPr id="3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43196"/>
              </p:ext>
            </p:extLst>
          </p:nvPr>
        </p:nvGraphicFramePr>
        <p:xfrm>
          <a:off x="7970887" y="4508400"/>
          <a:ext cx="2514600" cy="189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sid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Bob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3.2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Mary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3.8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43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133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Alice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3.5</a:t>
                      </a:r>
                    </a:p>
                  </a:txBody>
                  <a:tcPr marL="105831" marR="105831" marT="52915" marB="52915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80062"/>
                  </a:ext>
                </a:extLst>
              </a:tr>
            </a:tbl>
          </a:graphicData>
        </a:graphic>
      </p:graphicFrame>
      <p:sp>
        <p:nvSpPr>
          <p:cNvPr id="31" name="TextBox 4"/>
          <p:cNvSpPr txBox="1"/>
          <p:nvPr/>
        </p:nvSpPr>
        <p:spPr>
          <a:xfrm>
            <a:off x="7631832" y="41906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9F3AA162-B618-4651-9796-58AC37D6D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400" y="2809383"/>
            <a:ext cx="7761380" cy="4247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Estudante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nome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, CR: </a:t>
            </a:r>
            <a:r>
              <a:rPr lang="en-US" sz="2400" i="1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400" dirty="0">
                <a:solidFill>
                  <a:schemeClr val="accent2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3E88A5E2-CF66-4501-9024-6B9F7ECCBE8C}"/>
              </a:ext>
            </a:extLst>
          </p:cNvPr>
          <p:cNvSpPr/>
          <p:nvPr/>
        </p:nvSpPr>
        <p:spPr>
          <a:xfrm>
            <a:off x="4017398" y="2749720"/>
            <a:ext cx="416562" cy="49417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BCDBCE73-817D-4F87-AE3D-57E8D471CF29}"/>
              </a:ext>
            </a:extLst>
          </p:cNvPr>
          <p:cNvSpPr txBox="1"/>
          <p:nvPr/>
        </p:nvSpPr>
        <p:spPr>
          <a:xfrm>
            <a:off x="7970887" y="3444883"/>
            <a:ext cx="1259270" cy="415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100" b="1" u="sng" dirty="0">
                <a:latin typeface="+mj-lt"/>
              </a:rPr>
              <a:t>Atributos</a:t>
            </a:r>
            <a:endParaRPr lang="pt-BR" sz="2100" dirty="0">
              <a:latin typeface="+mj-lt"/>
            </a:endParaRPr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3F3BE9BE-1B19-4F6F-88A5-84915780FDF7}"/>
              </a:ext>
            </a:extLst>
          </p:cNvPr>
          <p:cNvSpPr/>
          <p:nvPr/>
        </p:nvSpPr>
        <p:spPr>
          <a:xfrm>
            <a:off x="5393706" y="2759597"/>
            <a:ext cx="831778" cy="49417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ounded Rectangle 22">
            <a:extLst>
              <a:ext uri="{FF2B5EF4-FFF2-40B4-BE49-F238E27FC236}">
                <a16:creationId xmlns:a16="http://schemas.microsoft.com/office/drawing/2014/main" id="{4568B19B-E27D-46B0-B7AD-D5D3ABD93B27}"/>
              </a:ext>
            </a:extLst>
          </p:cNvPr>
          <p:cNvSpPr/>
          <p:nvPr/>
        </p:nvSpPr>
        <p:spPr>
          <a:xfrm>
            <a:off x="7139109" y="2759597"/>
            <a:ext cx="492723" cy="494179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B39EF666-D23C-4812-BFCD-DA49B19BB268}"/>
              </a:ext>
            </a:extLst>
          </p:cNvPr>
          <p:cNvSpPr/>
          <p:nvPr/>
        </p:nvSpPr>
        <p:spPr>
          <a:xfrm>
            <a:off x="4464000" y="2754506"/>
            <a:ext cx="899666" cy="473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2A9BBB70-3EC8-4EFB-B523-3573CE28332F}"/>
              </a:ext>
            </a:extLst>
          </p:cNvPr>
          <p:cNvSpPr txBox="1"/>
          <p:nvPr/>
        </p:nvSpPr>
        <p:spPr>
          <a:xfrm>
            <a:off x="4428032" y="3377844"/>
            <a:ext cx="2621838" cy="10618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100" i="1" dirty="0" err="1"/>
              <a:t>String</a:t>
            </a:r>
            <a:r>
              <a:rPr lang="pt-BR" sz="2100" i="1" dirty="0"/>
              <a:t>, </a:t>
            </a:r>
            <a:r>
              <a:rPr lang="pt-BR" sz="2100" i="1" dirty="0" err="1"/>
              <a:t>float</a:t>
            </a:r>
            <a:r>
              <a:rPr lang="pt-BR" sz="2100" i="1" dirty="0"/>
              <a:t>, </a:t>
            </a:r>
            <a:r>
              <a:rPr lang="pt-BR" sz="2100" i="1" dirty="0" err="1"/>
              <a:t>int</a:t>
            </a:r>
            <a:r>
              <a:rPr lang="pt-BR" sz="2100" i="1" dirty="0"/>
              <a:t>, etc. </a:t>
            </a:r>
            <a:r>
              <a:rPr lang="pt-BR" sz="2100" dirty="0"/>
              <a:t>são os </a:t>
            </a:r>
            <a:r>
              <a:rPr lang="pt-BR" sz="2100" b="1" u="sng" dirty="0"/>
              <a:t>domínios</a:t>
            </a:r>
            <a:r>
              <a:rPr lang="pt-BR" sz="2100" dirty="0"/>
              <a:t> dos atributos</a:t>
            </a:r>
            <a:endParaRPr lang="pt-BR" sz="2100" i="1" dirty="0"/>
          </a:p>
        </p:txBody>
      </p:sp>
      <p:sp>
        <p:nvSpPr>
          <p:cNvPr id="24" name="Rounded Rectangle 27">
            <a:extLst>
              <a:ext uri="{FF2B5EF4-FFF2-40B4-BE49-F238E27FC236}">
                <a16:creationId xmlns:a16="http://schemas.microsoft.com/office/drawing/2014/main" id="{E1732D76-C6DE-406C-954A-C59F74C1EF7C}"/>
              </a:ext>
            </a:extLst>
          </p:cNvPr>
          <p:cNvSpPr/>
          <p:nvPr/>
        </p:nvSpPr>
        <p:spPr>
          <a:xfrm>
            <a:off x="6235001" y="2761007"/>
            <a:ext cx="909255" cy="473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C983CA4C-D815-4789-BC89-748426EE6EBA}"/>
              </a:ext>
            </a:extLst>
          </p:cNvPr>
          <p:cNvSpPr/>
          <p:nvPr/>
        </p:nvSpPr>
        <p:spPr>
          <a:xfrm>
            <a:off x="7765080" y="2761007"/>
            <a:ext cx="863227" cy="47310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Rounded Rectangle 29">
            <a:extLst>
              <a:ext uri="{FF2B5EF4-FFF2-40B4-BE49-F238E27FC236}">
                <a16:creationId xmlns:a16="http://schemas.microsoft.com/office/drawing/2014/main" id="{F2C8EB50-2039-47A7-960F-BC97ADA9B9E2}"/>
              </a:ext>
            </a:extLst>
          </p:cNvPr>
          <p:cNvSpPr/>
          <p:nvPr/>
        </p:nvSpPr>
        <p:spPr>
          <a:xfrm>
            <a:off x="2624040" y="2769873"/>
            <a:ext cx="1363318" cy="494179"/>
          </a:xfrm>
          <a:prstGeom prst="round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30">
            <a:extLst>
              <a:ext uri="{FF2B5EF4-FFF2-40B4-BE49-F238E27FC236}">
                <a16:creationId xmlns:a16="http://schemas.microsoft.com/office/drawing/2014/main" id="{04DEDA5E-117C-4F75-B3B0-90BFBFC1F7F5}"/>
              </a:ext>
            </a:extLst>
          </p:cNvPr>
          <p:cNvSpPr txBox="1"/>
          <p:nvPr/>
        </p:nvSpPr>
        <p:spPr>
          <a:xfrm>
            <a:off x="1499141" y="3377844"/>
            <a:ext cx="2017467" cy="4154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100" b="1" dirty="0">
                <a:latin typeface="+mj-lt"/>
              </a:rPr>
              <a:t>Nome da relação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02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06157-6EB6-41CD-BE98-E4F536DE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Metadados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28CB4F-A886-4F51-B69B-912B94461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 “</a:t>
            </a:r>
            <a:r>
              <a:rPr lang="pt-BR" b="1" dirty="0">
                <a:solidFill>
                  <a:srgbClr val="C00000"/>
                </a:solidFill>
              </a:rPr>
              <a:t>banco de dados sobre o banco de dados</a:t>
            </a:r>
            <a:r>
              <a:rPr lang="pt-BR" dirty="0"/>
              <a:t>” (daí o termo “meta”). </a:t>
            </a:r>
          </a:p>
          <a:p>
            <a:r>
              <a:rPr lang="pt-BR" dirty="0"/>
              <a:t>Contém uma </a:t>
            </a:r>
            <a:r>
              <a:rPr lang="pt-BR" dirty="0">
                <a:solidFill>
                  <a:srgbClr val="C00000"/>
                </a:solidFill>
              </a:rPr>
              <a:t>descrição</a:t>
            </a:r>
            <a:r>
              <a:rPr lang="pt-BR" dirty="0"/>
              <a:t> de todas as </a:t>
            </a:r>
            <a:r>
              <a:rPr lang="pt-BR" dirty="0">
                <a:solidFill>
                  <a:srgbClr val="C00000"/>
                </a:solidFill>
              </a:rPr>
              <a:t>tabelas</a:t>
            </a:r>
            <a:r>
              <a:rPr lang="pt-BR" dirty="0"/>
              <a:t>, e seus </a:t>
            </a:r>
            <a:r>
              <a:rPr lang="pt-BR" dirty="0">
                <a:solidFill>
                  <a:srgbClr val="C00000"/>
                </a:solidFill>
              </a:rPr>
              <a:t>esquemas</a:t>
            </a:r>
            <a:r>
              <a:rPr lang="pt-BR" dirty="0"/>
              <a:t>, a saber: atributos, restrições de domínios e restrições de integridade.</a:t>
            </a:r>
          </a:p>
          <a:p>
            <a:r>
              <a:rPr lang="pt-BR" dirty="0"/>
              <a:t>Conhecido também como  </a:t>
            </a:r>
            <a:r>
              <a:rPr lang="pt-BR" b="1" dirty="0"/>
              <a:t>banco de metadados</a:t>
            </a:r>
            <a:r>
              <a:rPr lang="pt-BR" dirty="0"/>
              <a:t>, </a:t>
            </a:r>
            <a:r>
              <a:rPr lang="pt-BR" b="1" dirty="0" err="1"/>
              <a:t>metabanco</a:t>
            </a:r>
            <a:r>
              <a:rPr lang="pt-BR" b="1" dirty="0"/>
              <a:t> de dados</a:t>
            </a:r>
            <a:r>
              <a:rPr lang="pt-BR" dirty="0"/>
              <a:t>, ou ainda catálogo do banco de dados. </a:t>
            </a:r>
          </a:p>
          <a:p>
            <a:r>
              <a:rPr lang="pt-BR" dirty="0"/>
              <a:t>Contém ainda informações de </a:t>
            </a:r>
            <a:r>
              <a:rPr lang="pt-BR" dirty="0">
                <a:solidFill>
                  <a:srgbClr val="C00000"/>
                </a:solidFill>
              </a:rPr>
              <a:t>segurança</a:t>
            </a:r>
            <a:r>
              <a:rPr lang="pt-BR" dirty="0"/>
              <a:t> como </a:t>
            </a:r>
            <a:r>
              <a:rPr lang="pt-BR" dirty="0">
                <a:solidFill>
                  <a:srgbClr val="C00000"/>
                </a:solidFill>
              </a:rPr>
              <a:t>usuários</a:t>
            </a:r>
            <a:r>
              <a:rPr lang="pt-BR" dirty="0"/>
              <a:t>, suas respectivas </a:t>
            </a:r>
            <a:r>
              <a:rPr lang="pt-BR" dirty="0">
                <a:solidFill>
                  <a:srgbClr val="C00000"/>
                </a:solidFill>
              </a:rPr>
              <a:t>autorizações</a:t>
            </a:r>
            <a:r>
              <a:rPr lang="pt-BR" dirty="0"/>
              <a:t> de </a:t>
            </a:r>
            <a:r>
              <a:rPr lang="pt-BR" dirty="0">
                <a:solidFill>
                  <a:srgbClr val="C00000"/>
                </a:solidFill>
              </a:rPr>
              <a:t>acesso</a:t>
            </a:r>
            <a:r>
              <a:rPr lang="pt-BR" dirty="0"/>
              <a:t> , e algumas estatísticas importantes.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06D57B3-C584-4CE3-B917-2CDE9DB4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725EEB9-7D1F-47DC-AC29-FB27BFA8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320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Resumindo...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idx="1"/>
          </p:nvPr>
        </p:nvSpPr>
        <p:spPr>
          <a:xfrm>
            <a:off x="920422" y="1457794"/>
            <a:ext cx="11277600" cy="508111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b="1" dirty="0" err="1">
                <a:solidFill>
                  <a:srgbClr val="C00000"/>
                </a:solidFill>
              </a:rPr>
              <a:t>Tupla</a:t>
            </a:r>
            <a:r>
              <a:rPr lang="pt-BR" sz="2400" dirty="0"/>
              <a:t>:  uma linha</a:t>
            </a:r>
            <a:endParaRPr lang="pt-BR" sz="2400" i="1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C00000"/>
                </a:solidFill>
              </a:rPr>
              <a:t>Atributo</a:t>
            </a:r>
            <a:r>
              <a:rPr lang="pt-BR" sz="2400" dirty="0"/>
              <a:t>: é  o cabeçalho da coluna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C00000"/>
                </a:solidFill>
              </a:rPr>
              <a:t>Relação</a:t>
            </a:r>
            <a:r>
              <a:rPr lang="pt-BR" sz="2400" dirty="0"/>
              <a:t>: é a tabela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pt-BR" sz="2400" b="1" dirty="0">
                <a:solidFill>
                  <a:srgbClr val="C00000"/>
                </a:solidFill>
              </a:rPr>
              <a:t>Domínio</a:t>
            </a:r>
            <a:r>
              <a:rPr lang="pt-BR" sz="2400" dirty="0"/>
              <a:t>: são os valores aceitáveis para um atributo </a:t>
            </a:r>
            <a:endParaRPr lang="pt-BR" sz="2400" i="1" dirty="0">
              <a:solidFill>
                <a:srgbClr val="000099"/>
              </a:solidFill>
            </a:endParaRPr>
          </a:p>
          <a:p>
            <a:pPr marL="274320" indent="-274320">
              <a:lnSpc>
                <a:spcPct val="120000"/>
              </a:lnSpc>
              <a:buFont typeface="Wingdings 3"/>
              <a:buChar char=""/>
              <a:defRPr/>
            </a:pPr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Exemplo: Seja o esquema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pt-BR" sz="2400" dirty="0"/>
              <a:t>     </a:t>
            </a:r>
            <a:r>
              <a:rPr lang="pt-BR" sz="2400" b="1" dirty="0"/>
              <a:t>Aluno</a:t>
            </a:r>
            <a:r>
              <a:rPr lang="pt-BR" sz="2400" dirty="0">
                <a:solidFill>
                  <a:srgbClr val="0070C0"/>
                </a:solidFill>
              </a:rPr>
              <a:t>(Nome: </a:t>
            </a:r>
            <a:r>
              <a:rPr lang="pt-BR" sz="2400" dirty="0" err="1">
                <a:solidFill>
                  <a:srgbClr val="C00000"/>
                </a:solidFill>
              </a:rPr>
              <a:t>String</a:t>
            </a:r>
            <a:r>
              <a:rPr lang="pt-BR" sz="2400" dirty="0">
                <a:solidFill>
                  <a:srgbClr val="0070C0"/>
                </a:solidFill>
              </a:rPr>
              <a:t>, </a:t>
            </a:r>
            <a:r>
              <a:rPr lang="pt-BR" sz="2400" dirty="0" err="1">
                <a:solidFill>
                  <a:srgbClr val="0070C0"/>
                </a:solidFill>
              </a:rPr>
              <a:t>Mat</a:t>
            </a:r>
            <a:r>
              <a:rPr lang="pt-BR" sz="2400" dirty="0">
                <a:solidFill>
                  <a:srgbClr val="0070C0"/>
                </a:solidFill>
              </a:rPr>
              <a:t>: </a:t>
            </a:r>
            <a:r>
              <a:rPr lang="pt-BR" sz="2400" dirty="0" err="1">
                <a:solidFill>
                  <a:srgbClr val="C00000"/>
                </a:solidFill>
              </a:rPr>
              <a:t>int</a:t>
            </a:r>
            <a:r>
              <a:rPr lang="pt-BR" sz="2400" dirty="0">
                <a:solidFill>
                  <a:srgbClr val="0070C0"/>
                </a:solidFill>
              </a:rPr>
              <a:t>, </a:t>
            </a:r>
            <a:r>
              <a:rPr lang="pt-BR" sz="2400" dirty="0" err="1">
                <a:solidFill>
                  <a:srgbClr val="0070C0"/>
                </a:solidFill>
              </a:rPr>
              <a:t>FoneRes</a:t>
            </a:r>
            <a:r>
              <a:rPr lang="pt-BR" sz="2400" dirty="0">
                <a:solidFill>
                  <a:srgbClr val="0070C0"/>
                </a:solidFill>
              </a:rPr>
              <a:t>: </a:t>
            </a:r>
            <a:r>
              <a:rPr lang="pt-BR" sz="2400" dirty="0" err="1">
                <a:solidFill>
                  <a:srgbClr val="C00000"/>
                </a:solidFill>
              </a:rPr>
              <a:t>string</a:t>
            </a:r>
            <a:r>
              <a:rPr lang="pt-BR" sz="2400" dirty="0">
                <a:solidFill>
                  <a:srgbClr val="0070C0"/>
                </a:solidFill>
              </a:rPr>
              <a:t>, Idade: </a:t>
            </a:r>
            <a:r>
              <a:rPr lang="pt-BR" sz="2400" dirty="0" err="1">
                <a:solidFill>
                  <a:srgbClr val="C00000"/>
                </a:solidFill>
              </a:rPr>
              <a:t>int</a:t>
            </a:r>
            <a:r>
              <a:rPr lang="pt-BR" sz="2400" dirty="0">
                <a:solidFill>
                  <a:srgbClr val="0070C0"/>
                </a:solidFill>
              </a:rPr>
              <a:t>, CR: </a:t>
            </a:r>
            <a:r>
              <a:rPr lang="pt-BR" sz="2400" dirty="0" err="1">
                <a:solidFill>
                  <a:srgbClr val="C00000"/>
                </a:solidFill>
              </a:rPr>
              <a:t>float</a:t>
            </a:r>
            <a:r>
              <a:rPr lang="pt-BR" sz="2400" dirty="0">
                <a:solidFill>
                  <a:srgbClr val="0070C0"/>
                </a:solidFill>
              </a:rPr>
              <a:t>)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/>
              <a:t>Relação</a:t>
            </a:r>
            <a:r>
              <a:rPr lang="pt-BR" sz="2400" dirty="0"/>
              <a:t>: Aluno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/>
              <a:t>Atributo</a:t>
            </a:r>
            <a:r>
              <a:rPr lang="pt-BR" sz="2400" dirty="0"/>
              <a:t>: (5 atributos) - Nome, </a:t>
            </a:r>
            <a:r>
              <a:rPr lang="pt-BR" sz="2400" dirty="0" err="1"/>
              <a:t>Mat</a:t>
            </a:r>
            <a:r>
              <a:rPr lang="pt-BR" sz="2400" dirty="0"/>
              <a:t>, </a:t>
            </a:r>
            <a:r>
              <a:rPr lang="pt-BR" sz="2400" dirty="0" err="1"/>
              <a:t>FoneRes</a:t>
            </a:r>
            <a:r>
              <a:rPr lang="pt-BR" sz="2400" dirty="0"/>
              <a:t>, Idade, CR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/>
              <a:t>Domínio</a:t>
            </a:r>
            <a:r>
              <a:rPr lang="pt-BR" sz="2400" dirty="0"/>
              <a:t>: Dom(Nome)=nomes; Dom(</a:t>
            </a:r>
            <a:r>
              <a:rPr lang="pt-BR" sz="2400" dirty="0" err="1"/>
              <a:t>Mat</a:t>
            </a:r>
            <a:r>
              <a:rPr lang="pt-BR" sz="2400" dirty="0"/>
              <a:t>)= números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pt-BR" sz="2400" b="1" dirty="0" err="1"/>
              <a:t>Tupla</a:t>
            </a:r>
            <a:r>
              <a:rPr lang="pt-BR" sz="2400" dirty="0"/>
              <a:t>: &lt;Roberto, 001,222-2222, 40, 9.1&gt;</a:t>
            </a:r>
          </a:p>
          <a:p>
            <a:pPr marL="274320" indent="-274320">
              <a:lnSpc>
                <a:spcPct val="120000"/>
              </a:lnSpc>
              <a:buFont typeface="Wingdings 3"/>
              <a:buChar char=""/>
              <a:defRPr/>
            </a:pPr>
            <a:endParaRPr lang="pt-BR" sz="2400" dirty="0"/>
          </a:p>
        </p:txBody>
      </p:sp>
      <p:sp>
        <p:nvSpPr>
          <p:cNvPr id="594946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23</a:t>
            </a:fld>
            <a:endParaRPr lang="pt-BR"/>
          </a:p>
        </p:txBody>
      </p:sp>
      <p:graphicFrame>
        <p:nvGraphicFramePr>
          <p:cNvPr id="7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991500"/>
              </p:ext>
            </p:extLst>
          </p:nvPr>
        </p:nvGraphicFramePr>
        <p:xfrm>
          <a:off x="8164310" y="1457794"/>
          <a:ext cx="2970549" cy="1548763"/>
        </p:xfrm>
        <a:graphic>
          <a:graphicData uri="http://schemas.openxmlformats.org/drawingml/2006/table">
            <a:tbl>
              <a:tblPr/>
              <a:tblGrid>
                <a:gridCol w="990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7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sid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58129" marR="58129" marT="29064" marB="2906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nome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CR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101</a:t>
                      </a:r>
                    </a:p>
                  </a:txBody>
                  <a:tcPr marL="58129" marR="58129" marT="29064" marB="2906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Bob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3.2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123</a:t>
                      </a:r>
                    </a:p>
                  </a:txBody>
                  <a:tcPr marL="58129" marR="58129" marT="29064" marB="2906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Joe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2.8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130</a:t>
                      </a:r>
                    </a:p>
                  </a:txBody>
                  <a:tcPr marL="58129" marR="58129" marT="29064" marB="2906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Mary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3.8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5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133</a:t>
                      </a:r>
                    </a:p>
                  </a:txBody>
                  <a:tcPr marL="58129" marR="58129" marT="29064" marB="2906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Alice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3.5</a:t>
                      </a:r>
                    </a:p>
                  </a:txBody>
                  <a:tcPr marL="58129" marR="58129" marT="29064" marB="2906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22"/>
          <p:cNvSpPr/>
          <p:nvPr/>
        </p:nvSpPr>
        <p:spPr>
          <a:xfrm>
            <a:off x="8328248" y="1457795"/>
            <a:ext cx="792088" cy="23289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ounded Rectangle 22"/>
          <p:cNvSpPr/>
          <p:nvPr/>
        </p:nvSpPr>
        <p:spPr>
          <a:xfrm>
            <a:off x="8328248" y="2060849"/>
            <a:ext cx="2664296" cy="36004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Rounded Rectangle 22"/>
          <p:cNvSpPr/>
          <p:nvPr/>
        </p:nvSpPr>
        <p:spPr>
          <a:xfrm>
            <a:off x="10272464" y="1772816"/>
            <a:ext cx="720080" cy="1152127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689B6CA4-4CEF-4452-93ED-C8762910FFB4}"/>
              </a:ext>
            </a:extLst>
          </p:cNvPr>
          <p:cNvSpPr/>
          <p:nvPr/>
        </p:nvSpPr>
        <p:spPr>
          <a:xfrm>
            <a:off x="9264352" y="1475181"/>
            <a:ext cx="792088" cy="23289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ounded Rectangle 22">
            <a:extLst>
              <a:ext uri="{FF2B5EF4-FFF2-40B4-BE49-F238E27FC236}">
                <a16:creationId xmlns:a16="http://schemas.microsoft.com/office/drawing/2014/main" id="{AA55687C-1389-45FB-82D0-EA72CD9AC118}"/>
              </a:ext>
            </a:extLst>
          </p:cNvPr>
          <p:cNvSpPr/>
          <p:nvPr/>
        </p:nvSpPr>
        <p:spPr>
          <a:xfrm>
            <a:off x="10255957" y="1484602"/>
            <a:ext cx="792088" cy="232893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342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kern="1200"/>
              <a:t>Explorando o Modelo Relacional</a:t>
            </a:r>
            <a:br>
              <a:rPr lang="pt-BR" kern="1200"/>
            </a:br>
            <a:r>
              <a:rPr lang="pt-BR" kern="1200"/>
              <a:t>Atributos Chave</a:t>
            </a:r>
          </a:p>
        </p:txBody>
      </p:sp>
      <p:pic>
        <p:nvPicPr>
          <p:cNvPr id="22" name="Picture 21" descr="Close de um teclado">
            <a:extLst>
              <a:ext uri="{FF2B5EF4-FFF2-40B4-BE49-F238E27FC236}">
                <a16:creationId xmlns:a16="http://schemas.microsoft.com/office/drawing/2014/main" id="{086132C6-2C71-32C8-B3FA-2CB3A47C9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25" b="32368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</p:spPr>
      </p:pic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/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767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Chaves num Banco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14400" y="1628800"/>
            <a:ext cx="10294168" cy="4050792"/>
          </a:xfrm>
        </p:spPr>
        <p:txBody>
          <a:bodyPr>
            <a:normAutofit/>
          </a:bodyPr>
          <a:lstStyle/>
          <a:p>
            <a:r>
              <a:rPr lang="pt-PT" dirty="0"/>
              <a:t>As </a:t>
            </a:r>
            <a:r>
              <a:rPr lang="pt-PT" dirty="0">
                <a:solidFill>
                  <a:srgbClr val="C00000"/>
                </a:solidFill>
              </a:rPr>
              <a:t>chaves</a:t>
            </a:r>
            <a:r>
              <a:rPr lang="pt-PT" dirty="0"/>
              <a:t> são parte muito importante da base de dados relacional. </a:t>
            </a:r>
          </a:p>
          <a:p>
            <a:r>
              <a:rPr lang="pt-PT" dirty="0"/>
              <a:t>Elas são usadas para </a:t>
            </a:r>
            <a:r>
              <a:rPr lang="pt-PT" dirty="0">
                <a:solidFill>
                  <a:srgbClr val="C00000"/>
                </a:solidFill>
              </a:rPr>
              <a:t>estabelecer e identificar relacionamento</a:t>
            </a:r>
            <a:r>
              <a:rPr lang="pt-PT" dirty="0"/>
              <a:t> entre as tabelas. </a:t>
            </a:r>
          </a:p>
          <a:p>
            <a:r>
              <a:rPr lang="pt-PT" dirty="0"/>
              <a:t>Elas também asseguram que cada registo dentro de uma tabela possa ser </a:t>
            </a:r>
            <a:r>
              <a:rPr lang="pt-PT" dirty="0">
                <a:solidFill>
                  <a:srgbClr val="C00000"/>
                </a:solidFill>
              </a:rPr>
              <a:t>identificada de forma única </a:t>
            </a:r>
            <a:r>
              <a:rPr lang="pt-PT" dirty="0"/>
              <a:t>por uma combinação de um ou mais campos dentro de uma tabela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25</a:t>
            </a:fld>
            <a:endParaRPr lang="pt-BR"/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732892" y="5016834"/>
            <a:ext cx="10657184" cy="4247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Produto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2400" b="1" u="sng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codigo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int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; </a:t>
            </a:r>
            <a:r>
              <a:rPr lang="en-US" sz="2400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Pnome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Preco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Categoria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Fabricante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2400" i="1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2400" dirty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</a:rPr>
              <a:t>)</a:t>
            </a:r>
          </a:p>
        </p:txBody>
      </p:sp>
      <p:sp>
        <p:nvSpPr>
          <p:cNvPr id="19" name="Retângulo 18" descr="Chave">
            <a:extLst>
              <a:ext uri="{FF2B5EF4-FFF2-40B4-BE49-F238E27FC236}">
                <a16:creationId xmlns:a16="http://schemas.microsoft.com/office/drawing/2014/main" id="{0149ED4F-45DE-492D-BE32-B5DF15400AAE}"/>
              </a:ext>
            </a:extLst>
          </p:cNvPr>
          <p:cNvSpPr/>
          <p:nvPr/>
        </p:nvSpPr>
        <p:spPr>
          <a:xfrm>
            <a:off x="8158896" y="576202"/>
            <a:ext cx="903407" cy="903407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49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 Chaves - Algumas Definições...</a:t>
            </a:r>
          </a:p>
        </p:txBody>
      </p:sp>
      <p:sp>
        <p:nvSpPr>
          <p:cNvPr id="601092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21570"/>
            <a:ext cx="10515600" cy="44644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b="1" dirty="0" err="1">
                <a:solidFill>
                  <a:srgbClr val="002060"/>
                </a:solidFill>
              </a:rPr>
              <a:t>Superchave</a:t>
            </a:r>
            <a:endParaRPr lang="pt-BR" b="1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pt-BR" dirty="0"/>
              <a:t>A escolha da chave é um processo delicado pois </a:t>
            </a:r>
            <a:r>
              <a:rPr lang="pt-BR" dirty="0">
                <a:solidFill>
                  <a:srgbClr val="C00000"/>
                </a:solidFill>
              </a:rPr>
              <a:t>podem existir diversos candidatos</a:t>
            </a:r>
          </a:p>
          <a:p>
            <a:pPr>
              <a:lnSpc>
                <a:spcPct val="100000"/>
              </a:lnSpc>
            </a:pPr>
            <a:r>
              <a:rPr lang="pt-BR" dirty="0"/>
              <a:t>O conjunto de </a:t>
            </a:r>
            <a:r>
              <a:rPr lang="pt-BR" dirty="0">
                <a:solidFill>
                  <a:srgbClr val="C00000"/>
                </a:solidFill>
              </a:rPr>
              <a:t>um</a:t>
            </a:r>
            <a:r>
              <a:rPr lang="pt-BR" dirty="0"/>
              <a:t> ou </a:t>
            </a:r>
            <a:r>
              <a:rPr lang="pt-BR" dirty="0">
                <a:solidFill>
                  <a:srgbClr val="C00000"/>
                </a:solidFill>
              </a:rPr>
              <a:t>mais atributos </a:t>
            </a:r>
            <a:r>
              <a:rPr lang="pt-BR" dirty="0"/>
              <a:t>que nos </a:t>
            </a:r>
            <a:r>
              <a:rPr lang="pt-BR" dirty="0">
                <a:solidFill>
                  <a:srgbClr val="002060"/>
                </a:solidFill>
              </a:rPr>
              <a:t>permite identificar inequivocamente uma </a:t>
            </a:r>
            <a:r>
              <a:rPr lang="pt-BR" dirty="0" err="1">
                <a:solidFill>
                  <a:srgbClr val="002060"/>
                </a:solidFill>
              </a:rPr>
              <a:t>tupla</a:t>
            </a:r>
            <a:r>
              <a:rPr lang="pt-BR" dirty="0">
                <a:solidFill>
                  <a:srgbClr val="002060"/>
                </a:solidFill>
              </a:rPr>
              <a:t> é conhecido como </a:t>
            </a:r>
            <a:r>
              <a:rPr lang="pt-BR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Superchave</a:t>
            </a:r>
            <a:endParaRPr lang="pt-BR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00000"/>
              </a:lnSpc>
            </a:pPr>
            <a:r>
              <a:rPr lang="pt-BR" dirty="0"/>
              <a:t>Duas </a:t>
            </a:r>
            <a:r>
              <a:rPr lang="pt-BR" dirty="0" err="1"/>
              <a:t>tuplas</a:t>
            </a:r>
            <a:r>
              <a:rPr lang="pt-BR" dirty="0"/>
              <a:t> não podem ter a mesma </a:t>
            </a:r>
            <a:r>
              <a:rPr lang="pt-BR" dirty="0" err="1"/>
              <a:t>superchave</a:t>
            </a:r>
            <a:endParaRPr lang="pt-BR" dirty="0"/>
          </a:p>
          <a:p>
            <a:pPr lvl="1">
              <a:lnSpc>
                <a:spcPct val="100000"/>
              </a:lnSpc>
            </a:pPr>
            <a:r>
              <a:rPr lang="pt-BR" dirty="0"/>
              <a:t>A </a:t>
            </a:r>
            <a:r>
              <a:rPr lang="pt-BR" dirty="0" err="1"/>
              <a:t>superchave</a:t>
            </a:r>
            <a:r>
              <a:rPr lang="pt-BR" dirty="0"/>
              <a:t> pode conter atributos desnecessários. </a:t>
            </a:r>
          </a:p>
          <a:p>
            <a:pPr lvl="1">
              <a:lnSpc>
                <a:spcPct val="100000"/>
              </a:lnSpc>
            </a:pPr>
            <a:r>
              <a:rPr lang="pt-BR" dirty="0"/>
              <a:t>Por exemplo: A relação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Pessoa(CPF, Nome, endereço,....) 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dirty="0"/>
              <a:t>pode ter como </a:t>
            </a:r>
            <a:r>
              <a:rPr lang="pt-BR" dirty="0" err="1"/>
              <a:t>superchave</a:t>
            </a:r>
            <a:r>
              <a:rPr lang="pt-BR" dirty="0"/>
              <a:t> </a:t>
            </a:r>
          </a:p>
          <a:p>
            <a:pPr lvl="3">
              <a:lnSpc>
                <a:spcPct val="100000"/>
              </a:lnSpc>
            </a:pPr>
            <a:r>
              <a:rPr lang="pt-BR" sz="2000" dirty="0">
                <a:solidFill>
                  <a:srgbClr val="002060"/>
                </a:solidFill>
              </a:rPr>
              <a:t>{CPF}, {CPF, nome}, {CPF, nome, </a:t>
            </a:r>
            <a:r>
              <a:rPr lang="pt-BR" sz="2000" dirty="0" err="1">
                <a:solidFill>
                  <a:srgbClr val="002060"/>
                </a:solidFill>
              </a:rPr>
              <a:t>Endereco</a:t>
            </a:r>
            <a:r>
              <a:rPr lang="pt-BR" sz="2000" dirty="0">
                <a:solidFill>
                  <a:srgbClr val="002060"/>
                </a:solidFill>
              </a:rPr>
              <a:t>}, Etc...</a:t>
            </a:r>
          </a:p>
          <a:p>
            <a:pPr lvl="3">
              <a:lnSpc>
                <a:spcPct val="100000"/>
              </a:lnSpc>
            </a:pPr>
            <a:endParaRPr lang="pt-BR" sz="2000" dirty="0"/>
          </a:p>
          <a:p>
            <a:pPr>
              <a:lnSpc>
                <a:spcPct val="100000"/>
              </a:lnSpc>
            </a:pPr>
            <a:endParaRPr lang="pt-BR" dirty="0"/>
          </a:p>
        </p:txBody>
      </p:sp>
      <p:sp>
        <p:nvSpPr>
          <p:cNvPr id="601090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368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 Chaves - Algumas Definições...</a:t>
            </a:r>
          </a:p>
        </p:txBody>
      </p:sp>
      <p:sp>
        <p:nvSpPr>
          <p:cNvPr id="603140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721945"/>
            <a:ext cx="10802416" cy="4788001"/>
          </a:xfrm>
        </p:spPr>
        <p:txBody>
          <a:bodyPr>
            <a:noAutofit/>
          </a:bodyPr>
          <a:lstStyle/>
          <a:p>
            <a:r>
              <a:rPr lang="pt-BR" b="1" dirty="0">
                <a:solidFill>
                  <a:srgbClr val="002060"/>
                </a:solidFill>
              </a:rPr>
              <a:t>Chave</a:t>
            </a:r>
          </a:p>
          <a:p>
            <a:pPr lvl="2"/>
            <a:r>
              <a:rPr lang="pt-BR" sz="2800" dirty="0"/>
              <a:t>É a</a:t>
            </a:r>
            <a:r>
              <a:rPr lang="pt-BR" sz="2800" dirty="0">
                <a:solidFill>
                  <a:srgbClr val="C00000"/>
                </a:solidFill>
              </a:rPr>
              <a:t> </a:t>
            </a:r>
            <a:r>
              <a:rPr lang="pt-BR" sz="2800" dirty="0" err="1">
                <a:solidFill>
                  <a:srgbClr val="C00000"/>
                </a:solidFill>
              </a:rPr>
              <a:t>Superchave</a:t>
            </a:r>
            <a:r>
              <a:rPr lang="pt-BR" sz="2800" dirty="0">
                <a:solidFill>
                  <a:srgbClr val="C00000"/>
                </a:solidFill>
              </a:rPr>
              <a:t> mínima</a:t>
            </a:r>
          </a:p>
          <a:p>
            <a:pPr lvl="2"/>
            <a:r>
              <a:rPr lang="pt-BR" sz="2800" dirty="0"/>
              <a:t>Pode existir mais de uma chave nesta condição: </a:t>
            </a:r>
            <a:r>
              <a:rPr lang="pt-BR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Chaves Candidatas</a:t>
            </a:r>
          </a:p>
          <a:p>
            <a:pPr lvl="2"/>
            <a:r>
              <a:rPr lang="pt-BR" sz="2800" dirty="0"/>
              <a:t>são as menores </a:t>
            </a:r>
            <a:r>
              <a:rPr lang="pt-BR" sz="2800" dirty="0" err="1"/>
              <a:t>superchaves</a:t>
            </a:r>
            <a:r>
              <a:rPr lang="pt-BR" sz="2800" dirty="0"/>
              <a:t> possíveis (cujos subconjuntos não sejam </a:t>
            </a:r>
            <a:r>
              <a:rPr lang="pt-BR" sz="2800" dirty="0" err="1"/>
              <a:t>superchaves</a:t>
            </a:r>
            <a:r>
              <a:rPr lang="pt-BR" sz="2800" dirty="0"/>
              <a:t>)</a:t>
            </a:r>
          </a:p>
          <a:p>
            <a:pPr lvl="2"/>
            <a:endParaRPr lang="pt-BR" sz="2800" dirty="0"/>
          </a:p>
          <a:p>
            <a:pPr lvl="1"/>
            <a:r>
              <a:rPr lang="pt-BR" sz="2800" dirty="0"/>
              <a:t>Por exemplo, na relação </a:t>
            </a:r>
          </a:p>
          <a:p>
            <a:pPr marL="457200" lvl="1" indent="0">
              <a:buNone/>
            </a:pPr>
            <a:r>
              <a:rPr lang="pt-BR" sz="2800" dirty="0">
                <a:solidFill>
                  <a:srgbClr val="002060"/>
                </a:solidFill>
              </a:rPr>
              <a:t>	Empregado(</a:t>
            </a:r>
            <a:r>
              <a:rPr lang="pt-BR" sz="2800" dirty="0" err="1">
                <a:solidFill>
                  <a:srgbClr val="002060"/>
                </a:solidFill>
              </a:rPr>
              <a:t>Mat</a:t>
            </a:r>
            <a:r>
              <a:rPr lang="pt-BR" sz="2800" dirty="0">
                <a:solidFill>
                  <a:srgbClr val="002060"/>
                </a:solidFill>
              </a:rPr>
              <a:t>, CPF, Nome, </a:t>
            </a:r>
            <a:r>
              <a:rPr lang="pt-BR" sz="2800" dirty="0" err="1">
                <a:solidFill>
                  <a:srgbClr val="002060"/>
                </a:solidFill>
              </a:rPr>
              <a:t>Ndata</a:t>
            </a:r>
            <a:r>
              <a:rPr lang="pt-BR" sz="2800" dirty="0">
                <a:solidFill>
                  <a:srgbClr val="002060"/>
                </a:solidFill>
              </a:rPr>
              <a:t>, </a:t>
            </a:r>
            <a:r>
              <a:rPr lang="pt-BR" sz="2800" dirty="0" err="1">
                <a:solidFill>
                  <a:srgbClr val="002060"/>
                </a:solidFill>
              </a:rPr>
              <a:t>Endereco</a:t>
            </a:r>
            <a:r>
              <a:rPr lang="pt-BR" sz="2800" dirty="0">
                <a:solidFill>
                  <a:srgbClr val="002060"/>
                </a:solidFill>
              </a:rPr>
              <a:t>, </a:t>
            </a:r>
            <a:r>
              <a:rPr lang="pt-BR" sz="2800" i="1" dirty="0" err="1">
                <a:solidFill>
                  <a:srgbClr val="002060"/>
                </a:solidFill>
              </a:rPr>
              <a:t>Depnum</a:t>
            </a:r>
            <a:r>
              <a:rPr lang="pt-BR" sz="2800" dirty="0">
                <a:solidFill>
                  <a:srgbClr val="002060"/>
                </a:solidFill>
              </a:rPr>
              <a:t>)</a:t>
            </a:r>
          </a:p>
          <a:p>
            <a:pPr marL="1280160" lvl="3" indent="-457200">
              <a:buFont typeface="Wingdings" panose="05000000000000000000" pitchFamily="2" charset="2"/>
              <a:buChar char="ü"/>
            </a:pPr>
            <a:r>
              <a:rPr lang="pt-BR" sz="2800" dirty="0">
                <a:solidFill>
                  <a:srgbClr val="C00000"/>
                </a:solidFill>
              </a:rPr>
              <a:t>Chaves:  {CPF} ou {</a:t>
            </a:r>
            <a:r>
              <a:rPr lang="pt-BR" sz="2800" dirty="0" err="1">
                <a:solidFill>
                  <a:srgbClr val="C00000"/>
                </a:solidFill>
              </a:rPr>
              <a:t>Mat</a:t>
            </a:r>
            <a:r>
              <a:rPr lang="pt-BR" sz="2800" dirty="0">
                <a:solidFill>
                  <a:srgbClr val="C00000"/>
                </a:solidFill>
              </a:rPr>
              <a:t>}</a:t>
            </a:r>
          </a:p>
          <a:p>
            <a:pPr lvl="2"/>
            <a:endParaRPr lang="pt-BR" sz="2800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0313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Harkovsky, MSc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09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20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sp>
        <p:nvSpPr>
          <p:cNvPr id="21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603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Primária</a:t>
            </a:r>
          </a:p>
        </p:txBody>
      </p:sp>
      <p:sp>
        <p:nvSpPr>
          <p:cNvPr id="603140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18088"/>
            <a:ext cx="10654208" cy="1584177"/>
          </a:xfrm>
        </p:spPr>
        <p:txBody>
          <a:bodyPr>
            <a:no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Chave Primária </a:t>
            </a:r>
            <a:r>
              <a:rPr lang="pt-BR" sz="2400" dirty="0"/>
              <a:t>-&gt; </a:t>
            </a:r>
            <a:r>
              <a:rPr lang="pt-BR" sz="2400" dirty="0">
                <a:solidFill>
                  <a:srgbClr val="C00000"/>
                </a:solidFill>
              </a:rPr>
              <a:t>Chave Candidata escolhida</a:t>
            </a:r>
          </a:p>
          <a:p>
            <a:pPr lvl="1"/>
            <a:r>
              <a:rPr lang="pt-BR" dirty="0"/>
              <a:t>O restante das chaves candidatas são chamadas </a:t>
            </a:r>
            <a:r>
              <a:rPr lang="pt-BR" dirty="0">
                <a:solidFill>
                  <a:srgbClr val="C00000"/>
                </a:solidFill>
              </a:rPr>
              <a:t>chaves únicas</a:t>
            </a:r>
          </a:p>
          <a:p>
            <a:r>
              <a:rPr lang="pt-PT" sz="2400" dirty="0"/>
              <a:t>Chave Primária </a:t>
            </a:r>
            <a:r>
              <a:rPr lang="pt-PT" sz="2400" dirty="0">
                <a:solidFill>
                  <a:srgbClr val="C00000"/>
                </a:solidFill>
              </a:rPr>
              <a:t>identifica exclusivamente </a:t>
            </a:r>
            <a:r>
              <a:rPr lang="pt-PT" sz="2400" dirty="0"/>
              <a:t>cada registro em uma tabela </a:t>
            </a:r>
          </a:p>
          <a:p>
            <a:r>
              <a:rPr lang="pt-PT" sz="2400" dirty="0"/>
              <a:t>É uma chave candidata que é mais apropriada para se tornar </a:t>
            </a:r>
            <a:r>
              <a:rPr lang="pt-PT" sz="2400" dirty="0">
                <a:solidFill>
                  <a:srgbClr val="C00000"/>
                </a:solidFill>
              </a:rPr>
              <a:t>chave principal </a:t>
            </a:r>
          </a:p>
          <a:p>
            <a:r>
              <a:rPr lang="pt-BR" sz="2400" dirty="0"/>
              <a:t>Por convenção, ela aparece sublinhada num esquema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60313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Harkovsky, MSc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28</a:t>
            </a:fld>
            <a:endParaRPr lang="pt-BR"/>
          </a:p>
        </p:txBody>
      </p:sp>
      <p:graphicFrame>
        <p:nvGraphicFramePr>
          <p:cNvPr id="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988920"/>
              </p:ext>
            </p:extLst>
          </p:nvPr>
        </p:nvGraphicFramePr>
        <p:xfrm>
          <a:off x="1712912" y="3989784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774445"/>
              </p:ext>
            </p:extLst>
          </p:nvPr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665212"/>
              </p:ext>
            </p:extLst>
          </p:nvPr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Elipse 1"/>
          <p:cNvSpPr/>
          <p:nvPr/>
        </p:nvSpPr>
        <p:spPr>
          <a:xfrm>
            <a:off x="1560512" y="3761185"/>
            <a:ext cx="1007096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7536160" y="3820095"/>
            <a:ext cx="1007096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514422" y="5108315"/>
            <a:ext cx="1941618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163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9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20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sp>
        <p:nvSpPr>
          <p:cNvPr id="21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sp>
        <p:nvSpPr>
          <p:cNvPr id="603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Estrangeira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14400" y="1579980"/>
            <a:ext cx="10439400" cy="1847629"/>
          </a:xfrm>
        </p:spPr>
        <p:txBody>
          <a:bodyPr>
            <a:noAutofit/>
          </a:bodyPr>
          <a:lstStyle/>
          <a:p>
            <a:r>
              <a:rPr lang="pt-PT" dirty="0"/>
              <a:t>Uma </a:t>
            </a:r>
            <a:r>
              <a:rPr lang="pt-PT" b="1" dirty="0">
                <a:solidFill>
                  <a:srgbClr val="002060"/>
                </a:solidFill>
              </a:rPr>
              <a:t>chave estrangeira </a:t>
            </a:r>
            <a:r>
              <a:rPr lang="pt-PT" dirty="0"/>
              <a:t>é um campo (ou conjunto de campos) em uma tabela que </a:t>
            </a:r>
            <a:r>
              <a:rPr lang="pt-PT" dirty="0">
                <a:solidFill>
                  <a:srgbClr val="C00000"/>
                </a:solidFill>
              </a:rPr>
              <a:t>identifica unicamente </a:t>
            </a:r>
            <a:r>
              <a:rPr lang="pt-PT" dirty="0"/>
              <a:t>uma linha de outra tabela ou na mesma.</a:t>
            </a:r>
          </a:p>
          <a:p>
            <a:r>
              <a:rPr lang="pt-PT" dirty="0">
                <a:solidFill>
                  <a:srgbClr val="C00000"/>
                </a:solidFill>
              </a:rPr>
              <a:t>Aponta</a:t>
            </a:r>
            <a:r>
              <a:rPr lang="pt-PT" dirty="0"/>
              <a:t> para </a:t>
            </a:r>
            <a:r>
              <a:rPr lang="pt-PT" dirty="0">
                <a:solidFill>
                  <a:srgbClr val="C00000"/>
                </a:solidFill>
              </a:rPr>
              <a:t>chave primária </a:t>
            </a:r>
            <a:r>
              <a:rPr lang="pt-PT" dirty="0"/>
              <a:t>de </a:t>
            </a:r>
            <a:r>
              <a:rPr lang="pt-PT" dirty="0">
                <a:solidFill>
                  <a:srgbClr val="C00000"/>
                </a:solidFill>
              </a:rPr>
              <a:t>outra relação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60313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Harkovsky, MSc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29</a:t>
            </a:fld>
            <a:endParaRPr lang="pt-BR"/>
          </a:p>
        </p:txBody>
      </p:sp>
      <p:graphicFrame>
        <p:nvGraphicFramePr>
          <p:cNvPr id="7" name="Table 3"/>
          <p:cNvGraphicFramePr>
            <a:graphicFrameLocks noGrp="1"/>
          </p:cNvGraphicFramePr>
          <p:nvPr/>
        </p:nvGraphicFramePr>
        <p:xfrm>
          <a:off x="1712912" y="3989784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5"/>
          <p:cNvGraphicFramePr>
            <a:graphicFrameLocks noGrp="1"/>
          </p:cNvGraphicFramePr>
          <p:nvPr/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7"/>
          <p:cNvGraphicFramePr>
            <a:graphicFrameLocks noGrp="1"/>
          </p:cNvGraphicFramePr>
          <p:nvPr/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2" name="Straight Arrow Connector 10"/>
          <p:cNvCxnSpPr/>
          <p:nvPr/>
        </p:nvCxnSpPr>
        <p:spPr>
          <a:xfrm flipH="1" flipV="1">
            <a:off x="2207568" y="4941168"/>
            <a:ext cx="2477144" cy="1182216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1"/>
          <p:cNvCxnSpPr>
            <a:endCxn id="9" idx="1"/>
          </p:cNvCxnSpPr>
          <p:nvPr/>
        </p:nvCxnSpPr>
        <p:spPr>
          <a:xfrm flipV="1">
            <a:off x="5980112" y="4546044"/>
            <a:ext cx="1752600" cy="1543812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4440832" y="5057698"/>
            <a:ext cx="868554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5406318" y="5085185"/>
            <a:ext cx="905707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540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Chave Estrangeira – exemplo mais completo</a:t>
            </a:r>
            <a:endParaRPr lang="en-US" dirty="0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914400" y="1621578"/>
            <a:ext cx="10222160" cy="2334576"/>
          </a:xfrm>
        </p:spPr>
        <p:txBody>
          <a:bodyPr>
            <a:noAutofit/>
          </a:bodyPr>
          <a:lstStyle/>
          <a:p>
            <a:r>
              <a:rPr lang="pt-BR" sz="2400" dirty="0"/>
              <a:t>Suponha que temos o seguinte esquema: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4000" dirty="0"/>
          </a:p>
          <a:p>
            <a:r>
              <a:rPr lang="pt-BR" sz="2400" dirty="0"/>
              <a:t>Para estar matriculado em um curso (</a:t>
            </a:r>
            <a:r>
              <a:rPr lang="pt-BR" sz="2400" dirty="0" err="1"/>
              <a:t>cid</a:t>
            </a:r>
            <a:r>
              <a:rPr lang="pt-BR" sz="2400" dirty="0"/>
              <a:t>), um estudante (</a:t>
            </a:r>
            <a:r>
              <a:rPr lang="pt-BR" sz="2400" dirty="0" err="1"/>
              <a:t>sid</a:t>
            </a:r>
            <a:r>
              <a:rPr lang="pt-BR" sz="2400" dirty="0"/>
              <a:t>) deve aparecer na tabela matrícula;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30</a:t>
            </a:fld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8106908" y="1676211"/>
            <a:ext cx="388843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57175" indent="-257175" algn="ctr"/>
            <a:r>
              <a:rPr lang="pt-PT" b="1" dirty="0">
                <a:latin typeface="+mj-lt"/>
              </a:rPr>
              <a:t>student_id por si só não é uma chave primaria de Matricula – qual seria?</a:t>
            </a:r>
            <a:r>
              <a:rPr lang="en-US" b="1" dirty="0">
                <a:latin typeface="+mj-lt"/>
              </a:rPr>
              <a:t>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686110"/>
              </p:ext>
            </p:extLst>
          </p:nvPr>
        </p:nvGraphicFramePr>
        <p:xfrm>
          <a:off x="2063552" y="4282064"/>
          <a:ext cx="1752376" cy="11448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1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06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sid</a:t>
                      </a:r>
                      <a:endParaRPr lang="en-US" sz="1400" b="1" dirty="0"/>
                    </a:p>
                  </a:txBody>
                  <a:tcPr marL="68580" marR="68580" marT="34290" marB="3429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 err="1"/>
                        <a:t>nome</a:t>
                      </a:r>
                      <a:endParaRPr lang="en-US" sz="1400" b="1" dirty="0"/>
                    </a:p>
                  </a:txBody>
                  <a:tcPr marL="68580" marR="68580" marT="34290" marB="3429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CR</a:t>
                      </a:r>
                    </a:p>
                  </a:txBody>
                  <a:tcPr marL="68580" marR="68580" marT="34290" marB="3429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101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Bob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3.2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123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Maria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9.8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456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joao</a:t>
                      </a:r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6.9</a:t>
                      </a:r>
                    </a:p>
                  </a:txBody>
                  <a:tcPr marL="68580" marR="68580" marT="34290" marB="3429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5751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83236"/>
              </p:ext>
            </p:extLst>
          </p:nvPr>
        </p:nvGraphicFramePr>
        <p:xfrm>
          <a:off x="4803045" y="4282066"/>
          <a:ext cx="2543289" cy="16947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00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student_id</a:t>
                      </a:r>
                      <a:endParaRPr lang="en-US" sz="1400" b="1" dirty="0"/>
                    </a:p>
                  </a:txBody>
                  <a:tcPr marL="68580" marR="68580" marT="34290" marB="3429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Cursoid</a:t>
                      </a:r>
                      <a:endParaRPr lang="en-US" sz="1400" b="1" dirty="0"/>
                    </a:p>
                  </a:txBody>
                  <a:tcPr marL="68580" marR="68580" marT="34290" marB="3429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/>
                        <a:t>grau</a:t>
                      </a:r>
                      <a:endParaRPr lang="en-US" sz="1400" b="1" dirty="0"/>
                    </a:p>
                  </a:txBody>
                  <a:tcPr marL="68580" marR="68580" marT="34290" marB="3429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123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564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9,0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123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537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7,5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101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564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8,2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8583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456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564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9,1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87124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456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537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7,6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9569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236723" y="4005064"/>
            <a:ext cx="12923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Estudantes</a:t>
            </a:r>
            <a:endParaRPr lang="en-US" sz="1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4737731" y="4005064"/>
            <a:ext cx="11932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/>
              <a:t>Matricula</a:t>
            </a:r>
            <a:endParaRPr lang="en-US" sz="16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679864" y="6008464"/>
            <a:ext cx="9456696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2100" dirty="0"/>
              <a:t>Dizemos que </a:t>
            </a:r>
            <a:r>
              <a:rPr lang="pt-BR" sz="2100" dirty="0" err="1"/>
              <a:t>student_id</a:t>
            </a:r>
            <a:r>
              <a:rPr lang="pt-BR" sz="2100" dirty="0"/>
              <a:t> é uma </a:t>
            </a:r>
            <a:r>
              <a:rPr lang="pt-BR" sz="2100" b="1" u="sng" dirty="0"/>
              <a:t>chave estrangeira</a:t>
            </a:r>
            <a:r>
              <a:rPr lang="pt-BR" sz="2100" dirty="0"/>
              <a:t> que se refere a estudantes (</a:t>
            </a:r>
            <a:r>
              <a:rPr lang="pt-BR" sz="2100" dirty="0" err="1"/>
              <a:t>sid</a:t>
            </a:r>
            <a:r>
              <a:rPr lang="pt-BR" sz="2100" dirty="0"/>
              <a:t>)</a:t>
            </a:r>
          </a:p>
          <a:p>
            <a:r>
              <a:rPr lang="pt-BR" sz="2100" dirty="0"/>
              <a:t>Da mesma forma, </a:t>
            </a:r>
            <a:r>
              <a:rPr lang="pt-BR" sz="2100" dirty="0" err="1"/>
              <a:t>CursoId</a:t>
            </a:r>
            <a:r>
              <a:rPr lang="pt-BR" sz="2100" dirty="0"/>
              <a:t> é uma </a:t>
            </a:r>
            <a:r>
              <a:rPr lang="pt-BR" sz="2100" u="sng" dirty="0"/>
              <a:t>chave estrangeira</a:t>
            </a:r>
            <a:r>
              <a:rPr lang="pt-BR" sz="2100" dirty="0"/>
              <a:t> que se refere a Cursos (</a:t>
            </a:r>
            <a:r>
              <a:rPr lang="pt-BR" sz="2100" dirty="0" err="1"/>
              <a:t>cid</a:t>
            </a:r>
            <a:r>
              <a:rPr lang="pt-BR" sz="2100" dirty="0"/>
              <a:t>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815928" y="4725144"/>
            <a:ext cx="987118" cy="249080"/>
          </a:xfrm>
          <a:prstGeom prst="straightConnector1">
            <a:avLst/>
          </a:prstGeom>
          <a:ln w="57150">
            <a:prstDash val="solid"/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2031580" y="2050567"/>
            <a:ext cx="5216548" cy="12003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Estudante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600" u="sng" dirty="0" err="1">
                <a:latin typeface="Menlo" charset="0"/>
                <a:ea typeface="Menlo" charset="0"/>
                <a:cs typeface="Menlo" charset="0"/>
              </a:rPr>
              <a:t>sid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: string,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 </a:t>
            </a: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nome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, CR: 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float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Matricula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600" u="sng" dirty="0" err="1">
                <a:latin typeface="Menlo" charset="0"/>
                <a:ea typeface="Menlo" charset="0"/>
                <a:cs typeface="Menlo" charset="0"/>
              </a:rPr>
              <a:t>student_id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string, </a:t>
            </a:r>
            <a:r>
              <a:rPr lang="en-US" sz="1600" u="sng" dirty="0" err="1">
                <a:latin typeface="Menlo" charset="0"/>
                <a:ea typeface="Menlo" charset="0"/>
                <a:cs typeface="Menlo" charset="0"/>
              </a:rPr>
              <a:t>cursoid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, </a:t>
            </a: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grau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</a:t>
            </a:r>
            <a:r>
              <a:rPr lang="en-US" sz="1600" i="1" dirty="0">
                <a:latin typeface="Menlo" charset="0"/>
                <a:ea typeface="Menlo" charset="0"/>
                <a:cs typeface="Menlo" charset="0"/>
              </a:rPr>
              <a:t>string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)</a:t>
            </a:r>
          </a:p>
          <a:p>
            <a:pPr>
              <a:lnSpc>
                <a:spcPct val="150000"/>
              </a:lnSpc>
              <a:buFontTx/>
              <a:buNone/>
            </a:pP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Cursos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(</a:t>
            </a:r>
            <a:r>
              <a:rPr lang="en-US" sz="1600" u="sng" dirty="0">
                <a:latin typeface="Menlo" charset="0"/>
                <a:ea typeface="Menlo" charset="0"/>
                <a:cs typeface="Menlo" charset="0"/>
              </a:rPr>
              <a:t>Cid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String; </a:t>
            </a: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cnome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string, ; </a:t>
            </a:r>
            <a:r>
              <a:rPr lang="en-US" sz="1600" dirty="0" err="1">
                <a:latin typeface="Menlo" charset="0"/>
                <a:ea typeface="Menlo" charset="0"/>
                <a:cs typeface="Menlo" charset="0"/>
              </a:rPr>
              <a:t>credito</a:t>
            </a:r>
            <a:r>
              <a:rPr lang="en-US" sz="1600" dirty="0">
                <a:latin typeface="Menlo" charset="0"/>
                <a:ea typeface="Menlo" charset="0"/>
                <a:cs typeface="Menlo" charset="0"/>
              </a:rPr>
              <a:t>: float)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815929" y="5013176"/>
            <a:ext cx="987119" cy="0"/>
          </a:xfrm>
          <a:prstGeom prst="straightConnector1">
            <a:avLst/>
          </a:prstGeom>
          <a:ln w="57150">
            <a:headEnd type="triangl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346335" y="400506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graphicFrame>
        <p:nvGraphicFramePr>
          <p:cNvPr id="1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551131"/>
              </p:ext>
            </p:extLst>
          </p:nvPr>
        </p:nvGraphicFramePr>
        <p:xfrm>
          <a:off x="7857272" y="4300744"/>
          <a:ext cx="2895600" cy="1237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7857"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cid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cnome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credito</a:t>
                      </a:r>
                      <a:endParaRPr 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57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26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BD</a:t>
                      </a:r>
                      <a:r>
                        <a:rPr lang="en-US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726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BD II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07522"/>
                  </a:ext>
                </a:extLst>
              </a:tr>
            </a:tbl>
          </a:graphicData>
        </a:graphic>
      </p:graphicFrame>
      <p:cxnSp>
        <p:nvCxnSpPr>
          <p:cNvPr id="18" name="Straight Arrow Connector 10"/>
          <p:cNvCxnSpPr/>
          <p:nvPr/>
        </p:nvCxnSpPr>
        <p:spPr>
          <a:xfrm>
            <a:off x="6240016" y="4710490"/>
            <a:ext cx="1617256" cy="14654"/>
          </a:xfrm>
          <a:prstGeom prst="straightConnector1">
            <a:avLst/>
          </a:prstGeom>
          <a:ln w="57150">
            <a:prstDash val="soli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0"/>
          <p:cNvCxnSpPr/>
          <p:nvPr/>
        </p:nvCxnSpPr>
        <p:spPr>
          <a:xfrm flipV="1">
            <a:off x="6240016" y="4835030"/>
            <a:ext cx="1617256" cy="447718"/>
          </a:xfrm>
          <a:prstGeom prst="straightConnector1">
            <a:avLst/>
          </a:prstGeom>
          <a:ln w="57150">
            <a:prstDash val="soli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10"/>
          <p:cNvCxnSpPr>
            <a:endCxn id="17" idx="1"/>
          </p:cNvCxnSpPr>
          <p:nvPr/>
        </p:nvCxnSpPr>
        <p:spPr>
          <a:xfrm flipV="1">
            <a:off x="6240016" y="4919270"/>
            <a:ext cx="1617256" cy="621536"/>
          </a:xfrm>
          <a:prstGeom prst="straightConnector1">
            <a:avLst/>
          </a:prstGeom>
          <a:ln w="57150">
            <a:prstDash val="solid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5344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13" grpId="0"/>
      <p:bldP spid="14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Restrições</a:t>
            </a:r>
          </a:p>
        </p:txBody>
      </p:sp>
      <p:sp>
        <p:nvSpPr>
          <p:cNvPr id="783362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 dirty="0">
                <a:latin typeface="Arial" charset="0"/>
              </a:rPr>
              <a:t>Roberto </a:t>
            </a:r>
            <a:r>
              <a:rPr lang="pt-BR" altLang="en-US" dirty="0" err="1">
                <a:latin typeface="Arial" charset="0"/>
              </a:rPr>
              <a:t>Harkovsky</a:t>
            </a:r>
            <a:endParaRPr lang="pt-BR" altLang="en-US" dirty="0">
              <a:latin typeface="Arial" charset="0"/>
            </a:endParaRPr>
          </a:p>
        </p:txBody>
      </p:sp>
      <p:sp>
        <p:nvSpPr>
          <p:cNvPr id="78336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fld id="{7B3F39A4-ADD0-44F5-AE43-0526E1C69251}" type="slidenum">
              <a:rPr lang="pt-BR" altLang="en-US" smtClean="0">
                <a:latin typeface="Arial" charset="0"/>
              </a:rPr>
              <a:pPr/>
              <a:t>31</a:t>
            </a:fld>
            <a:endParaRPr lang="pt-BR" altLang="en-US">
              <a:latin typeface="Arial" charset="0"/>
            </a:endParaRPr>
          </a:p>
        </p:txBody>
      </p:sp>
      <p:sp>
        <p:nvSpPr>
          <p:cNvPr id="17510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988840"/>
            <a:ext cx="10396728" cy="310688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pt-BR" sz="3200" dirty="0"/>
              <a:t>Uma </a:t>
            </a:r>
            <a:r>
              <a:rPr lang="pt-BR" sz="3200" dirty="0">
                <a:solidFill>
                  <a:srgbClr val="000099"/>
                </a:solidFill>
              </a:rPr>
              <a:t>Restrição</a:t>
            </a:r>
            <a:r>
              <a:rPr lang="pt-BR" sz="3200" dirty="0"/>
              <a:t> é uma propriedade associada a uma </a:t>
            </a:r>
            <a:r>
              <a:rPr lang="pt-BR" sz="3200" dirty="0">
                <a:solidFill>
                  <a:srgbClr val="000099"/>
                </a:solidFill>
              </a:rPr>
              <a:t>coluna</a:t>
            </a:r>
            <a:r>
              <a:rPr lang="pt-BR" sz="3200" dirty="0"/>
              <a:t>, ou </a:t>
            </a:r>
            <a:r>
              <a:rPr lang="pt-BR" sz="3200" dirty="0">
                <a:solidFill>
                  <a:srgbClr val="000099"/>
                </a:solidFill>
              </a:rPr>
              <a:t>conjunto de colunas</a:t>
            </a:r>
            <a:r>
              <a:rPr lang="pt-BR" sz="3200" dirty="0"/>
              <a:t> numa tabela, que previne certos tipos de </a:t>
            </a:r>
            <a:r>
              <a:rPr lang="pt-BR" sz="3200" dirty="0">
                <a:solidFill>
                  <a:srgbClr val="C00000"/>
                </a:solidFill>
              </a:rPr>
              <a:t>inconsistências de valores de dados</a:t>
            </a:r>
            <a:r>
              <a:rPr lang="pt-BR" sz="3200" dirty="0"/>
              <a:t> serem colocados nestas coluna(s). </a:t>
            </a:r>
          </a:p>
          <a:p>
            <a:pPr>
              <a:lnSpc>
                <a:spcPct val="80000"/>
              </a:lnSpc>
              <a:defRPr/>
            </a:pPr>
            <a:endParaRPr lang="pt-BR" sz="3200" dirty="0">
              <a:solidFill>
                <a:srgbClr val="000099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pt-BR" sz="3200" dirty="0">
                <a:solidFill>
                  <a:srgbClr val="000099"/>
                </a:solidFill>
              </a:rPr>
              <a:t>Restrições</a:t>
            </a:r>
            <a:r>
              <a:rPr lang="pt-BR" sz="3200" dirty="0"/>
              <a:t> são utilizados para </a:t>
            </a:r>
            <a:r>
              <a:rPr lang="pt-BR" sz="3200" dirty="0">
                <a:solidFill>
                  <a:srgbClr val="C00000"/>
                </a:solidFill>
              </a:rPr>
              <a:t>reforçar integridade </a:t>
            </a:r>
            <a:r>
              <a:rPr lang="pt-BR" sz="3200" dirty="0"/>
              <a:t>dos dados, garantindo uma exatidão e confiabilidade dos dados no BD.</a:t>
            </a:r>
          </a:p>
        </p:txBody>
      </p:sp>
    </p:spTree>
    <p:extLst>
      <p:ext uri="{BB962C8B-B14F-4D97-AF65-F5344CB8AC3E}">
        <p14:creationId xmlns:p14="http://schemas.microsoft.com/office/powerpoint/2010/main" val="39264494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Restrições</a:t>
            </a:r>
            <a:br>
              <a:rPr lang="pt-BR"/>
            </a:br>
            <a:r>
              <a:rPr lang="pt-BR"/>
              <a:t>Checando Integridade</a:t>
            </a:r>
            <a:endParaRPr lang="pt-BR" dirty="0"/>
          </a:p>
        </p:txBody>
      </p:sp>
      <p:sp>
        <p:nvSpPr>
          <p:cNvPr id="17510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825625"/>
            <a:ext cx="10802416" cy="23954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Integridade de Entidade</a:t>
            </a:r>
          </a:p>
          <a:p>
            <a:pPr lvl="1"/>
            <a:r>
              <a:rPr lang="pt-BR" dirty="0"/>
              <a:t>Nenhuma </a:t>
            </a:r>
            <a:r>
              <a:rPr lang="pt-BR" dirty="0" err="1"/>
              <a:t>tupla</a:t>
            </a:r>
            <a:r>
              <a:rPr lang="pt-BR" dirty="0"/>
              <a:t> da relação poderá ter valor nulo no atributo chave primária (PK)</a:t>
            </a:r>
          </a:p>
          <a:p>
            <a:pPr lvl="1"/>
            <a:r>
              <a:rPr lang="pt-BR" dirty="0"/>
              <a:t>Propriedade da PK também garante que não existe 2 linhas (</a:t>
            </a:r>
            <a:r>
              <a:rPr lang="pt-BR" dirty="0" err="1"/>
              <a:t>tuplas</a:t>
            </a:r>
            <a:r>
              <a:rPr lang="pt-BR" dirty="0"/>
              <a:t>) duplicadas</a:t>
            </a:r>
          </a:p>
          <a:p>
            <a:pPr lvl="2"/>
            <a:endParaRPr lang="pt-BR" sz="2400" dirty="0"/>
          </a:p>
          <a:p>
            <a:endParaRPr lang="pt-BR" sz="2400" dirty="0"/>
          </a:p>
        </p:txBody>
      </p:sp>
      <p:sp>
        <p:nvSpPr>
          <p:cNvPr id="783362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</a:t>
            </a:r>
          </a:p>
        </p:txBody>
      </p:sp>
      <p:sp>
        <p:nvSpPr>
          <p:cNvPr id="78336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39A4-ADD0-44F5-AE43-0526E1C69251}" type="slidenum">
              <a:rPr lang="pt-BR" altLang="en-US" smtClean="0"/>
              <a:pPr/>
              <a:t>32</a:t>
            </a:fld>
            <a:endParaRPr lang="pt-BR" altLang="en-US"/>
          </a:p>
        </p:txBody>
      </p:sp>
      <p:sp>
        <p:nvSpPr>
          <p:cNvPr id="10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11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12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sp>
        <p:nvSpPr>
          <p:cNvPr id="13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graphicFrame>
        <p:nvGraphicFramePr>
          <p:cNvPr id="1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77316"/>
              </p:ext>
            </p:extLst>
          </p:nvPr>
        </p:nvGraphicFramePr>
        <p:xfrm>
          <a:off x="1712912" y="3989784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991633"/>
              </p:ext>
            </p:extLst>
          </p:nvPr>
        </p:nvGraphicFramePr>
        <p:xfrm>
          <a:off x="7732712" y="3989784"/>
          <a:ext cx="28956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 II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10779"/>
                  </a:ext>
                </a:extLst>
              </a:tr>
            </a:tbl>
          </a:graphicData>
        </a:graphic>
      </p:graphicFrame>
      <p:graphicFrame>
        <p:nvGraphicFramePr>
          <p:cNvPr id="16" name="Table 7"/>
          <p:cNvGraphicFramePr>
            <a:graphicFrameLocks noGrp="1"/>
          </p:cNvGraphicFramePr>
          <p:nvPr/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Elipse 19"/>
          <p:cNvSpPr/>
          <p:nvPr/>
        </p:nvSpPr>
        <p:spPr>
          <a:xfrm>
            <a:off x="4568824" y="5745361"/>
            <a:ext cx="1743201" cy="56395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1545232" y="4585752"/>
            <a:ext cx="2682280" cy="59630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7580784" y="4290072"/>
            <a:ext cx="868554" cy="962040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Multiplicar 5"/>
          <p:cNvSpPr/>
          <p:nvPr/>
        </p:nvSpPr>
        <p:spPr>
          <a:xfrm>
            <a:off x="911447" y="4546044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Multiplicar 16"/>
          <p:cNvSpPr/>
          <p:nvPr/>
        </p:nvSpPr>
        <p:spPr>
          <a:xfrm>
            <a:off x="7138636" y="4952224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7665345" y="5004473"/>
            <a:ext cx="725960" cy="59630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258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Restrições</a:t>
            </a:r>
            <a:br>
              <a:rPr lang="pt-BR"/>
            </a:br>
            <a:r>
              <a:rPr lang="pt-BR"/>
              <a:t>Checando Integridade</a:t>
            </a:r>
            <a:endParaRPr lang="pt-BR" dirty="0"/>
          </a:p>
        </p:txBody>
      </p:sp>
      <p:sp>
        <p:nvSpPr>
          <p:cNvPr id="17510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Integridade de Domínio</a:t>
            </a:r>
          </a:p>
          <a:p>
            <a:pPr lvl="1"/>
            <a:r>
              <a:rPr lang="pt-BR" dirty="0"/>
              <a:t>Reforça a validação dos dados, em termos de tipo, formato ou intervalo de valores.</a:t>
            </a:r>
          </a:p>
          <a:p>
            <a:r>
              <a:rPr lang="pt-BR" sz="2400" dirty="0"/>
              <a:t>Exemplo: </a:t>
            </a:r>
            <a:r>
              <a:rPr lang="pt-BR" sz="2400" dirty="0">
                <a:solidFill>
                  <a:srgbClr val="002060"/>
                </a:solidFill>
              </a:rPr>
              <a:t>credito &gt; 0; Grau  &gt; 0 e &lt; 10; Sexo: {M, F}</a:t>
            </a:r>
          </a:p>
          <a:p>
            <a:endParaRPr lang="pt-BR" sz="2400" dirty="0"/>
          </a:p>
        </p:txBody>
      </p:sp>
      <p:sp>
        <p:nvSpPr>
          <p:cNvPr id="783362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altLang="en-US"/>
              <a:t>Roberto Harkovsky</a:t>
            </a:r>
          </a:p>
        </p:txBody>
      </p:sp>
      <p:sp>
        <p:nvSpPr>
          <p:cNvPr id="783363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F39A4-ADD0-44F5-AE43-0526E1C69251}" type="slidenum">
              <a:rPr lang="pt-BR" altLang="en-US" smtClean="0"/>
              <a:pPr/>
              <a:t>33</a:t>
            </a:fld>
            <a:endParaRPr lang="pt-BR" altLang="en-US"/>
          </a:p>
        </p:txBody>
      </p:sp>
      <p:sp>
        <p:nvSpPr>
          <p:cNvPr id="6" name="Espaço Reservado para Rodapé 4"/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altLang="en-US"/>
              <a:t>Roberto Harkovsky</a:t>
            </a:r>
          </a:p>
        </p:txBody>
      </p:sp>
      <p:sp>
        <p:nvSpPr>
          <p:cNvPr id="7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9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sp>
        <p:nvSpPr>
          <p:cNvPr id="10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graphicFrame>
        <p:nvGraphicFramePr>
          <p:cNvPr id="1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57815"/>
              </p:ext>
            </p:extLst>
          </p:nvPr>
        </p:nvGraphicFramePr>
        <p:xfrm>
          <a:off x="1712912" y="3989784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Sexo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73701"/>
              </p:ext>
            </p:extLst>
          </p:nvPr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77889"/>
              </p:ext>
            </p:extLst>
          </p:nvPr>
        </p:nvGraphicFramePr>
        <p:xfrm>
          <a:off x="4608512" y="5437584"/>
          <a:ext cx="28956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Elipse 14"/>
          <p:cNvSpPr/>
          <p:nvPr/>
        </p:nvSpPr>
        <p:spPr>
          <a:xfrm>
            <a:off x="3465984" y="4585752"/>
            <a:ext cx="761528" cy="59630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  <p:sp>
        <p:nvSpPr>
          <p:cNvPr id="17" name="Multiplicar 16"/>
          <p:cNvSpPr/>
          <p:nvPr/>
        </p:nvSpPr>
        <p:spPr>
          <a:xfrm>
            <a:off x="911447" y="4546044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6600056" y="5662320"/>
            <a:ext cx="761528" cy="59630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  <p:sp>
        <p:nvSpPr>
          <p:cNvPr id="19" name="Multiplicar 18"/>
          <p:cNvSpPr/>
          <p:nvPr/>
        </p:nvSpPr>
        <p:spPr>
          <a:xfrm>
            <a:off x="3931296" y="5622310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9688460" y="4235513"/>
            <a:ext cx="761528" cy="59630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  <p:sp>
        <p:nvSpPr>
          <p:cNvPr id="21" name="Multiplicar 20"/>
          <p:cNvSpPr/>
          <p:nvPr/>
        </p:nvSpPr>
        <p:spPr>
          <a:xfrm>
            <a:off x="7019700" y="4195503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246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Restrições</a:t>
            </a:r>
            <a:br>
              <a:rPr lang="pt-BR" dirty="0"/>
            </a:br>
            <a:r>
              <a:rPr lang="pt-BR" dirty="0"/>
              <a:t>Checando Integridade</a:t>
            </a:r>
          </a:p>
        </p:txBody>
      </p:sp>
      <p:sp>
        <p:nvSpPr>
          <p:cNvPr id="783362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78336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fld id="{7B3F39A4-ADD0-44F5-AE43-0526E1C69251}" type="slidenum">
              <a:rPr lang="pt-BR" altLang="en-US" smtClean="0">
                <a:latin typeface="Arial" charset="0"/>
              </a:rPr>
              <a:pPr/>
              <a:t>34</a:t>
            </a:fld>
            <a:endParaRPr lang="pt-BR" altLang="en-US">
              <a:latin typeface="Arial" charset="0"/>
            </a:endParaRPr>
          </a:p>
        </p:txBody>
      </p:sp>
      <p:sp>
        <p:nvSpPr>
          <p:cNvPr id="17510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729753"/>
            <a:ext cx="11036808" cy="2203304"/>
          </a:xfrm>
        </p:spPr>
        <p:txBody>
          <a:bodyPr>
            <a:noAutofit/>
          </a:bodyPr>
          <a:lstStyle/>
          <a:p>
            <a:pPr marL="160020" indent="-342900">
              <a:lnSpc>
                <a:spcPct val="80000"/>
              </a:lnSpc>
              <a:defRPr/>
            </a:pPr>
            <a:r>
              <a:rPr lang="pt-BR" dirty="0">
                <a:solidFill>
                  <a:srgbClr val="C00000"/>
                </a:solidFill>
              </a:rPr>
              <a:t>Integridade Referencial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r>
              <a:rPr lang="pt-BR" sz="2800" dirty="0"/>
              <a:t>Especificada entre 2 relações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r>
              <a:rPr lang="pt-BR" sz="2800" dirty="0"/>
              <a:t>Mantem a consistência entre as </a:t>
            </a:r>
            <a:r>
              <a:rPr lang="pt-BR" sz="2800" dirty="0" err="1"/>
              <a:t>tuplas</a:t>
            </a:r>
            <a:endParaRPr lang="pt-BR" sz="2800" dirty="0"/>
          </a:p>
          <a:p>
            <a:pPr marL="594360" lvl="1" indent="-457200">
              <a:lnSpc>
                <a:spcPct val="80000"/>
              </a:lnSpc>
              <a:buClr>
                <a:schemeClr val="bg1">
                  <a:shade val="50000"/>
                </a:schemeClr>
              </a:buClr>
              <a:buFont typeface="Wingdings" panose="05000000000000000000" pitchFamily="2" charset="2"/>
              <a:buChar char="ü"/>
              <a:defRPr/>
            </a:pPr>
            <a:endParaRPr lang="pt-BR" sz="2800" dirty="0"/>
          </a:p>
          <a:p>
            <a:pPr marL="502920" indent="-4572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endParaRPr lang="pt-BR" sz="2400" dirty="0"/>
          </a:p>
        </p:txBody>
      </p:sp>
      <p:sp>
        <p:nvSpPr>
          <p:cNvPr id="6" name="Rectangle 14"/>
          <p:cNvSpPr/>
          <p:nvPr/>
        </p:nvSpPr>
        <p:spPr>
          <a:xfrm>
            <a:off x="1560512" y="3625120"/>
            <a:ext cx="9107488" cy="3106378"/>
          </a:xfrm>
          <a:prstGeom prst="rect">
            <a:avLst/>
          </a:prstGeom>
          <a:solidFill>
            <a:schemeClr val="accent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7" name="TextBox 4"/>
          <p:cNvSpPr txBox="1"/>
          <p:nvPr/>
        </p:nvSpPr>
        <p:spPr>
          <a:xfrm>
            <a:off x="1372616" y="3694105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Estudantes</a:t>
            </a:r>
            <a:endParaRPr lang="en-US" sz="1400" b="1" dirty="0"/>
          </a:p>
        </p:txBody>
      </p:sp>
      <p:sp>
        <p:nvSpPr>
          <p:cNvPr id="8" name="TextBox 6"/>
          <p:cNvSpPr txBox="1"/>
          <p:nvPr/>
        </p:nvSpPr>
        <p:spPr>
          <a:xfrm>
            <a:off x="7221775" y="3694104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Cursos</a:t>
            </a:r>
            <a:endParaRPr lang="en-US" sz="1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151784" y="5137447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Arial" pitchFamily="34" charset="0"/>
                <a:cs typeface="Arial" pitchFamily="34" charset="0"/>
              </a:rPr>
              <a:t>Matricula</a:t>
            </a:r>
            <a:endParaRPr lang="en-US" sz="1400" b="1" dirty="0"/>
          </a:p>
        </p:txBody>
      </p:sp>
      <p:graphicFrame>
        <p:nvGraphicFramePr>
          <p:cNvPr id="10" name="Table 3"/>
          <p:cNvGraphicFramePr>
            <a:graphicFrameLocks noGrp="1"/>
          </p:cNvGraphicFramePr>
          <p:nvPr/>
        </p:nvGraphicFramePr>
        <p:xfrm>
          <a:off x="1712912" y="3989784"/>
          <a:ext cx="2514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Nome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7.2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8.8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5"/>
          <p:cNvGraphicFramePr>
            <a:graphicFrameLocks noGrp="1"/>
          </p:cNvGraphicFramePr>
          <p:nvPr/>
        </p:nvGraphicFramePr>
        <p:xfrm>
          <a:off x="7732712" y="39897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cnome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credito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Redes4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308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221774"/>
              </p:ext>
            </p:extLst>
          </p:nvPr>
        </p:nvGraphicFramePr>
        <p:xfrm>
          <a:off x="4608512" y="5437584"/>
          <a:ext cx="28956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 err="1"/>
                        <a:t>sid</a:t>
                      </a:r>
                      <a:endParaRPr lang="en-US" sz="1800" b="1" u="sng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u="sng" dirty="0"/>
                        <a:t>cid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Grau</a:t>
                      </a:r>
                      <a:endParaRPr lang="en-US" sz="1800" b="1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7,5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123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4,3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523704"/>
                  </a:ext>
                </a:extLst>
              </a:tr>
            </a:tbl>
          </a:graphicData>
        </a:graphic>
      </p:graphicFrame>
      <p:cxnSp>
        <p:nvCxnSpPr>
          <p:cNvPr id="13" name="Straight Arrow Connector 10"/>
          <p:cNvCxnSpPr/>
          <p:nvPr/>
        </p:nvCxnSpPr>
        <p:spPr>
          <a:xfrm rot="10800000">
            <a:off x="2322512" y="5208984"/>
            <a:ext cx="2362200" cy="914400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1"/>
          <p:cNvCxnSpPr>
            <a:endCxn id="11" idx="1"/>
          </p:cNvCxnSpPr>
          <p:nvPr/>
        </p:nvCxnSpPr>
        <p:spPr>
          <a:xfrm flipV="1">
            <a:off x="5980112" y="4546044"/>
            <a:ext cx="1752600" cy="1543812"/>
          </a:xfrm>
          <a:prstGeom prst="straightConnector1">
            <a:avLst/>
          </a:prstGeom>
          <a:ln w="508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4440832" y="5673824"/>
            <a:ext cx="868554" cy="85152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406319" y="5673824"/>
            <a:ext cx="573794" cy="511155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1545232" y="3847992"/>
            <a:ext cx="868554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7580784" y="3784465"/>
            <a:ext cx="868554" cy="146764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5367427" y="6196635"/>
            <a:ext cx="533206" cy="37912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C00000"/>
              </a:solidFill>
            </a:endParaRPr>
          </a:p>
        </p:txBody>
      </p:sp>
      <p:sp>
        <p:nvSpPr>
          <p:cNvPr id="20" name="Multiplicar 19"/>
          <p:cNvSpPr/>
          <p:nvPr/>
        </p:nvSpPr>
        <p:spPr>
          <a:xfrm>
            <a:off x="3817865" y="6034046"/>
            <a:ext cx="677216" cy="66636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399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Restrições</a:t>
            </a:r>
            <a:br>
              <a:rPr lang="pt-BR" dirty="0"/>
            </a:br>
            <a:r>
              <a:rPr lang="pt-BR" dirty="0"/>
              <a:t>Checando Integridade</a:t>
            </a:r>
          </a:p>
        </p:txBody>
      </p:sp>
      <p:sp>
        <p:nvSpPr>
          <p:cNvPr id="783362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altLang="en-US">
                <a:latin typeface="Arial" charset="0"/>
              </a:rPr>
              <a:t>Roberto Harkovsky</a:t>
            </a:r>
          </a:p>
        </p:txBody>
      </p:sp>
      <p:sp>
        <p:nvSpPr>
          <p:cNvPr id="783363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fld id="{7B3F39A4-ADD0-44F5-AE43-0526E1C69251}" type="slidenum">
              <a:rPr lang="pt-BR" altLang="en-US" smtClean="0">
                <a:latin typeface="Arial" charset="0"/>
              </a:rPr>
              <a:pPr/>
              <a:t>35</a:t>
            </a:fld>
            <a:endParaRPr lang="pt-BR" altLang="en-US">
              <a:latin typeface="Arial" charset="0"/>
            </a:endParaRPr>
          </a:p>
        </p:txBody>
      </p:sp>
      <p:sp>
        <p:nvSpPr>
          <p:cNvPr id="17510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729753"/>
            <a:ext cx="11036808" cy="1195191"/>
          </a:xfrm>
        </p:spPr>
        <p:txBody>
          <a:bodyPr>
            <a:noAutofit/>
          </a:bodyPr>
          <a:lstStyle/>
          <a:p>
            <a:pPr marL="160020" indent="-342900">
              <a:lnSpc>
                <a:spcPct val="80000"/>
              </a:lnSpc>
              <a:defRPr/>
            </a:pPr>
            <a:r>
              <a:rPr lang="pt-BR" dirty="0">
                <a:solidFill>
                  <a:srgbClr val="C00000"/>
                </a:solidFill>
              </a:rPr>
              <a:t>Integridade definida pelo usuário 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r>
              <a:rPr lang="pt-BR" sz="2800" dirty="0"/>
              <a:t>Garante algumas </a:t>
            </a:r>
            <a:r>
              <a:rPr lang="pt-BR" sz="2800" dirty="0">
                <a:solidFill>
                  <a:srgbClr val="C00000"/>
                </a:solidFill>
              </a:rPr>
              <a:t>regras de negócio</a:t>
            </a:r>
            <a:r>
              <a:rPr lang="pt-BR" sz="2800" dirty="0"/>
              <a:t>, não cobertas por outras restrições.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endParaRPr lang="pt-BR" sz="2800" dirty="0"/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r>
              <a:rPr lang="pt-BR" sz="2800" dirty="0">
                <a:solidFill>
                  <a:srgbClr val="002060"/>
                </a:solidFill>
              </a:rPr>
              <a:t>Exemplo: 1 médico pode atender no máximo a 50 pacientes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r>
              <a:rPr lang="pt-BR" sz="2800" dirty="0">
                <a:solidFill>
                  <a:srgbClr val="002060"/>
                </a:solidFill>
              </a:rPr>
              <a:t>Exemplo: 1 aluno pode atender no máximo a 7 cursos por semestre</a:t>
            </a:r>
          </a:p>
          <a:p>
            <a:pPr marL="480060" lvl="1" indent="-3429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endParaRPr lang="pt-BR" sz="2800" dirty="0">
              <a:solidFill>
                <a:srgbClr val="002060"/>
              </a:solidFill>
            </a:endParaRPr>
          </a:p>
          <a:p>
            <a:pPr marL="502920" indent="-457200">
              <a:lnSpc>
                <a:spcPct val="80000"/>
              </a:lnSpc>
              <a:buClr>
                <a:schemeClr val="bg1">
                  <a:shade val="50000"/>
                </a:schemeClr>
              </a:buClr>
              <a:defRPr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8458162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9FBD68F-37E0-458F-9B08-30AAD5C31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Agora é com Vocês...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49C9D1C2-4746-4797-A47D-DE8184EB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 Banco de Dados relacional é constituído por 3 tabelas: Automóveis</a:t>
            </a:r>
            <a:r>
              <a:rPr lang="pt-BR" sz="18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Revendedoras e Garagens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A tabela Revendedora apresenta dados de cada revendedora de automóveis; Automóveis possui as características dos veículos e Garagens a quantidade de veículos em cada revendedora.</a:t>
            </a:r>
          </a:p>
          <a:p>
            <a:pPr algn="just"/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Examine as tabelas preenchidas no próximo slide e responda:</a:t>
            </a:r>
          </a:p>
          <a:p>
            <a:pPr algn="just"/>
            <a:endParaRPr lang="pt-B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Quantas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tuplas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existem em cada tabela</a:t>
            </a:r>
            <a:r>
              <a:rPr lang="pt-BR" sz="18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? </a:t>
            </a:r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Quais os atributos da tabela Revendedora?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Quais as possíveis </a:t>
            </a:r>
            <a:r>
              <a:rPr lang="pt-BR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superchaves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da tabela Revendedoras? Qualquer combinação com CNPJ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Quais são as chaves primárias de cada tabela?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1800" b="1" dirty="0">
                <a:latin typeface="Arial" panose="020B0604020202020204" pitchFamily="34" charset="0"/>
                <a:ea typeface="Calibri" panose="020F0502020204030204" pitchFamily="34" charset="0"/>
              </a:rPr>
              <a:t>J</a:t>
            </a:r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ogo dos 7 Erros 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 Aponte as possíveis violações de restrição (Domínio, integridade, referencial e definidas pelo usuário) nas tabelas, explicando cada tipo.</a:t>
            </a:r>
          </a:p>
          <a:p>
            <a:endParaRPr lang="pt-BR" sz="18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pt-BR" dirty="0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6730CF03-CD08-464E-8755-7D541EF4C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FFD04430-5672-4388-BB1D-6A2E6EE1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205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5D8DA3-4426-46EB-BC39-B1553E1E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FDB3847-49DE-495E-A5D9-0223FE4CF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97286"/>
              </p:ext>
            </p:extLst>
          </p:nvPr>
        </p:nvGraphicFramePr>
        <p:xfrm>
          <a:off x="263352" y="404664"/>
          <a:ext cx="4927600" cy="201168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76012111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86444026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69044543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406552496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3155661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sng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CNPJ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Proprietario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Cidade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40927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11111111111111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GATAO Veiculos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 Cisco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8106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11111111111112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Dirija Veiculos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Johnatan Archer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0436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11131111111111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Veiculos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Catherine Janeway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341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11134411111112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Detroit Car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Magali  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Brasilia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0589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11134418901112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Itavema 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Picard  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2377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ROBAUTO veiculos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Cascão  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Santo Andre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842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11211111111112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Dirija Veiculos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Christopher </a:t>
                      </a:r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Pike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9803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CarHouse</a:t>
                      </a:r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Monica   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de Janeiro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4447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17131111177113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Iguauto Automóveis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James Kirk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Sao Paulo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0844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56784189011128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CarHouse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Monica             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Niteroi       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RJ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939383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D662F99-CA5F-4922-ABF6-D4C72F70E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21867"/>
              </p:ext>
            </p:extLst>
          </p:nvPr>
        </p:nvGraphicFramePr>
        <p:xfrm>
          <a:off x="8235646" y="965877"/>
          <a:ext cx="3672408" cy="5660235"/>
        </p:xfrm>
        <a:graphic>
          <a:graphicData uri="http://schemas.openxmlformats.org/drawingml/2006/table">
            <a:tbl>
              <a:tblPr/>
              <a:tblGrid>
                <a:gridCol w="539069">
                  <a:extLst>
                    <a:ext uri="{9D8B030D-6E8A-4147-A177-3AD203B41FA5}">
                      <a16:colId xmlns:a16="http://schemas.microsoft.com/office/drawing/2014/main" val="1691583663"/>
                    </a:ext>
                  </a:extLst>
                </a:gridCol>
                <a:gridCol w="696298">
                  <a:extLst>
                    <a:ext uri="{9D8B030D-6E8A-4147-A177-3AD203B41FA5}">
                      <a16:colId xmlns:a16="http://schemas.microsoft.com/office/drawing/2014/main" val="2535455507"/>
                    </a:ext>
                  </a:extLst>
                </a:gridCol>
                <a:gridCol w="673836">
                  <a:extLst>
                    <a:ext uri="{9D8B030D-6E8A-4147-A177-3AD203B41FA5}">
                      <a16:colId xmlns:a16="http://schemas.microsoft.com/office/drawing/2014/main" val="960660825"/>
                    </a:ext>
                  </a:extLst>
                </a:gridCol>
                <a:gridCol w="539069">
                  <a:extLst>
                    <a:ext uri="{9D8B030D-6E8A-4147-A177-3AD203B41FA5}">
                      <a16:colId xmlns:a16="http://schemas.microsoft.com/office/drawing/2014/main" val="742128775"/>
                    </a:ext>
                  </a:extLst>
                </a:gridCol>
                <a:gridCol w="539069">
                  <a:extLst>
                    <a:ext uri="{9D8B030D-6E8A-4147-A177-3AD203B41FA5}">
                      <a16:colId xmlns:a16="http://schemas.microsoft.com/office/drawing/2014/main" val="1594315792"/>
                    </a:ext>
                  </a:extLst>
                </a:gridCol>
                <a:gridCol w="685067">
                  <a:extLst>
                    <a:ext uri="{9D8B030D-6E8A-4147-A177-3AD203B41FA5}">
                      <a16:colId xmlns:a16="http://schemas.microsoft.com/office/drawing/2014/main" val="4235053980"/>
                    </a:ext>
                  </a:extLst>
                </a:gridCol>
              </a:tblGrid>
              <a:tr h="161721"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sng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Codigo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Fabricante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Modelo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Ano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Pais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1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Preco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479619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Zafira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68264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Zafira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38.000,00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5404526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Zafira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75.000,00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436142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Vectra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850207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Vectra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067757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Astra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4012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9570558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Astra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47.000,00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18461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Chevrolet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Astra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52.010,00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194609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Uno 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20.100,00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7914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Palio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38.000,00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850071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Doblo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828691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Grand Siena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65.000,00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329690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Weekend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38.000,00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087878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Fiat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Argo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824395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Peugeot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Argentina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43.000,00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187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Peugeot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2008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Argentina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56.000,00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816921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Peugeot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3008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Argentina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65.000,00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601904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Peugeot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5008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Argentina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85.000,00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94411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Citroen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C3  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44.000,00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17464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Citroen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C4 Picasso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54.000,00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782028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Citroen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C4 Cactus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64.000,00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216516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Citroen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Aircross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75.000,00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188110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Citroen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C4 Lounge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742460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Volkswagen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Fusca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2015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10.000,00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7536614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Volkswagen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Polo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45.000,00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423858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Volkswagen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Golf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40.100,00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892939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Volkswagen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Fox 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53.100,00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49246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Volkswagen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Tiguan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Brasil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50.100,00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144411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Mitsubishi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Pajero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Japao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90.000,00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1163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Ferrari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TestaRossa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Italia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200.000,00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218369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Renault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Zoe  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48.000,00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660576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Renault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Sandero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2017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58.000,00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877478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Renault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Logan 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2016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80.000,00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725122"/>
                  </a:ext>
                </a:extLst>
              </a:tr>
              <a:tr h="1617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Renault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Duster               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França        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    82.010,00 </a:t>
                      </a:r>
                    </a:p>
                  </a:txBody>
                  <a:tcPr marL="6738" marR="6738" marT="673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3218559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9C5333E2-C225-44BC-BA64-C2330307D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62497"/>
              </p:ext>
            </p:extLst>
          </p:nvPr>
        </p:nvGraphicFramePr>
        <p:xfrm>
          <a:off x="5447928" y="404664"/>
          <a:ext cx="2448272" cy="6221448"/>
        </p:xfrm>
        <a:graphic>
          <a:graphicData uri="http://schemas.openxmlformats.org/drawingml/2006/table">
            <a:tbl>
              <a:tblPr/>
              <a:tblGrid>
                <a:gridCol w="1008112">
                  <a:extLst>
                    <a:ext uri="{9D8B030D-6E8A-4147-A177-3AD203B41FA5}">
                      <a16:colId xmlns:a16="http://schemas.microsoft.com/office/drawing/2014/main" val="10449801"/>
                    </a:ext>
                  </a:extLst>
                </a:gridCol>
                <a:gridCol w="588065">
                  <a:extLst>
                    <a:ext uri="{9D8B030D-6E8A-4147-A177-3AD203B41FA5}">
                      <a16:colId xmlns:a16="http://schemas.microsoft.com/office/drawing/2014/main" val="2341247992"/>
                    </a:ext>
                  </a:extLst>
                </a:gridCol>
                <a:gridCol w="852095">
                  <a:extLst>
                    <a:ext uri="{9D8B030D-6E8A-4147-A177-3AD203B41FA5}">
                      <a16:colId xmlns:a16="http://schemas.microsoft.com/office/drawing/2014/main" val="3391810519"/>
                    </a:ext>
                  </a:extLst>
                </a:gridCol>
              </a:tblGrid>
              <a:tr h="172818"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1" u="sng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CNPJ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1" u="sng" strike="noStrike" dirty="0" err="1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Codigo</a:t>
                      </a:r>
                      <a:endParaRPr lang="pt-BR" sz="1000" b="1" i="1" u="sng" strike="noStrike" dirty="0">
                        <a:solidFill>
                          <a:srgbClr val="305496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000" b="1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Quantidade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5226191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97663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765434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94265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730476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11131111111113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42538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11131111111113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511590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11131111111113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59797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11131111111113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077400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626430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564804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-4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43443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74685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490002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186720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23279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11136543011192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0837268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11136543011192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80708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11136543011192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693539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11136543011192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79558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11211111111112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378064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11211111111112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075413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11211111111112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720278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768174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47154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295787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292064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12344418901112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43234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17131111177113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04773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17131111177113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187931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17131111177113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60572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17131111177113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78005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56784189011128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55983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56784189011128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605129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56784189011128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479861"/>
                  </a:ext>
                </a:extLst>
              </a:tr>
              <a:tr h="172818"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56784189011128 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000" b="0" i="0" u="none" strike="noStrike" dirty="0">
                          <a:solidFill>
                            <a:srgbClr val="30549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200" marR="7200" marT="72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227746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AE503E2D-CE78-4E70-8C74-C355D3B2E41B}"/>
              </a:ext>
            </a:extLst>
          </p:cNvPr>
          <p:cNvSpPr txBox="1"/>
          <p:nvPr/>
        </p:nvSpPr>
        <p:spPr>
          <a:xfrm>
            <a:off x="261793" y="2843194"/>
            <a:ext cx="4390946" cy="27699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Revendedora(</a:t>
            </a:r>
            <a:r>
              <a:rPr lang="pt-BR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CNPJ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, Nome, Proprietário, Cidade, Estado)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E93DFC-A916-4635-89D6-C2364615CD53}"/>
              </a:ext>
            </a:extLst>
          </p:cNvPr>
          <p:cNvSpPr txBox="1"/>
          <p:nvPr/>
        </p:nvSpPr>
        <p:spPr>
          <a:xfrm>
            <a:off x="249981" y="3266194"/>
            <a:ext cx="2957861" cy="2769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Garagens(</a:t>
            </a:r>
            <a:r>
              <a:rPr lang="pt-BR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CNPJ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12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Código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, Quantidade)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1D46E8A-6D80-400E-B9CF-E58B32B38016}"/>
              </a:ext>
            </a:extLst>
          </p:cNvPr>
          <p:cNvSpPr txBox="1"/>
          <p:nvPr/>
        </p:nvSpPr>
        <p:spPr>
          <a:xfrm>
            <a:off x="249981" y="3693044"/>
            <a:ext cx="4470198" cy="27699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Automóveis(</a:t>
            </a:r>
            <a:r>
              <a:rPr lang="pt-BR" sz="12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Codigo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, Fabricante, Modelo, Ano, pais, </a:t>
            </a:r>
            <a:r>
              <a:rPr lang="pt-BR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preco</a:t>
            </a: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C08345F-1D9C-4EB5-8746-E3F041A3FA90}"/>
              </a:ext>
            </a:extLst>
          </p:cNvPr>
          <p:cNvSpPr txBox="1"/>
          <p:nvPr/>
        </p:nvSpPr>
        <p:spPr>
          <a:xfrm>
            <a:off x="261793" y="91208"/>
            <a:ext cx="1157689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dirty="0"/>
              <a:t>Revendedora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342E407-C6E5-4693-942D-0DD05D4CEFEE}"/>
              </a:ext>
            </a:extLst>
          </p:cNvPr>
          <p:cNvSpPr txBox="1"/>
          <p:nvPr/>
        </p:nvSpPr>
        <p:spPr>
          <a:xfrm>
            <a:off x="5440914" y="136525"/>
            <a:ext cx="893193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dirty="0">
                <a:solidFill>
                  <a:srgbClr val="002060"/>
                </a:solidFill>
              </a:rPr>
              <a:t>Garagens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06C892B-D0A9-46FF-B994-EBD8ED993EE2}"/>
              </a:ext>
            </a:extLst>
          </p:cNvPr>
          <p:cNvSpPr txBox="1"/>
          <p:nvPr/>
        </p:nvSpPr>
        <p:spPr>
          <a:xfrm>
            <a:off x="8159031" y="732014"/>
            <a:ext cx="1064715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Automóveis</a:t>
            </a:r>
          </a:p>
        </p:txBody>
      </p:sp>
    </p:spTree>
    <p:extLst>
      <p:ext uri="{BB962C8B-B14F-4D97-AF65-F5344CB8AC3E}">
        <p14:creationId xmlns:p14="http://schemas.microsoft.com/office/powerpoint/2010/main" val="3624953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Prática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Análise de um SGBD Relacional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709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|6.8|8.7|6.5|2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5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|9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6|3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|11.8|5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9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71B6702904E47B455F58B41565CDB" ma:contentTypeVersion="18" ma:contentTypeDescription="Create a new document." ma:contentTypeScope="" ma:versionID="72a2021b1b1058352e5a1a140d98d726">
  <xsd:schema xmlns:xsd="http://www.w3.org/2001/XMLSchema" xmlns:xs="http://www.w3.org/2001/XMLSchema" xmlns:p="http://schemas.microsoft.com/office/2006/metadata/properties" xmlns:ns3="1567635a-c78d-44c2-a465-dd60fbeb7309" xmlns:ns4="0f7073c1-1299-4fda-8721-cd3a41f77b0e" targetNamespace="http://schemas.microsoft.com/office/2006/metadata/properties" ma:root="true" ma:fieldsID="09c8c1475b8afbdf0e5cdba4264b4c34" ns3:_="" ns4:_="">
    <xsd:import namespace="1567635a-c78d-44c2-a465-dd60fbeb7309"/>
    <xsd:import namespace="0f7073c1-1299-4fda-8721-cd3a41f77b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7635a-c78d-44c2-a465-dd60fbeb73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073c1-1299-4fda-8721-cd3a41f77b0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567635a-c78d-44c2-a465-dd60fbeb73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2B5032-85EB-4CD6-AEA7-2B3376ED60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67635a-c78d-44c2-a465-dd60fbeb7309"/>
    <ds:schemaRef ds:uri="0f7073c1-1299-4fda-8721-cd3a41f77b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E358E8-F295-4861-B8FE-E4320F212441}">
  <ds:schemaRefs>
    <ds:schemaRef ds:uri="http://schemas.microsoft.com/office/infopath/2007/PartnerControls"/>
    <ds:schemaRef ds:uri="1567635a-c78d-44c2-a465-dd60fbeb7309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0f7073c1-1299-4fda-8721-cd3a41f77b0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441E53E-B6B6-40D0-AF64-E3A5ABFF3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23145</TotalTime>
  <Words>3318</Words>
  <Application>Microsoft Office PowerPoint</Application>
  <PresentationFormat>Widescreen</PresentationFormat>
  <Paragraphs>1099</Paragraphs>
  <Slides>38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Calibri Light</vt:lpstr>
      <vt:lpstr>Menlo</vt:lpstr>
      <vt:lpstr>Times New Roman</vt:lpstr>
      <vt:lpstr>Wingdings</vt:lpstr>
      <vt:lpstr>Wingdings 3</vt:lpstr>
      <vt:lpstr>Tema do Office</vt:lpstr>
      <vt:lpstr>Banco de Dados Relacional </vt:lpstr>
      <vt:lpstr>Referências</vt:lpstr>
      <vt:lpstr>Um breve histórico dos modelos de Banco de Dados</vt:lpstr>
      <vt:lpstr>O que é um banco de dados e por que precisamos de modelos?</vt:lpstr>
      <vt:lpstr>Modelos de Banco de Dados Tradicionais Modelo Hierárquico</vt:lpstr>
      <vt:lpstr>Modelos de Banco de Dados Tradicionais Modelo de Rede</vt:lpstr>
      <vt:lpstr>Modelos de Banco de Dados Tradicionais Modelo Relacional</vt:lpstr>
      <vt:lpstr>Modelos de Banco de Dados Tradicionais Modelo Orientado a Objetos</vt:lpstr>
      <vt:lpstr>Modelos de Banco de Dados Modernos (NoSQL)</vt:lpstr>
      <vt:lpstr>Modelos de Banco de Dados Modernos (NoSQL)</vt:lpstr>
      <vt:lpstr>Modelos de Banco de Dados Modernos (NoSQL)</vt:lpstr>
      <vt:lpstr>Modelos de Banco de Dados Modernos (NoSQL)</vt:lpstr>
      <vt:lpstr>Modelos de Banco de Dados Modernos (NoSQL)</vt:lpstr>
      <vt:lpstr>O que é um Modelo de Banco de Dados?</vt:lpstr>
      <vt:lpstr>O Modelo Relacional</vt:lpstr>
      <vt:lpstr>O Modelo Relacional</vt:lpstr>
      <vt:lpstr>Modelo Relacional</vt:lpstr>
      <vt:lpstr>Esquemas</vt:lpstr>
      <vt:lpstr>Atributos</vt:lpstr>
      <vt:lpstr>Tuplas</vt:lpstr>
      <vt:lpstr>Notação das relações (Tabelas) Schema</vt:lpstr>
      <vt:lpstr>Metadados</vt:lpstr>
      <vt:lpstr>Resumindo...</vt:lpstr>
      <vt:lpstr>Explorando o Modelo Relacional Atributos Chave</vt:lpstr>
      <vt:lpstr>Chaves num Banco de Dados</vt:lpstr>
      <vt:lpstr>Atributos Chaves - Algumas Definições...</vt:lpstr>
      <vt:lpstr>Atributos Chaves - Algumas Definições...</vt:lpstr>
      <vt:lpstr>Chave Primária</vt:lpstr>
      <vt:lpstr>Chave Estrangeira</vt:lpstr>
      <vt:lpstr>Chave Estrangeira – exemplo mais completo</vt:lpstr>
      <vt:lpstr>Restrições</vt:lpstr>
      <vt:lpstr>Restrições Checando Integridade</vt:lpstr>
      <vt:lpstr>Restrições Checando Integridade</vt:lpstr>
      <vt:lpstr>Restrições Checando Integridade</vt:lpstr>
      <vt:lpstr>Restrições Checando Integridade</vt:lpstr>
      <vt:lpstr>Agora é com Vocês... </vt:lpstr>
      <vt:lpstr>Apresentação do PowerPoint</vt:lpstr>
      <vt:lpstr>Atividade Prática</vt:lpstr>
    </vt:vector>
  </TitlesOfParts>
  <Company>Petrobras Distribuidora S. 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Banco de Dados</dc:title>
  <dc:creator>zcqa</dc:creator>
  <cp:lastModifiedBy>Roberto Harkovsky</cp:lastModifiedBy>
  <cp:revision>236</cp:revision>
  <dcterms:created xsi:type="dcterms:W3CDTF">2010-12-21T20:19:03Z</dcterms:created>
  <dcterms:modified xsi:type="dcterms:W3CDTF">2025-08-04T17:19:22Z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deaceb-9851-4663-bccf-596767454be3_Enabled">
    <vt:lpwstr>true</vt:lpwstr>
  </property>
  <property fmtid="{D5CDD505-2E9C-101B-9397-08002B2CF9AE}" pid="3" name="MSIP_Label_22deaceb-9851-4663-bccf-596767454be3_SetDate">
    <vt:lpwstr>2022-08-10T15:10:41Z</vt:lpwstr>
  </property>
  <property fmtid="{D5CDD505-2E9C-101B-9397-08002B2CF9AE}" pid="4" name="MSIP_Label_22deaceb-9851-4663-bccf-596767454be3_Method">
    <vt:lpwstr>Standard</vt:lpwstr>
  </property>
  <property fmtid="{D5CDD505-2E9C-101B-9397-08002B2CF9AE}" pid="5" name="MSIP_Label_22deaceb-9851-4663-bccf-596767454be3_Name">
    <vt:lpwstr>22deaceb-9851-4663-bccf-596767454be3</vt:lpwstr>
  </property>
  <property fmtid="{D5CDD505-2E9C-101B-9397-08002B2CF9AE}" pid="6" name="MSIP_Label_22deaceb-9851-4663-bccf-596767454be3_SiteId">
    <vt:lpwstr>809f94a6-0477-4390-b86e-eab14c5493a7</vt:lpwstr>
  </property>
  <property fmtid="{D5CDD505-2E9C-101B-9397-08002B2CF9AE}" pid="7" name="MSIP_Label_22deaceb-9851-4663-bccf-596767454be3_ActionId">
    <vt:lpwstr>81795b11-33fe-4457-8b89-426a1eed5ea8</vt:lpwstr>
  </property>
  <property fmtid="{D5CDD505-2E9C-101B-9397-08002B2CF9AE}" pid="8" name="MSIP_Label_22deaceb-9851-4663-bccf-596767454be3_ContentBits">
    <vt:lpwstr>2</vt:lpwstr>
  </property>
  <property fmtid="{D5CDD505-2E9C-101B-9397-08002B2CF9AE}" pid="9" name="ContentTypeId">
    <vt:lpwstr>0x01010067371B6702904E47B455F58B41565CDB</vt:lpwstr>
  </property>
</Properties>
</file>